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Diabetes Mellitus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CBME Module for MBBS Students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Competency-Based Medical Education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Dr. Siddalingaiah H S | MBBS, MD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Shridevi Institute of Medical Sciences &amp; Research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Module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800"/>
            </a:pPr>
            <a:r>
              <a:t>• Epidemiology &amp; Global Prevalence of Diabetes</a:t>
            </a:r>
          </a:p>
          <a:p>
            <a:pPr>
              <a:lnSpc>
                <a:spcPct val="120000"/>
              </a:lnSpc>
              <a:defRPr sz="1800"/>
            </a:pPr>
            <a:r>
              <a:t>• Pathophysiology: Type 1 vs Type 2 Diabetes</a:t>
            </a:r>
          </a:p>
          <a:p>
            <a:pPr>
              <a:lnSpc>
                <a:spcPct val="120000"/>
              </a:lnSpc>
              <a:defRPr sz="1800"/>
            </a:pPr>
            <a:r>
              <a:t>• Clinical Features &amp; Diagnosis (ADA 2023 Guidelines)</a:t>
            </a:r>
          </a:p>
          <a:p>
            <a:pPr>
              <a:lnSpc>
                <a:spcPct val="120000"/>
              </a:lnSpc>
              <a:defRPr sz="1800"/>
            </a:pPr>
            <a:r>
              <a:t>• Management &amp; Treatment Strategies</a:t>
            </a:r>
          </a:p>
          <a:p>
            <a:pPr>
              <a:lnSpc>
                <a:spcPct val="120000"/>
              </a:lnSpc>
              <a:defRPr sz="1800"/>
            </a:pPr>
            <a:r>
              <a:t>• Acute &amp; Chronic Complications</a:t>
            </a:r>
          </a:p>
          <a:p>
            <a:pPr>
              <a:lnSpc>
                <a:spcPct val="120000"/>
              </a:lnSpc>
              <a:defRPr sz="1800"/>
            </a:pPr>
            <a:r>
              <a:t>• Lifestyle Modification &amp; Prevention</a:t>
            </a:r>
          </a:p>
          <a:p>
            <a:pPr>
              <a:lnSpc>
                <a:spcPct val="120000"/>
              </a:lnSpc>
              <a:defRPr sz="1800"/>
            </a:pPr>
            <a:r>
              <a:t>• Community Medicine &amp; Screening Programs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Epidemiology &amp; Global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 b="1"/>
            </a:pPr>
            <a:r>
              <a:t>Global Diabetes Prevalence (IDF Atlas 2023)</a:t>
            </a:r>
          </a:p>
          <a:p>
            <a:pPr>
              <a:defRPr sz="1600"/>
            </a:pPr>
            <a:r>
              <a:t>• 537 million adults with diabetes worldwide</a:t>
            </a:r>
          </a:p>
          <a:p>
            <a:pPr>
              <a:defRPr sz="1600"/>
            </a:pPr>
            <a:r>
              <a:t>• 1 in 10 adults affected</a:t>
            </a:r>
          </a:p>
          <a:p>
            <a:pPr>
              <a:defRPr sz="1600"/>
            </a:pPr>
            <a:r>
              <a:t>• 75% live in low/middle-income countries</a:t>
            </a:r>
          </a:p>
          <a:p>
            <a:pPr>
              <a:defRPr sz="1600"/>
            </a:pPr>
            <a:r>
              <a:t>• 6.7 million deaths annually</a:t>
            </a:r>
          </a:p>
          <a:p>
            <a:pPr>
              <a:defRPr sz="1600"/>
            </a:pPr>
            <a:r>
              <a:t>• 966 billion USD economic impact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 b="1">
                <a:solidFill>
                  <a:srgbClr val="009933"/>
                </a:solidFill>
              </a:defRPr>
            </a:pPr>
            <a:r>
              <a:t>India's Diabetes Burden</a:t>
            </a:r>
          </a:p>
          <a:p>
            <a:pPr>
              <a:defRPr sz="1600"/>
            </a:pPr>
            <a:r>
              <a:t>• 77 million adults with diabetes</a:t>
            </a:r>
          </a:p>
          <a:p>
            <a:pPr>
              <a:defRPr sz="1600"/>
            </a:pPr>
            <a:r>
              <a:t>• 25 million undiagnosed cases</a:t>
            </a:r>
          </a:p>
          <a:p>
            <a:pPr>
              <a:defRPr sz="1600"/>
            </a:pPr>
            <a:r>
              <a:t>• 4th highest diabetes burden globally</a:t>
            </a:r>
          </a:p>
          <a:p>
            <a:pPr>
              <a:defRPr sz="1600"/>
            </a:pPr>
            <a:r>
              <a:t>• Rural-urban divide: 4-6% rural vs 12-15% urban</a:t>
            </a:r>
          </a:p>
          <a:p>
            <a:pPr>
              <a:defRPr sz="1600"/>
            </a:pPr>
            <a:r>
              <a:t>• Rising prevalence in younger population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Pathophysiology: Type 1 vs Type 2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 b="1">
                <a:solidFill>
                  <a:srgbClr val="FF0000"/>
                </a:solidFill>
              </a:defRPr>
            </a:pPr>
            <a:r>
              <a:t>TYPE 1 DIABETES MELLITUS</a:t>
            </a:r>
          </a:p>
          <a:p>
            <a:pPr>
              <a:defRPr sz="1400"/>
            </a:pPr>
            <a:r>
              <a:t>• Autoimmune destruction of β-cells</a:t>
            </a:r>
          </a:p>
          <a:p>
            <a:pPr>
              <a:defRPr sz="1400"/>
            </a:pPr>
            <a:r>
              <a:t>• Complete insulin deficiency</a:t>
            </a:r>
          </a:p>
          <a:p>
            <a:pPr>
              <a:defRPr sz="1400"/>
            </a:pPr>
            <a:r>
              <a:t>• Associated with HLA markers</a:t>
            </a:r>
          </a:p>
          <a:p>
            <a:pPr>
              <a:defRPr sz="1400"/>
            </a:pPr>
            <a:r>
              <a:t>• Accounts for 5-10% of cases</a:t>
            </a:r>
          </a:p>
          <a:p>
            <a:pPr>
              <a:defRPr sz="1400"/>
            </a:pPr>
            <a:r>
              <a:t>• Typically presents in childhood/adolescence</a:t>
            </a:r>
          </a:p>
          <a:p>
            <a:pPr>
              <a:defRPr sz="1400"/>
            </a:pPr>
            <a:r>
              <a:t>• Requires lifetime insulin therapy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 b="1">
                <a:solidFill>
                  <a:srgbClr val="007BFF"/>
                </a:solidFill>
              </a:defRPr>
            </a:pPr>
            <a:r>
              <a:t>TYPE 2 DIABETES MELLITUS</a:t>
            </a:r>
          </a:p>
          <a:p>
            <a:pPr>
              <a:defRPr sz="1400"/>
            </a:pPr>
            <a:r>
              <a:t>• Insulin resistance + relative insulin deficiency</a:t>
            </a:r>
          </a:p>
          <a:p>
            <a:pPr>
              <a:defRPr sz="1400"/>
            </a:pPr>
            <a:r>
              <a:t>• Progressive β-cell dysfunction</a:t>
            </a:r>
          </a:p>
          <a:p>
            <a:pPr>
              <a:defRPr sz="1400"/>
            </a:pPr>
            <a:r>
              <a:t>• Multifactorial genetics + environmental factors</a:t>
            </a:r>
          </a:p>
          <a:p>
            <a:pPr>
              <a:defRPr sz="1400"/>
            </a:pPr>
            <a:r>
              <a:t>• Accounts for 90-95% of cases</a:t>
            </a:r>
          </a:p>
          <a:p>
            <a:pPr>
              <a:defRPr sz="1400"/>
            </a:pPr>
            <a:r>
              <a:t>• Strong link with obesity and lifestyle</a:t>
            </a:r>
          </a:p>
          <a:p>
            <a:pPr>
              <a:defRPr sz="1400"/>
            </a:pPr>
            <a:r>
              <a:t>• Can be managed with lifestyle + oral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Diagnosis &amp; ADA 2023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600"/>
            </a:pPr>
            <a:r>
              <a:t>ADA DIAGNOSTIC CRITERIA: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/>
            </a:pPr>
            <a:r>
              <a:t>Fasting Plasma Glucose (FPG):</a:t>
            </a:r>
          </a:p>
          <a:p>
            <a:pPr>
              <a:lnSpc>
                <a:spcPct val="120000"/>
              </a:lnSpc>
              <a:defRPr sz="1600" b="1"/>
            </a:pPr>
            <a:r>
              <a:t>• Normal: &lt; 100 mg/dL (5.6 mmol/L)</a:t>
            </a:r>
          </a:p>
          <a:p>
            <a:pPr>
              <a:lnSpc>
                <a:spcPct val="120000"/>
              </a:lnSpc>
              <a:defRPr sz="1600" b="1"/>
            </a:pPr>
            <a:r>
              <a:t>• Prediabetes: 100-125 mg/dL (5.6-6.9 mmol/L)</a:t>
            </a:r>
          </a:p>
          <a:p>
            <a:pPr>
              <a:lnSpc>
                <a:spcPct val="120000"/>
              </a:lnSpc>
              <a:defRPr sz="1600" b="1"/>
            </a:pPr>
            <a:r>
              <a:t>• Diabetes: ≥ 126 mg/dL (7.0 mmol/L)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/>
            </a:pPr>
            <a:r>
              <a:t>Oral Glucose Tolerance Test (OGTT):</a:t>
            </a:r>
          </a:p>
          <a:p>
            <a:pPr>
              <a:lnSpc>
                <a:spcPct val="120000"/>
              </a:lnSpc>
              <a:defRPr sz="1600" b="1"/>
            </a:pPr>
            <a:r>
              <a:t>• Normal: &lt; 140 mg/dL (7.8 mmol/L) at 2 hours</a:t>
            </a:r>
          </a:p>
          <a:p>
            <a:pPr>
              <a:lnSpc>
                <a:spcPct val="120000"/>
              </a:lnSpc>
              <a:defRPr sz="1600" b="1"/>
            </a:pPr>
            <a:r>
              <a:t>• Prediabetes: 140-199 mg/dL (7.8-11.0 mmol/L) at 2 hours</a:t>
            </a:r>
          </a:p>
          <a:p>
            <a:pPr>
              <a:lnSpc>
                <a:spcPct val="120000"/>
              </a:lnSpc>
              <a:defRPr sz="1600" b="1"/>
            </a:pPr>
            <a:r>
              <a:t>• Diabetes: ≥ 200 mg/dL (11.1 mmol/L) at 2 hours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/>
            </a:pPr>
            <a:r>
              <a:t>HbA1c (Hemoglobin A1c):</a:t>
            </a:r>
          </a:p>
          <a:p>
            <a:pPr>
              <a:lnSpc>
                <a:spcPct val="120000"/>
              </a:lnSpc>
              <a:defRPr sz="1600" b="1"/>
            </a:pPr>
            <a:r>
              <a:t>• Normal: &lt; 5.7% (39 mmol/mol)</a:t>
            </a:r>
          </a:p>
          <a:p>
            <a:pPr>
              <a:lnSpc>
                <a:spcPct val="120000"/>
              </a:lnSpc>
              <a:defRPr sz="1600" b="1"/>
            </a:pPr>
            <a:r>
              <a:t>• Prediabetes: 5.7-6.4% (39-47 mmol/mol)</a:t>
            </a:r>
          </a:p>
          <a:p>
            <a:pPr>
              <a:lnSpc>
                <a:spcPct val="120000"/>
              </a:lnSpc>
              <a:defRPr sz="1600" b="1"/>
            </a:pPr>
            <a:r>
              <a:t>• Diabetes: ≥ 6.5% (48 mmol/mol)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/>
            </a:pPr>
            <a:r>
              <a:t>Random Plasma Glucose:</a:t>
            </a:r>
          </a:p>
          <a:p>
            <a:pPr>
              <a:lnSpc>
                <a:spcPct val="120000"/>
              </a:lnSpc>
              <a:defRPr sz="1600" b="1"/>
            </a:pPr>
            <a:r>
              <a:t>• Diabetes: ≥ 200 mg/dL + symptoms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Management &amp; Treatment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800" b="1">
                <a:solidFill>
                  <a:srgbClr val="009933"/>
                </a:solidFill>
              </a:defRPr>
            </a:pPr>
            <a:r>
              <a:t>PHASE 1: LIFESTYLE + ORAL AGENTS</a:t>
            </a:r>
          </a:p>
          <a:p>
            <a:pPr>
              <a:defRPr sz="1400"/>
            </a:pPr>
            <a:r>
              <a:t>Lifestyle Interventions:</a:t>
            </a:r>
          </a:p>
          <a:p>
            <a:pPr>
              <a:defRPr sz="1400"/>
            </a:pPr>
            <a:r>
              <a:t>• Weight loss (5-10% body weight)</a:t>
            </a:r>
          </a:p>
          <a:p>
            <a:pPr>
              <a:defRPr sz="1400"/>
            </a:pPr>
            <a:r>
              <a:t>• Mediterranean-style diet</a:t>
            </a:r>
          </a:p>
          <a:p>
            <a:pPr>
              <a:defRPr sz="1400"/>
            </a:pPr>
            <a:r>
              <a:t>• Regular physical activity (150 min/week)</a:t>
            </a:r>
          </a:p>
          <a:p>
            <a:pPr>
              <a:defRPr sz="1400"/>
            </a:pPr>
            <a:r>
              <a:t>• Smoking cessation</a:t>
            </a:r>
          </a:p>
          <a:p>
            <a:pPr>
              <a:defRPr sz="1400"/>
            </a:pPr>
            <a:r>
              <a:t>Oral Hypoglycemic Agents:</a:t>
            </a:r>
          </a:p>
          <a:p>
            <a:pPr>
              <a:defRPr sz="1400"/>
            </a:pPr>
            <a:r>
              <a:t>• Metformin (first-line)</a:t>
            </a:r>
          </a:p>
          <a:p>
            <a:pPr>
              <a:defRPr sz="1400"/>
            </a:pPr>
            <a:r>
              <a:t>• SGLT2 inhibitors</a:t>
            </a:r>
          </a:p>
          <a:p>
            <a:pPr>
              <a:defRPr sz="1400"/>
            </a:pPr>
            <a:r>
              <a:t>• DPP-4 inhibitors</a:t>
            </a:r>
          </a:p>
          <a:p>
            <a:pPr>
              <a:defRPr sz="1400"/>
            </a:pPr>
            <a:r>
              <a:t>• GLP-1 receptor agonists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800" b="1">
                <a:solidFill>
                  <a:srgbClr val="FF4500"/>
                </a:solidFill>
              </a:defRPr>
            </a:pPr>
            <a:r>
              <a:t>PHASE 2: INSULIN THERAPY</a:t>
            </a:r>
          </a:p>
          <a:p>
            <a:pPr>
              <a:defRPr sz="1400"/>
            </a:pPr>
            <a:r>
              <a:t>Indications for Insulin:</a:t>
            </a:r>
          </a:p>
          <a:p>
            <a:pPr>
              <a:defRPr sz="1400"/>
            </a:pPr>
            <a:r>
              <a:t>• HbA1c &gt; 10% at diagnosis</a:t>
            </a:r>
          </a:p>
          <a:p>
            <a:pPr>
              <a:defRPr sz="1400"/>
            </a:pPr>
            <a:r>
              <a:t>• Symptomatic hyperglycemia</a:t>
            </a:r>
          </a:p>
          <a:p>
            <a:pPr>
              <a:defRPr sz="1400"/>
            </a:pPr>
            <a:r>
              <a:t>• Failure of oral agents + lifestyle</a:t>
            </a:r>
          </a:p>
          <a:p>
            <a:pPr>
              <a:defRPr sz="1400"/>
            </a:pPr>
            <a:r>
              <a:t>• Pregnancy/GDM</a:t>
            </a:r>
          </a:p>
          <a:p>
            <a:pPr>
              <a:defRPr sz="1400"/>
            </a:pPr>
            <a:r>
              <a:t>• Hospitalizations</a:t>
            </a:r>
          </a:p>
          <a:p>
            <a:pPr>
              <a:defRPr sz="1400"/>
            </a:pPr>
            <a:r>
              <a:t>Insulin Regimens:</a:t>
            </a:r>
          </a:p>
          <a:p>
            <a:pPr>
              <a:defRPr sz="1400"/>
            </a:pPr>
            <a:r>
              <a:t>• Basal insulin (Glargine, Detemir)</a:t>
            </a:r>
          </a:p>
          <a:p>
            <a:pPr>
              <a:defRPr sz="1400"/>
            </a:pPr>
            <a:r>
              <a:t>• Premixed (70/30, 50/50)</a:t>
            </a:r>
          </a:p>
          <a:p>
            <a:pPr>
              <a:defRPr sz="1400"/>
            </a:pPr>
            <a:r>
              <a:t>• Basal-bolus (MDI)</a:t>
            </a:r>
          </a:p>
          <a:p>
            <a:pPr>
              <a:defRPr sz="1400"/>
            </a:pPr>
            <a:r>
              <a:t>• Insulin pump therapy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Acute &amp; Chronic 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 b="1">
                <a:solidFill>
                  <a:srgbClr val="DC143C"/>
                </a:solidFill>
              </a:defRPr>
            </a:pPr>
            <a:r>
              <a:t>ACUTE COMPLICATIONS</a:t>
            </a:r>
          </a:p>
          <a:p>
            <a:pPr>
              <a:defRPr sz="1200"/>
            </a:pPr>
            <a:r>
              <a:t>1. Hypoglycemia:</a:t>
            </a:r>
          </a:p>
          <a:p>
            <a:pPr>
              <a:defRPr sz="1200"/>
            </a:pPr>
            <a:r>
              <a:t>   • Blood glucose &lt; 70 mg/dL</a:t>
            </a:r>
          </a:p>
          <a:p>
            <a:pPr>
              <a:defRPr sz="1200"/>
            </a:pPr>
            <a:r>
              <a:t>   • Treatment: 15-20g fast-acting carbs</a:t>
            </a:r>
          </a:p>
          <a:p>
            <a:pPr>
              <a:defRPr sz="1200"/>
            </a:pPr>
            <a:r>
              <a:t>   • Severe cases: Glucagon/IM glucose</a:t>
            </a:r>
          </a:p>
          <a:p>
            <a:pPr>
              <a:defRPr sz="1200"/>
            </a:pPr>
            <a:r>
              <a:t>2. Diabetic Ketoacidosis (DKA):</a:t>
            </a:r>
          </a:p>
          <a:p>
            <a:pPr>
              <a:defRPr sz="1200"/>
            </a:pPr>
            <a:r>
              <a:t>   • Hyperglycemia + ketones + acidosis</a:t>
            </a:r>
          </a:p>
          <a:p>
            <a:pPr>
              <a:defRPr sz="1200"/>
            </a:pPr>
            <a:r>
              <a:t>   • Treatment: Fluid resuscitation + insulin</a:t>
            </a:r>
          </a:p>
          <a:p>
            <a:pPr>
              <a:defRPr sz="1200"/>
            </a:pPr>
            <a:r>
              <a:t>3. Hyperosmolar Hyperglycemic State (HHS):</a:t>
            </a:r>
          </a:p>
          <a:p>
            <a:pPr>
              <a:defRPr sz="1200"/>
            </a:pPr>
            <a:r>
              <a:t>   • Severe hyperglycemia without ketoacidosis</a:t>
            </a:r>
          </a:p>
          <a:p>
            <a:pPr>
              <a:defRPr sz="1200"/>
            </a:pPr>
            <a:r>
              <a:t>   • Treatment: Aggressive fluid therapy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 b="1">
                <a:solidFill>
                  <a:srgbClr val="8B4513"/>
                </a:solidFill>
              </a:defRPr>
            </a:pPr>
            <a:r>
              <a:t>CHRONIC MICROVASCULAR COMPLICATIONS</a:t>
            </a:r>
          </a:p>
          <a:p>
            <a:pPr>
              <a:defRPr sz="1200"/>
            </a:pPr>
            <a:r>
              <a:t>1. Diabetic Retinopathy:</a:t>
            </a:r>
          </a:p>
          <a:p>
            <a:pPr>
              <a:defRPr sz="1200"/>
            </a:pPr>
            <a:r>
              <a:t>   • Leading cause of blindness</a:t>
            </a:r>
          </a:p>
          <a:p>
            <a:pPr>
              <a:defRPr sz="1200"/>
            </a:pPr>
            <a:r>
              <a:t>   • Annual screening recommended</a:t>
            </a:r>
          </a:p>
          <a:p>
            <a:pPr>
              <a:defRPr sz="1200"/>
            </a:pPr>
            <a:r>
              <a:t>   • Laser photocoagulation effective</a:t>
            </a:r>
          </a:p>
          <a:p>
            <a:pPr>
              <a:defRPr sz="1200"/>
            </a:pPr>
            <a:r>
              <a:t>2. Diabetic Nephropathy:</a:t>
            </a:r>
          </a:p>
          <a:p>
            <a:pPr>
              <a:defRPr sz="1200"/>
            </a:pPr>
            <a:r>
              <a:t>   • Microalbuminuria → proteinuria → ESRD</a:t>
            </a:r>
          </a:p>
          <a:p>
            <a:pPr>
              <a:defRPr sz="1200"/>
            </a:pPr>
            <a:r>
              <a:t>   • Prevention: RAAS blockade</a:t>
            </a:r>
          </a:p>
          <a:p>
            <a:pPr>
              <a:defRPr sz="1200"/>
            </a:pPr>
            <a:r>
              <a:t>   • 40% of ESRD cases in India</a:t>
            </a:r>
          </a:p>
          <a:p>
            <a:pPr>
              <a:defRPr sz="1200"/>
            </a:pPr>
            <a:r>
              <a:t>3. Diabetic Neuropathy:</a:t>
            </a:r>
          </a:p>
          <a:p>
            <a:pPr>
              <a:defRPr sz="1200"/>
            </a:pPr>
            <a:r>
              <a:t>   • Sensory + autonomic involvement</a:t>
            </a:r>
          </a:p>
          <a:p>
            <a:pPr>
              <a:defRPr sz="1200"/>
            </a:pPr>
            <a:r>
              <a:t>   • Prevention: Glycemic control</a:t>
            </a:r>
          </a:p>
          <a:p>
            <a:pPr>
              <a:defRPr sz="1200"/>
            </a:pPr>
            <a:r>
              <a:t>   • Most common chronic complication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Prevention &amp; Lifestyle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600" b="1"/>
            </a:pPr>
            <a:r>
              <a:t>PRIMARY PREVENTION STRATEGIES: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 b="1"/>
            </a:pPr>
            <a:r>
              <a:t>Lifestyle Interventions:</a:t>
            </a:r>
          </a:p>
          <a:p>
            <a:pPr>
              <a:lnSpc>
                <a:spcPct val="120000"/>
              </a:lnSpc>
              <a:defRPr sz="1600" b="1"/>
            </a:pPr>
            <a:r>
              <a:t>• Mediterranean diet with high fiber intake</a:t>
            </a:r>
          </a:p>
          <a:p>
            <a:pPr>
              <a:lnSpc>
                <a:spcPct val="120000"/>
              </a:lnSpc>
              <a:defRPr sz="1600" b="1"/>
            </a:pPr>
            <a:r>
              <a:t>• Regular physical activity (brisk walking 30 min/day)</a:t>
            </a:r>
          </a:p>
          <a:p>
            <a:pPr>
              <a:lnSpc>
                <a:spcPct val="120000"/>
              </a:lnSpc>
              <a:defRPr sz="1600" b="1"/>
            </a:pPr>
            <a:r>
              <a:t>• Maintenance of healthy BMI (18.5-24.9 kg/m²)</a:t>
            </a:r>
          </a:p>
          <a:p>
            <a:pPr>
              <a:lnSpc>
                <a:spcPct val="120000"/>
              </a:lnSpc>
              <a:defRPr sz="1600" b="1"/>
            </a:pPr>
            <a:r>
              <a:t>• Smoking cessation and alcohol moderation</a:t>
            </a:r>
          </a:p>
          <a:p>
            <a:pPr>
              <a:lnSpc>
                <a:spcPct val="120000"/>
              </a:lnSpc>
              <a:defRPr sz="1600" b="1"/>
            </a:pPr>
            <a:r>
              <a:t>• Stress management and adequate sleep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 b="1"/>
            </a:pPr>
            <a:r>
              <a:t>Population-Level Interventions:</a:t>
            </a:r>
          </a:p>
          <a:p>
            <a:pPr>
              <a:lnSpc>
                <a:spcPct val="120000"/>
              </a:lnSpc>
              <a:defRPr sz="1600" b="1"/>
            </a:pPr>
            <a:r>
              <a:t>• Sugar-sweetened beverage taxation</a:t>
            </a:r>
          </a:p>
          <a:p>
            <a:pPr>
              <a:lnSpc>
                <a:spcPct val="120000"/>
              </a:lnSpc>
              <a:defRPr sz="1600" b="1"/>
            </a:pPr>
            <a:r>
              <a:t>• Labeling requirements for packaged foods</a:t>
            </a:r>
          </a:p>
          <a:p>
            <a:pPr>
              <a:lnSpc>
                <a:spcPct val="120000"/>
              </a:lnSpc>
              <a:defRPr sz="1600" b="1"/>
            </a:pPr>
            <a:r>
              <a:t>• Workplace wellness programs</a:t>
            </a:r>
          </a:p>
          <a:p>
            <a:pPr>
              <a:lnSpc>
                <a:spcPct val="120000"/>
              </a:lnSpc>
              <a:defRPr sz="1600" b="1"/>
            </a:pPr>
            <a:r>
              <a:t>• Community screening campaigns</a:t>
            </a:r>
          </a:p>
          <a:p>
            <a:pPr>
              <a:lnSpc>
                <a:spcPct val="120000"/>
              </a:lnSpc>
              <a:defRPr sz="1600" b="1"/>
            </a:pPr>
            <a:r>
              <a:t>• Public awareness campaigns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 b="1"/>
            </a:pPr>
            <a:r>
              <a:t>SECONDARY PREVENTION:</a:t>
            </a:r>
          </a:p>
          <a:p>
            <a:pPr>
              <a:lnSpc>
                <a:spcPct val="120000"/>
              </a:lnSpc>
              <a:defRPr sz="1600" b="1"/>
            </a:pPr>
            <a:r>
              <a:t>• Regular screening for high-risk groups</a:t>
            </a:r>
          </a:p>
          <a:p>
            <a:pPr>
              <a:lnSpc>
                <a:spcPct val="120000"/>
              </a:lnSpc>
              <a:defRPr sz="1600" b="1"/>
            </a:pPr>
            <a:r>
              <a:t>• Early diagnosis and treatment</a:t>
            </a:r>
          </a:p>
          <a:p>
            <a:pPr>
              <a:lnSpc>
                <a:spcPct val="120000"/>
              </a:lnSpc>
              <a:defRPr sz="1600" b="1"/>
            </a:pPr>
            <a:r>
              <a:t>• Cardiovascular risk factor management</a:t>
            </a:r>
          </a:p>
          <a:p>
            <a:pPr>
              <a:lnSpc>
                <a:spcPct val="120000"/>
              </a:lnSpc>
              <a:defRPr sz="1600" b="1"/>
            </a:pPr>
            <a:r>
              <a:t>• Annual eye and foot examinations</a:t>
            </a:r>
          </a:p>
          <a:p>
            <a:pPr>
              <a:lnSpc>
                <a:spcPct val="120000"/>
              </a:lnSpc>
              <a:defRPr sz="1600" b="1"/>
            </a:pPr>
            <a:r>
              <a:t>• HbA1c monitoring every 3-6 months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 b="1"/>
            </a:pPr>
            <a:r>
              <a:t>Evidence-Based Benefits:</a:t>
            </a:r>
          </a:p>
          <a:p>
            <a:pPr>
              <a:lnSpc>
                <a:spcPct val="120000"/>
              </a:lnSpc>
              <a:defRPr sz="1600" b="1"/>
            </a:pPr>
            <a:r>
              <a:t>• 58% reduction in diabetes incidence (DPP Trial)</a:t>
            </a:r>
          </a:p>
          <a:p>
            <a:pPr>
              <a:lnSpc>
                <a:spcPct val="120000"/>
              </a:lnSpc>
              <a:defRPr sz="1600" b="1"/>
            </a:pPr>
            <a:r>
              <a:t>• 20-30% CVD risk reduction</a:t>
            </a:r>
          </a:p>
          <a:p>
            <a:pPr>
              <a:lnSpc>
                <a:spcPct val="120000"/>
              </a:lnSpc>
              <a:defRPr sz="1600" b="1"/>
            </a:pPr>
            <a:r>
              <a:t>• Improved quality of life and life expectancy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CBME Case Study: Type 2 Diabetes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800" b="1"/>
            </a:pPr>
            <a:r>
              <a:t>CASE PRESENTATION</a:t>
            </a:r>
          </a:p>
          <a:p>
            <a:pPr>
              <a:defRPr sz="1400"/>
            </a:pPr>
            <a:r>
              <a:t>45-year-old male, overweight (BMI 32)</a:t>
            </a:r>
          </a:p>
          <a:p>
            <a:pPr>
              <a:defRPr sz="1400"/>
            </a:pPr>
            <a:r>
              <a:t>Chief Complaints:</a:t>
            </a:r>
          </a:p>
          <a:p>
            <a:pPr>
              <a:defRPr sz="1400"/>
            </a:pPr>
            <a:r>
              <a:t>• Increased thirst and urination</a:t>
            </a:r>
          </a:p>
          <a:p>
            <a:pPr>
              <a:defRPr sz="1400"/>
            </a:pPr>
            <a:r>
              <a:t>• Unexplained weight loss (8 kg)</a:t>
            </a:r>
          </a:p>
          <a:p>
            <a:pPr>
              <a:defRPr sz="1400"/>
            </a:pPr>
            <a:r>
              <a:t>• Blurred vision</a:t>
            </a:r>
          </a:p>
          <a:p>
            <a:pPr>
              <a:defRPr sz="1400"/>
            </a:pPr>
            <a:r>
              <a:t>• Fatigue</a:t>
            </a:r>
          </a:p>
          <a:p>
            <a:pPr>
              <a:defRPr sz="1400"/>
            </a:pPr>
            <a:r>
              <a:t>Past History:</a:t>
            </a:r>
          </a:p>
          <a:p>
            <a:pPr>
              <a:defRPr sz="1400"/>
            </a:pPr>
            <a:r>
              <a:t>• Hypertension (on medication)</a:t>
            </a:r>
          </a:p>
          <a:p>
            <a:pPr>
              <a:defRPr sz="1400"/>
            </a:pPr>
            <a:r>
              <a:t>• Sedentary lifestyle</a:t>
            </a:r>
          </a:p>
          <a:p>
            <a:pPr>
              <a:defRPr sz="1400"/>
            </a:pPr>
            <a:r>
              <a:t>• Family history: Mother with T2DM</a:t>
            </a:r>
          </a:p>
          <a:p>
            <a:pPr>
              <a:defRPr sz="1400"/>
            </a:pPr>
            <a:r>
              <a:t>Laboratory Results:</a:t>
            </a:r>
          </a:p>
          <a:p>
            <a:pPr>
              <a:defRPr sz="1400"/>
            </a:pPr>
            <a:r>
              <a:t>• RBS: 280 mg/dL</a:t>
            </a:r>
          </a:p>
          <a:p>
            <a:pPr>
              <a:defRPr sz="1400"/>
            </a:pPr>
            <a:r>
              <a:t>• HbA1c: 9.2%</a:t>
            </a:r>
          </a:p>
          <a:p>
            <a:pPr>
              <a:defRPr sz="1400"/>
            </a:pPr>
            <a:r>
              <a:t>• Serum creatinine: 1.1 mg/dL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800" b="1">
                <a:solidFill>
                  <a:srgbClr val="009933"/>
                </a:solidFill>
              </a:defRPr>
            </a:pPr>
            <a:r>
              <a:t>CBME MANAGEMENT PLAN</a:t>
            </a:r>
          </a:p>
          <a:p>
            <a:pPr>
              <a:defRPr sz="1400"/>
            </a:pPr>
            <a:r>
              <a:t>1. Patient Care:</a:t>
            </a:r>
          </a:p>
          <a:p>
            <a:pPr>
              <a:defRPr sz="1400"/>
            </a:pPr>
            <a:r>
              <a:t>   • Lifestyle counseling</a:t>
            </a:r>
          </a:p>
          <a:p>
            <a:pPr>
              <a:defRPr sz="1400"/>
            </a:pPr>
            <a:r>
              <a:t>   • SMBG education</a:t>
            </a:r>
          </a:p>
          <a:p>
            <a:pPr>
              <a:defRPr sz="1400"/>
            </a:pPr>
            <a:r>
              <a:t>   • Hypoglycemia awareness</a:t>
            </a:r>
          </a:p>
          <a:p>
            <a:pPr>
              <a:defRPr sz="1400"/>
            </a:pPr>
            <a:r>
              <a:t>2. Medical Knowledge:</a:t>
            </a:r>
          </a:p>
          <a:p>
            <a:pPr>
              <a:defRPr sz="1400"/>
            </a:pPr>
            <a:r>
              <a:t>   • Metformin 500mg BD</a:t>
            </a:r>
          </a:p>
          <a:p>
            <a:pPr>
              <a:defRPr sz="1400"/>
            </a:pPr>
            <a:r>
              <a:t>   • ACE inhibitor for hypertension</a:t>
            </a:r>
          </a:p>
          <a:p>
            <a:pPr>
              <a:defRPr sz="1400"/>
            </a:pPr>
            <a:r>
              <a:t>   • Statin therapy</a:t>
            </a:r>
          </a:p>
          <a:p>
            <a:pPr>
              <a:defRPr sz="1400"/>
            </a:pPr>
            <a:r>
              <a:t>3. Practice-Based Learning:</a:t>
            </a:r>
          </a:p>
          <a:p>
            <a:pPr>
              <a:defRPr sz="1400"/>
            </a:pPr>
            <a:r>
              <a:t>   • Monthly follow-ups</a:t>
            </a:r>
          </a:p>
          <a:p>
            <a:pPr>
              <a:defRPr sz="1400"/>
            </a:pPr>
            <a:r>
              <a:t>   • HbA1c target: &lt;7.0%</a:t>
            </a:r>
          </a:p>
          <a:p>
            <a:pPr>
              <a:defRPr sz="1400"/>
            </a:pPr>
            <a:r>
              <a:t>   • Patient education materials</a:t>
            </a:r>
          </a:p>
          <a:p>
            <a:pPr>
              <a:defRPr sz="1400"/>
            </a:pPr>
            <a:r>
              <a:t>4. Communication Skills:</a:t>
            </a:r>
          </a:p>
          <a:p>
            <a:pPr>
              <a:defRPr sz="1400"/>
            </a:pPr>
            <a:r>
              <a:t>   • Family counseling</a:t>
            </a:r>
          </a:p>
          <a:p>
            <a:pPr>
              <a:defRPr sz="1400"/>
            </a:pPr>
            <a:r>
              <a:t>   • Support group referral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CBME Assessment &amp;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400"/>
            </a:pPr>
            <a:r>
              <a:t>CBME COMPETENCIES (MBBS LEVEL):</a:t>
            </a:r>
          </a:p>
          <a:p>
            <a:pPr>
              <a:lnSpc>
                <a:spcPct val="120000"/>
              </a:lnSpc>
              <a:defRPr sz="1400"/>
            </a:pPr>
          </a:p>
          <a:p>
            <a:pPr>
              <a:lnSpc>
                <a:spcPct val="120000"/>
              </a:lnSpc>
              <a:defRPr sz="1600" b="1"/>
            </a:pPr>
            <a:r>
              <a:t>1. Patient Care:</a:t>
            </a:r>
          </a:p>
          <a:p>
            <a:pPr>
              <a:lnSpc>
                <a:spcPct val="120000"/>
              </a:lnSpc>
              <a:defRPr sz="1400"/>
            </a:pPr>
            <a:r>
              <a:t>   • Diagnose diabetes mellitus using clinical criteria</a:t>
            </a:r>
          </a:p>
          <a:p>
            <a:pPr>
              <a:lnSpc>
                <a:spcPct val="120000"/>
              </a:lnSpc>
              <a:defRPr sz="1400"/>
            </a:pPr>
            <a:r>
              <a:t>   • Initiate appropriate treatment plans</a:t>
            </a:r>
          </a:p>
          <a:p>
            <a:pPr>
              <a:lnSpc>
                <a:spcPct val="120000"/>
              </a:lnSpc>
              <a:defRPr sz="1400"/>
            </a:pPr>
            <a:r>
              <a:t>   • Monitor glycemic control and complications</a:t>
            </a:r>
          </a:p>
          <a:p>
            <a:pPr>
              <a:lnSpc>
                <a:spcPct val="120000"/>
              </a:lnSpc>
              <a:defRPr sz="1400"/>
            </a:pPr>
          </a:p>
          <a:p>
            <a:pPr>
              <a:lnSpc>
                <a:spcPct val="120000"/>
              </a:lnSpc>
              <a:defRPr sz="1600" b="1"/>
            </a:pPr>
            <a:r>
              <a:t>2. Medical Knowledge:</a:t>
            </a:r>
          </a:p>
          <a:p>
            <a:pPr>
              <a:lnSpc>
                <a:spcPct val="120000"/>
              </a:lnSpc>
              <a:defRPr sz="1400"/>
            </a:pPr>
            <a:r>
              <a:t>   • Understand pathophysiology of hyperglycemia</a:t>
            </a:r>
          </a:p>
          <a:p>
            <a:pPr>
              <a:lnSpc>
                <a:spcPct val="120000"/>
              </a:lnSpc>
              <a:defRPr sz="1400"/>
            </a:pPr>
            <a:r>
              <a:t>   • Know pharmacological and non-pharmacological treatments</a:t>
            </a:r>
          </a:p>
          <a:p>
            <a:pPr>
              <a:lnSpc>
                <a:spcPct val="120000"/>
              </a:lnSpc>
              <a:defRPr sz="1400"/>
            </a:pPr>
            <a:r>
              <a:t>   • Recognize complications and their management</a:t>
            </a:r>
          </a:p>
          <a:p>
            <a:pPr>
              <a:lnSpc>
                <a:spcPct val="120000"/>
              </a:lnSpc>
              <a:defRPr sz="1400"/>
            </a:pPr>
          </a:p>
          <a:p>
            <a:pPr>
              <a:lnSpc>
                <a:spcPct val="120000"/>
              </a:lnSpc>
              <a:defRPr sz="1600" b="1"/>
            </a:pPr>
            <a:r>
              <a:t>3. Practice-Based Learning:</a:t>
            </a:r>
          </a:p>
          <a:p>
            <a:pPr>
              <a:lnSpc>
                <a:spcPct val="120000"/>
              </a:lnSpc>
              <a:defRPr sz="1400"/>
            </a:pPr>
            <a:r>
              <a:t>   • Use evidence-based guidelines (ADA 2023)</a:t>
            </a:r>
          </a:p>
          <a:p>
            <a:pPr>
              <a:lnSpc>
                <a:spcPct val="120000"/>
              </a:lnSpc>
              <a:defRPr sz="1400"/>
            </a:pPr>
            <a:r>
              <a:t>   • Interpret laboratory results appropriately</a:t>
            </a:r>
          </a:p>
          <a:p>
            <a:pPr>
              <a:lnSpc>
                <a:spcPct val="120000"/>
              </a:lnSpc>
              <a:defRPr sz="1400"/>
            </a:pPr>
            <a:r>
              <a:t>   • Make rational clinical decisions</a:t>
            </a:r>
          </a:p>
          <a:p>
            <a:pPr>
              <a:lnSpc>
                <a:spcPct val="120000"/>
              </a:lnSpc>
              <a:defRPr sz="1400"/>
            </a:pPr>
          </a:p>
          <a:p>
            <a:pPr>
              <a:lnSpc>
                <a:spcPct val="120000"/>
              </a:lnSpc>
              <a:defRPr sz="1600" b="1"/>
            </a:pPr>
            <a:r>
              <a:t>4. Communication Skills:</a:t>
            </a:r>
          </a:p>
          <a:p>
            <a:pPr>
              <a:lnSpc>
                <a:spcPct val="120000"/>
              </a:lnSpc>
              <a:defRPr sz="1400"/>
            </a:pPr>
            <a:r>
              <a:t>   • Educate patients about diabetes self-management</a:t>
            </a:r>
          </a:p>
          <a:p>
            <a:pPr>
              <a:lnSpc>
                <a:spcPct val="120000"/>
              </a:lnSpc>
              <a:defRPr sz="1400"/>
            </a:pPr>
            <a:r>
              <a:t>   • Counsel on lifestyle modifications</a:t>
            </a:r>
          </a:p>
          <a:p>
            <a:pPr>
              <a:lnSpc>
                <a:spcPct val="120000"/>
              </a:lnSpc>
              <a:defRPr sz="1400"/>
            </a:pPr>
            <a:r>
              <a:t>   • Coordinate with multidisciplinary team</a:t>
            </a:r>
          </a:p>
          <a:p>
            <a:pPr>
              <a:lnSpc>
                <a:spcPct val="120000"/>
              </a:lnSpc>
              <a:defRPr sz="1400"/>
            </a:pPr>
          </a:p>
          <a:p>
            <a:pPr>
              <a:lnSpc>
                <a:spcPct val="120000"/>
              </a:lnSpc>
              <a:defRPr sz="1600" b="1"/>
            </a:pPr>
            <a:r>
              <a:t>5. Professionalism:</a:t>
            </a:r>
          </a:p>
          <a:p>
            <a:pPr>
              <a:lnSpc>
                <a:spcPct val="120000"/>
              </a:lnSpc>
              <a:defRPr sz="1400"/>
            </a:pPr>
            <a:r>
              <a:t>   • Maintain patient confidentiality</a:t>
            </a:r>
          </a:p>
          <a:p>
            <a:pPr>
              <a:lnSpc>
                <a:spcPct val="120000"/>
              </a:lnSpc>
              <a:defRPr sz="1400"/>
            </a:pPr>
            <a:r>
              <a:t>   • Provide culturally competent care</a:t>
            </a:r>
          </a:p>
          <a:p>
            <a:pPr>
              <a:lnSpc>
                <a:spcPct val="120000"/>
              </a:lnSpc>
              <a:defRPr sz="1400"/>
            </a:pPr>
            <a:r>
              <a:t>   • Uphold ethical standards</a:t>
            </a:r>
          </a:p>
          <a:p>
            <a:pPr>
              <a:lnSpc>
                <a:spcPct val="120000"/>
              </a:lnSpc>
              <a:defRPr sz="1400"/>
            </a:pPr>
          </a:p>
          <a:p>
            <a:pPr>
              <a:lnSpc>
                <a:spcPct val="120000"/>
              </a:lnSpc>
              <a:defRPr sz="1600" b="1"/>
            </a:pPr>
            <a:r>
              <a:t>6. Systems-Based Practice:</a:t>
            </a:r>
          </a:p>
          <a:p>
            <a:pPr>
              <a:lnSpc>
                <a:spcPct val="120000"/>
              </a:lnSpc>
              <a:defRPr sz="1400"/>
            </a:pPr>
            <a:r>
              <a:t>   • Utilize community resources for diabetes care</a:t>
            </a:r>
          </a:p>
          <a:p>
            <a:pPr>
              <a:lnSpc>
                <a:spcPct val="120000"/>
              </a:lnSpc>
              <a:defRPr sz="1400"/>
            </a:pPr>
            <a:r>
              <a:t>   • Understand healthcare delivery systems</a:t>
            </a:r>
          </a:p>
          <a:p>
            <a:pPr>
              <a:lnSpc>
                <a:spcPct val="120000"/>
              </a:lnSpc>
              <a:defRPr sz="1400"/>
            </a:pPr>
            <a:r>
              <a:t>   • Advocate for preventive measures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Educational Resources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800" b="1"/>
            </a:pPr>
            <a:r>
              <a:t>KEY REFERENCES</a:t>
            </a:r>
          </a:p>
          <a:p>
            <a:pPr>
              <a:defRPr sz="1400"/>
            </a:pPr>
            <a:r>
              <a:t>American Diabetes Association:</a:t>
            </a:r>
          </a:p>
          <a:p>
            <a:pPr>
              <a:defRPr sz="1400"/>
            </a:pPr>
            <a:r>
              <a:t>• Standards of Care 2023</a:t>
            </a:r>
          </a:p>
          <a:p>
            <a:pPr>
              <a:defRPr sz="1400"/>
            </a:pPr>
            <a:r>
              <a:t>• Complete Type 2 Diabetes Guideline</a:t>
            </a:r>
          </a:p>
          <a:p>
            <a:pPr>
              <a:defRPr sz="1400"/>
            </a:pPr>
            <a:r>
              <a:t>International Diabetes Federation:</a:t>
            </a:r>
          </a:p>
          <a:p>
            <a:pPr>
              <a:defRPr sz="1400"/>
            </a:pPr>
            <a:r>
              <a:t>• IDF Diabetes Atlas 2023</a:t>
            </a:r>
          </a:p>
          <a:p>
            <a:pPr>
              <a:defRPr sz="1400"/>
            </a:pPr>
            <a:r>
              <a:t>• Regional reports</a:t>
            </a:r>
          </a:p>
          <a:p>
            <a:pPr>
              <a:defRPr sz="1400"/>
            </a:pPr>
            <a:r>
              <a:t>Williams Textbook of Endocrinology</a:t>
            </a:r>
          </a:p>
          <a:p>
            <a:pPr>
              <a:defRPr sz="1400"/>
            </a:pPr>
            <a:r>
              <a:t>Harrison's Principles of Internal Medicine</a:t>
            </a:r>
          </a:p>
          <a:p>
            <a:pPr>
              <a:defRPr sz="1400"/>
            </a:pPr>
            <a:r>
              <a:t>Joslin's Diabetes Mellitus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ONLINE RESOURCES</a:t>
            </a:r>
          </a:p>
          <a:p>
            <a:pPr>
              <a:defRPr sz="1400"/>
            </a:pPr>
            <a:r>
              <a:t>Professional Websites:</a:t>
            </a:r>
          </a:p>
          <a:p>
            <a:pPr>
              <a:defRPr sz="1400"/>
            </a:pPr>
            <a:r>
              <a:t>• diabetes.org (ADA)</a:t>
            </a:r>
          </a:p>
          <a:p>
            <a:pPr>
              <a:defRPr sz="1400"/>
            </a:pPr>
            <a:r>
              <a:t>• idf.org (IDF)</a:t>
            </a:r>
          </a:p>
          <a:p>
            <a:pPr>
              <a:defRPr sz="1400"/>
            </a:pPr>
            <a:r>
              <a:t>• who.int/diabetes</a:t>
            </a:r>
          </a:p>
          <a:p>
            <a:pPr>
              <a:defRPr sz="1400"/>
            </a:pPr>
            <a:r>
              <a:t>Educational Platforms:</a:t>
            </a:r>
          </a:p>
          <a:p>
            <a:pPr>
              <a:defRPr sz="1400"/>
            </a:pPr>
            <a:r>
              <a:t>• Coursera - Diabetes courses</a:t>
            </a:r>
          </a:p>
          <a:p>
            <a:pPr>
              <a:defRPr sz="1400"/>
            </a:pPr>
            <a:r>
              <a:t>• edX - Endocrinology programs</a:t>
            </a:r>
          </a:p>
          <a:p>
            <a:pPr>
              <a:defRPr sz="1400"/>
            </a:pPr>
            <a:r>
              <a:t>• Khan Academy - Basic physiology</a:t>
            </a:r>
          </a:p>
          <a:p>
            <a:pPr>
              <a:defRPr sz="1400"/>
            </a:pPr>
            <a:r>
              <a:t>Latest Research:</a:t>
            </a:r>
          </a:p>
          <a:p>
            <a:pPr>
              <a:defRPr sz="1400"/>
            </a:pPr>
            <a:r>
              <a:t>• NEJM Diabetes reviews</a:t>
            </a:r>
          </a:p>
          <a:p>
            <a:pPr>
              <a:defRPr sz="1400"/>
            </a:pPr>
            <a:r>
              <a:t>• The Lancet Diabetes &amp; Endocrinology</a:t>
            </a:r>
          </a:p>
          <a:p>
            <a:pPr>
              <a:defRPr sz="1400"/>
            </a:pPr>
            <a:r>
              <a:t>• PubMed diabetes literature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Summary: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600"/>
            </a:pPr>
            <a:r>
              <a:t>DIABETES MELLITUS - CRITICAL CONCEPTS: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 b="1"/>
            </a:pPr>
            <a:r>
              <a:t>🔹 Global epidemic affecting 537 million people</a:t>
            </a:r>
          </a:p>
          <a:p>
            <a:pPr>
              <a:lnSpc>
                <a:spcPct val="120000"/>
              </a:lnSpc>
              <a:defRPr sz="1600" b="1"/>
            </a:pPr>
            <a:r>
              <a:t>🔹 Type 2 diabetes accounts for 90-95% of cases</a:t>
            </a:r>
          </a:p>
          <a:p>
            <a:pPr>
              <a:lnSpc>
                <a:spcPct val="120000"/>
              </a:lnSpc>
              <a:defRPr sz="1600" b="1"/>
            </a:pPr>
            <a:r>
              <a:t>🔹 Diagnosis requires HbA1c ≥ 6.5% or confirmatory lab results</a:t>
            </a:r>
          </a:p>
          <a:p>
            <a:pPr>
              <a:lnSpc>
                <a:spcPct val="120000"/>
              </a:lnSpc>
              <a:defRPr sz="1600" b="1"/>
            </a:pPr>
            <a:r>
              <a:t>🔹 Metformin remains first-line therapy for T2DM</a:t>
            </a:r>
          </a:p>
          <a:p>
            <a:pPr>
              <a:lnSpc>
                <a:spcPct val="120000"/>
              </a:lnSpc>
              <a:defRPr sz="1600" b="1"/>
            </a:pPr>
            <a:r>
              <a:t>🔹 Glycemic control prevents microvascular complications</a:t>
            </a:r>
          </a:p>
          <a:p>
            <a:pPr>
              <a:lnSpc>
                <a:spcPct val="120000"/>
              </a:lnSpc>
              <a:defRPr sz="1600" b="1"/>
            </a:pPr>
            <a:r>
              <a:t>🔹 Lifestyle modification can prevent diabetes development</a:t>
            </a:r>
          </a:p>
          <a:p>
            <a:pPr>
              <a:lnSpc>
                <a:spcPct val="120000"/>
              </a:lnSpc>
              <a:defRPr sz="1600" b="1"/>
            </a:pPr>
            <a:r>
              <a:t>🔹 Regular screening advised for high-risk populations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/>
            </a:pPr>
            <a:r>
              <a:t>CLINICAL DECISION POINTS:</a:t>
            </a:r>
          </a:p>
          <a:p>
            <a:pPr>
              <a:lnSpc>
                <a:spcPct val="120000"/>
              </a:lnSpc>
              <a:defRPr sz="1600" b="1"/>
            </a:pPr>
            <a:r>
              <a:t>• RBS &gt; 200 mg/dL + symptoms = diabetes</a:t>
            </a:r>
          </a:p>
          <a:p>
            <a:pPr>
              <a:lnSpc>
                <a:spcPct val="120000"/>
              </a:lnSpc>
              <a:defRPr sz="1600" b="1"/>
            </a:pPr>
            <a:r>
              <a:t>• HbA1c &gt; 10% at diagnosis = insulin initiation</a:t>
            </a:r>
          </a:p>
          <a:p>
            <a:pPr>
              <a:lnSpc>
                <a:spcPct val="120000"/>
              </a:lnSpc>
              <a:defRPr sz="1600" b="1"/>
            </a:pPr>
            <a:r>
              <a:t>• Chronic hyperglycemia = aggressive risk factor management</a:t>
            </a:r>
          </a:p>
          <a:p>
            <a:pPr>
              <a:lnSpc>
                <a:spcPct val="120000"/>
              </a:lnSpc>
              <a:defRPr sz="1600" b="1"/>
            </a:pPr>
            <a:r>
              <a:t>• Patient education = cornerstone of diabetes care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/>
            </a:pPr>
            <a:r>
              <a:t>CBME FOCUS:</a:t>
            </a:r>
          </a:p>
          <a:p>
            <a:pPr>
              <a:lnSpc>
                <a:spcPct val="120000"/>
              </a:lnSpc>
              <a:defRPr sz="1600" b="1"/>
            </a:pPr>
            <a:r>
              <a:t>• Physician competence in diagnosis and management</a:t>
            </a:r>
          </a:p>
          <a:p>
            <a:pPr>
              <a:lnSpc>
                <a:spcPct val="120000"/>
              </a:lnSpc>
              <a:defRPr sz="1600" b="1"/>
            </a:pPr>
            <a:r>
              <a:t>• Evidence-based therapeutic decision making</a:t>
            </a:r>
          </a:p>
          <a:p>
            <a:pPr>
              <a:lnSpc>
                <a:spcPct val="120000"/>
              </a:lnSpc>
              <a:defRPr sz="1600" b="1"/>
            </a:pPr>
            <a:r>
              <a:t>• Patient-centered communication and education</a:t>
            </a:r>
          </a:p>
          <a:p>
            <a:pPr>
              <a:lnSpc>
                <a:spcPct val="120000"/>
              </a:lnSpc>
              <a:defRPr sz="1600" b="1"/>
            </a:pPr>
            <a:r>
              <a:t>• Lifelong learning and quality improvement</a:t>
            </a:r>
          </a:p>
          <a:p>
            <a:pPr>
              <a:lnSpc>
                <a:spcPct val="120000"/>
              </a:lnSpc>
              <a:defRPr sz="1600"/>
            </a:pPr>
          </a:p>
          <a:p>
            <a:pPr>
              <a:lnSpc>
                <a:spcPct val="120000"/>
              </a:lnSpc>
              <a:defRPr sz="1600"/>
            </a:pPr>
            <a:r>
              <a:t>REMEMBER: Diabetes is a preventable disease. Early intervention saves lives and reduces healthcare burden.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