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Prevention of Pneumonia - Vaccination Strategies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Dr Siddalingaiah H S</a:t>
            </a:r>
            <a:endParaRPr dirty="0"/>
          </a:p>
          <a:p>
            <a:r>
              <a:rPr dirty="0"/>
              <a:t>Professor, Community Medicine</a:t>
            </a:r>
          </a:p>
          <a:p>
            <a:r>
              <a:rPr dirty="0"/>
              <a:t>MBBS Phase 3 Part 1 Integration Class - Day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By end of this session, MBBS students will be able to:</a:t>
            </a:r>
          </a:p>
          <a:p>
            <a:pPr marL="0" indent="0">
              <a:buNone/>
            </a:pPr>
            <a:r>
              <a:rPr dirty="0"/>
              <a:t>1. Analyze global and Indian pneumonia burden and preventable deaths</a:t>
            </a:r>
          </a:p>
          <a:p>
            <a:pPr marL="0" indent="0">
              <a:buNone/>
            </a:pPr>
            <a:r>
              <a:rPr dirty="0"/>
              <a:t>2. Understand pneumococcal and influenza vaccination strategies</a:t>
            </a:r>
          </a:p>
          <a:p>
            <a:pPr marL="0" indent="0">
              <a:buNone/>
            </a:pPr>
            <a:r>
              <a:rPr dirty="0"/>
              <a:t>3. Apply age-appropriate vaccination recommendations</a:t>
            </a:r>
          </a:p>
          <a:p>
            <a:pPr marL="0" indent="0">
              <a:buNone/>
            </a:pPr>
            <a:r>
              <a:rPr dirty="0"/>
              <a:t>4. Demonstrate effective vaccine counseling techniques</a:t>
            </a:r>
          </a:p>
          <a:p>
            <a:pPr marL="0" indent="0">
              <a:buNone/>
            </a:pPr>
            <a:r>
              <a:rPr dirty="0"/>
              <a:t>5. Implement vaccination programs in clinical practice</a:t>
            </a:r>
          </a:p>
          <a:p>
            <a:pPr marL="0" indent="0">
              <a:buNone/>
            </a:pPr>
            <a:r>
              <a:rPr b="1" dirty="0"/>
              <a:t>CBME Competencies: Medical Knowledge, Patient Care, Systems-Based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Pneumonia Prevention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Before 2000: Focus on treatment and antibiotics</a:t>
            </a:r>
          </a:p>
          <a:p>
            <a:r>
              <a:rPr dirty="0"/>
              <a:t>After PCV introduction: Dramatic reduction in invasive disease</a:t>
            </a:r>
          </a:p>
          <a:p>
            <a:r>
              <a:rPr dirty="0"/>
              <a:t>Current era: Comprehensive immunization + improved care</a:t>
            </a:r>
          </a:p>
          <a:p>
            <a:r>
              <a:rPr dirty="0"/>
              <a:t>Future vision: Pneumonia elimination through vaccination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Global Pneumonia Burden - Vaccine-Preventable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📊 Annual Impact:</a:t>
            </a:r>
          </a:p>
          <a:p>
            <a:r>
              <a:rPr dirty="0"/>
              <a:t>2.5 million deaths worldwide (leading infectious cause)</a:t>
            </a:r>
          </a:p>
          <a:p>
            <a:r>
              <a:rPr dirty="0"/>
              <a:t>1.5 million deaths preventable through vaccination</a:t>
            </a:r>
          </a:p>
          <a:p>
            <a:r>
              <a:rPr dirty="0"/>
              <a:t>50-80% reduction possible with optimal vaccination</a:t>
            </a:r>
          </a:p>
          <a:p>
            <a:r>
              <a:rPr dirty="0"/>
              <a:t>Economic savings: $27-61 returned per dollar invested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Indian Context - Pneumonia Mortality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🇮🇳 Indian Reality:</a:t>
            </a:r>
          </a:p>
          <a:p>
            <a:r>
              <a:rPr dirty="0"/>
              <a:t>340,000 deaths annually from pneumonia</a:t>
            </a:r>
          </a:p>
          <a:p>
            <a:r>
              <a:rPr dirty="0"/>
              <a:t>25-30% of deaths vaccine-preventable</a:t>
            </a:r>
          </a:p>
          <a:p>
            <a:r>
              <a:rPr dirty="0"/>
              <a:t>17% of under-5 deaths attributed to pneumonia</a:t>
            </a:r>
          </a:p>
          <a:p>
            <a:r>
              <a:rPr dirty="0"/>
              <a:t>Highest burden: Uttar Pradesh, Bihar, Rajasthan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Pneumococcal Disease 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common bacterial pneumonia cause worldwide</a:t>
            </a:r>
          </a:p>
          <a:p>
            <a:r>
              <a:rPr dirty="0"/>
              <a:t>90+ serotypes with varying pathogenicity</a:t>
            </a:r>
          </a:p>
          <a:p>
            <a:r>
              <a:rPr dirty="0"/>
              <a:t>Invasive disease: Pneumonia, meningitis, bacteremia</a:t>
            </a:r>
          </a:p>
          <a:p>
            <a:r>
              <a:rPr dirty="0"/>
              <a:t>Nasopharyngeal carriage: 10-40% in healthy adults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Pneumococcal Vaccine Impact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🎯 Proven Effectiveness:</a:t>
            </a:r>
          </a:p>
          <a:p>
            <a:r>
              <a:rPr dirty="0"/>
              <a:t>Direct protection: 75-90% reduction in invasive disease</a:t>
            </a:r>
          </a:p>
          <a:p>
            <a:r>
              <a:rPr dirty="0"/>
              <a:t>Herd immunity: Protection of unvaccinated populations</a:t>
            </a:r>
          </a:p>
          <a:p>
            <a:r>
              <a:rPr dirty="0"/>
              <a:t>Serotype replacement: Emergence of non-vaccine strains</a:t>
            </a:r>
          </a:p>
          <a:p>
            <a:r>
              <a:rPr dirty="0"/>
              <a:t>Cost-effective: &lt;$100 per DALY averted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Influenza as Secondary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Seasonal Influenza Contribution:</a:t>
            </a:r>
          </a:p>
          <a:p>
            <a:r>
              <a:rPr dirty="0"/>
              <a:t>300-500,000 deaths annually worldwide</a:t>
            </a:r>
          </a:p>
          <a:p>
            <a:r>
              <a:rPr dirty="0"/>
              <a:t>Bacterial superinfection: 10-15% lead to pneumonia</a:t>
            </a:r>
          </a:p>
          <a:p>
            <a:r>
              <a:rPr dirty="0"/>
              <a:t>High-risk groups: Elderly, immunocompromised, pregnant</a:t>
            </a:r>
          </a:p>
          <a:p>
            <a:r>
              <a:rPr dirty="0"/>
              <a:t>Secondary bacterial pneumonia: S. aureus, S. pneumoniae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Comprehensive Vaccination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🎯 Three Pillars of Pneumonia Prevention:</a:t>
            </a:r>
          </a:p>
          <a:p>
            <a:r>
              <a:rPr dirty="0"/>
              <a:t>1. </a:t>
            </a:r>
            <a:r>
              <a:rPr b="1" dirty="0"/>
              <a:t>Pneumococcal Vaccination</a:t>
            </a:r>
            <a:r>
              <a:rPr dirty="0"/>
              <a:t> - Primary bacterial prevention</a:t>
            </a:r>
          </a:p>
          <a:p>
            <a:r>
              <a:rPr dirty="0"/>
              <a:t>2. </a:t>
            </a:r>
            <a:r>
              <a:rPr b="1" dirty="0"/>
              <a:t>Influenza Vaccination</a:t>
            </a:r>
            <a:r>
              <a:rPr dirty="0"/>
              <a:t> - Viral pneumonia prevention</a:t>
            </a:r>
          </a:p>
          <a:p>
            <a:r>
              <a:rPr dirty="0"/>
              <a:t>3. </a:t>
            </a:r>
            <a:r>
              <a:rPr b="1" dirty="0"/>
              <a:t>Adjunct Measures</a:t>
            </a:r>
            <a:r>
              <a:rPr dirty="0"/>
              <a:t> - Hygiene, nutrition, air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Pneumococcal Vaccine Types -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70395"/>
              </p:ext>
            </p:extLst>
          </p:nvPr>
        </p:nvGraphicFramePr>
        <p:xfrm>
          <a:off x="514350" y="2061875"/>
          <a:ext cx="8016585" cy="2449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7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76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6407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Vaccine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Age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Serotypes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407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&lt;6 months + adults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(including 19A)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Conjugate (T-cell)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2,4,6 +12-15m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710148"/>
                  </a:ext>
                </a:extLst>
              </a:tr>
              <a:tr h="816407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PPSV23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≥2 years + elderly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additional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Polysaccharide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dose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2716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PCV13 Schedule and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Pediatric Schedule:</a:t>
            </a:r>
          </a:p>
          <a:p>
            <a:r>
              <a:rPr dirty="0"/>
              <a:t>Primary series: 2, 4, 6 months</a:t>
            </a:r>
          </a:p>
          <a:p>
            <a:r>
              <a:rPr dirty="0"/>
              <a:t>Booster: 12-15 months</a:t>
            </a:r>
          </a:p>
          <a:p>
            <a:r>
              <a:rPr dirty="0"/>
              <a:t>Catch-up: Up to 59 months for high-risk</a:t>
            </a:r>
          </a:p>
          <a:p>
            <a:pPr marL="0" indent="0">
              <a:buNone/>
            </a:pPr>
            <a:r>
              <a:rPr b="1" dirty="0"/>
              <a:t>Administration:</a:t>
            </a:r>
          </a:p>
          <a:p>
            <a:r>
              <a:rPr dirty="0"/>
              <a:t>Route: IM deltoid/thigh</a:t>
            </a:r>
          </a:p>
          <a:p>
            <a:r>
              <a:rPr dirty="0"/>
              <a:t>Dose: 0.5 mL</a:t>
            </a:r>
          </a:p>
          <a:p>
            <a:r>
              <a:rPr dirty="0"/>
              <a:t>Storage: 2-8°C</a:t>
            </a:r>
          </a:p>
          <a:p>
            <a:r>
              <a:rPr dirty="0"/>
              <a:t>Contraindications: Severe allergy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PPSV23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Target Groups:</a:t>
            </a:r>
          </a:p>
          <a:p>
            <a:r>
              <a:rPr dirty="0"/>
              <a:t>Age ≥65 years: Routine recommendation</a:t>
            </a:r>
          </a:p>
          <a:p>
            <a:r>
              <a:rPr dirty="0"/>
              <a:t>High-risk adults: Chronic diseases, immunocompromised</a:t>
            </a:r>
          </a:p>
          <a:p>
            <a:r>
              <a:rPr dirty="0"/>
              <a:t>Special groups: </a:t>
            </a:r>
            <a:r>
              <a:rPr dirty="0" err="1"/>
              <a:t>Asplenic</a:t>
            </a:r>
            <a:r>
              <a:rPr dirty="0"/>
              <a:t> patients, transplant recipients</a:t>
            </a:r>
          </a:p>
          <a:p>
            <a:pPr marL="0" indent="0">
              <a:buNone/>
            </a:pPr>
            <a:r>
              <a:rPr b="1" dirty="0"/>
              <a:t>Administration:</a:t>
            </a:r>
          </a:p>
          <a:p>
            <a:r>
              <a:rPr dirty="0"/>
              <a:t>Route: IM/SC deltoid</a:t>
            </a:r>
          </a:p>
          <a:p>
            <a:r>
              <a:rPr dirty="0"/>
              <a:t>Timing: 8+ weeks after PCV13</a:t>
            </a:r>
          </a:p>
          <a:p>
            <a:r>
              <a:rPr dirty="0"/>
              <a:t>Re-vaccination: Every 5 years in high-risk</a:t>
            </a:r>
          </a:p>
          <a:p>
            <a:r>
              <a:rPr dirty="0"/>
              <a:t>Precautions: Immune response may be reduced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Adult Vaccination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Optimal Adult Strategy: PCV13 → PPSV23</a:t>
            </a:r>
          </a:p>
          <a:p>
            <a:pPr marL="0" indent="0">
              <a:buNone/>
            </a:pPr>
            <a:r>
              <a:rPr b="1" dirty="0"/>
              <a:t>Why Sequential Approach:</a:t>
            </a:r>
          </a:p>
          <a:p>
            <a:r>
              <a:rPr dirty="0"/>
              <a:t>Broader coverage: All vaccine serotypes protected</a:t>
            </a:r>
          </a:p>
          <a:p>
            <a:r>
              <a:rPr dirty="0"/>
              <a:t>Immune response: Conjugate vaccine enhances polysaccharide response</a:t>
            </a:r>
          </a:p>
          <a:p>
            <a:r>
              <a:rPr dirty="0"/>
              <a:t>Duration of protection: 10+ years for PCV13, 5 years for PPSV23</a:t>
            </a:r>
          </a:p>
          <a:p>
            <a:r>
              <a:rPr dirty="0"/>
              <a:t>Cost-effectiveness: Systematic approach maximizes benefit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Influenza Vaccine Seasons &amp; Strains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Northern Hemisphere:</a:t>
            </a:r>
          </a:p>
          <a:p>
            <a:r>
              <a:rPr dirty="0"/>
              <a:t>Season: December-March peaks</a:t>
            </a:r>
          </a:p>
          <a:p>
            <a:r>
              <a:rPr dirty="0"/>
              <a:t>2025-2026 predict: H1N1, H3N2, 2 B lineages</a:t>
            </a:r>
          </a:p>
          <a:p>
            <a:pPr marL="0" indent="0">
              <a:buNone/>
            </a:pPr>
            <a:r>
              <a:rPr b="1" dirty="0"/>
              <a:t>Southern Hemisphere:</a:t>
            </a:r>
          </a:p>
          <a:p>
            <a:r>
              <a:rPr dirty="0"/>
              <a:t>Season: April-September</a:t>
            </a:r>
          </a:p>
          <a:p>
            <a:r>
              <a:rPr dirty="0"/>
              <a:t>Strain prediction: Basis for Northern vaccines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Influenza Vaccine Types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921176"/>
              </p:ext>
            </p:extLst>
          </p:nvPr>
        </p:nvGraphicFramePr>
        <p:xfrm>
          <a:off x="530853" y="1859972"/>
          <a:ext cx="8155947" cy="3138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987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Strains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Age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7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Quadrivalent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 strains (2A + 2B)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 months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Best coverage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Higher cost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79072"/>
                  </a:ext>
                </a:extLst>
              </a:tr>
              <a:tr h="70034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High-dose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4× antigen (elderly)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≥65 years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Better response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 reactions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262332"/>
                  </a:ext>
                </a:extLst>
              </a:tr>
              <a:tr h="77516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Recombinant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Cell culture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| ≥18 years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egg allergy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Newer technology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029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Influenza Vaccination Timing &amp;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78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Optimal Timing:</a:t>
            </a:r>
          </a:p>
          <a:p>
            <a:r>
              <a:rPr dirty="0"/>
              <a:t>Start: September (Northern hemisphere)</a:t>
            </a:r>
          </a:p>
          <a:p>
            <a:r>
              <a:rPr dirty="0"/>
              <a:t>Peak season: December-March</a:t>
            </a:r>
          </a:p>
          <a:p>
            <a:r>
              <a:rPr dirty="0"/>
              <a:t>Minimum protection: 2 weeks after vaccination</a:t>
            </a:r>
          </a:p>
          <a:p>
            <a:r>
              <a:rPr dirty="0"/>
              <a:t>Annual requirement: Strains change yearly</a:t>
            </a:r>
          </a:p>
          <a:p>
            <a:pPr marL="0" indent="0">
              <a:buNone/>
            </a:pPr>
            <a:r>
              <a:rPr b="1" dirty="0"/>
              <a:t>High-Risk Groups (Priority):</a:t>
            </a:r>
          </a:p>
          <a:p>
            <a:r>
              <a:rPr dirty="0"/>
              <a:t>1. </a:t>
            </a:r>
            <a:r>
              <a:rPr b="1" dirty="0"/>
              <a:t>Pregnant women</a:t>
            </a:r>
            <a:r>
              <a:rPr dirty="0"/>
              <a:t> (all trimesters)</a:t>
            </a:r>
          </a:p>
          <a:p>
            <a:r>
              <a:rPr dirty="0"/>
              <a:t>2. </a:t>
            </a:r>
            <a:r>
              <a:rPr b="1" dirty="0"/>
              <a:t>Children:</a:t>
            </a:r>
            <a:r>
              <a:rPr dirty="0"/>
              <a:t> 6-59 months</a:t>
            </a:r>
          </a:p>
          <a:p>
            <a:r>
              <a:rPr dirty="0"/>
              <a:t>3. </a:t>
            </a:r>
            <a:r>
              <a:rPr b="1" dirty="0"/>
              <a:t>Elderly:</a:t>
            </a:r>
            <a:r>
              <a:rPr dirty="0"/>
              <a:t> ≥65 years</a:t>
            </a:r>
          </a:p>
          <a:p>
            <a:r>
              <a:rPr dirty="0"/>
              <a:t>4. </a:t>
            </a:r>
            <a:r>
              <a:rPr b="1" dirty="0"/>
              <a:t>Chronically ill:</a:t>
            </a:r>
            <a:r>
              <a:rPr dirty="0"/>
              <a:t> Cardiac, pulmonary, renal</a:t>
            </a:r>
          </a:p>
          <a:p>
            <a:r>
              <a:rPr dirty="0"/>
              <a:t>5. </a:t>
            </a:r>
            <a:r>
              <a:rPr b="1" dirty="0"/>
              <a:t>Healthcare workers:</a:t>
            </a:r>
            <a:r>
              <a:rPr dirty="0"/>
              <a:t> Patient protection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Effectiveness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Pneumococcal Vaccine VE:</a:t>
            </a:r>
          </a:p>
          <a:p>
            <a:r>
              <a:rPr dirty="0"/>
              <a:t>Invasive disease: 75-90% reduction</a:t>
            </a:r>
          </a:p>
          <a:p>
            <a:r>
              <a:rPr dirty="0"/>
              <a:t>Pneumonia hospitalization: 40-60% in elderly</a:t>
            </a:r>
          </a:p>
          <a:p>
            <a:r>
              <a:rPr dirty="0"/>
              <a:t>All-cause mortality: 30-50% reduction</a:t>
            </a:r>
          </a:p>
          <a:p>
            <a:r>
              <a:rPr dirty="0"/>
              <a:t>Herd protection: 35-50% in unvaccinated</a:t>
            </a:r>
          </a:p>
          <a:p>
            <a:pPr marL="0" indent="0">
              <a:buNone/>
            </a:pPr>
            <a:r>
              <a:rPr b="1" dirty="0"/>
              <a:t>Influenza Vaccine VE:</a:t>
            </a:r>
          </a:p>
          <a:p>
            <a:r>
              <a:rPr dirty="0"/>
              <a:t>Healthy adults: 40-60% against illness</a:t>
            </a:r>
          </a:p>
          <a:p>
            <a:r>
              <a:rPr dirty="0"/>
              <a:t>Elderly: 50-70% against severe outcomes</a:t>
            </a:r>
          </a:p>
          <a:p>
            <a:r>
              <a:rPr dirty="0"/>
              <a:t>Children: 60-75% effectiveness demonstrated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Economic Justification:</a:t>
            </a:r>
          </a:p>
          <a:p>
            <a:r>
              <a:rPr dirty="0"/>
              <a:t>PCV introduction: $27-61 return per dollar invested</a:t>
            </a:r>
          </a:p>
          <a:p>
            <a:r>
              <a:rPr dirty="0"/>
              <a:t>Global impact: $400 billion savings annually</a:t>
            </a:r>
          </a:p>
          <a:p>
            <a:r>
              <a:rPr dirty="0"/>
              <a:t>Break-even price: $10-30 per vaccine dose</a:t>
            </a:r>
          </a:p>
          <a:p>
            <a:r>
              <a:rPr dirty="0"/>
              <a:t>Cost per DALY: &lt;$100 (highly cost-effective)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Counseling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E</a:t>
            </a:r>
            <a:r>
              <a:rPr dirty="0"/>
              <a:t>xplore concerns actively</a:t>
            </a:r>
          </a:p>
          <a:p>
            <a:r>
              <a:rPr b="1" dirty="0"/>
              <a:t>M</a:t>
            </a:r>
            <a:r>
              <a:rPr dirty="0"/>
              <a:t>ake scientific information clear</a:t>
            </a:r>
          </a:p>
          <a:p>
            <a:r>
              <a:rPr b="1" dirty="0"/>
              <a:t>P</a:t>
            </a:r>
            <a:r>
              <a:rPr dirty="0"/>
              <a:t>ersonalize risk-benefit discussion</a:t>
            </a:r>
          </a:p>
          <a:p>
            <a:r>
              <a:rPr b="1" dirty="0"/>
              <a:t>A</a:t>
            </a:r>
            <a:r>
              <a:rPr dirty="0"/>
              <a:t>ppear credible and confident</a:t>
            </a:r>
          </a:p>
          <a:p>
            <a:r>
              <a:rPr b="1" dirty="0"/>
              <a:t>T</a:t>
            </a:r>
            <a:r>
              <a:rPr dirty="0"/>
              <a:t>ailor information to literacy level/culture</a:t>
            </a:r>
          </a:p>
          <a:p>
            <a:r>
              <a:rPr b="1" dirty="0"/>
              <a:t>H</a:t>
            </a:r>
            <a:r>
              <a:rPr dirty="0"/>
              <a:t>arness social networks and influencers</a:t>
            </a:r>
          </a:p>
          <a:p>
            <a:r>
              <a:rPr b="1" dirty="0"/>
              <a:t>I</a:t>
            </a:r>
            <a:r>
              <a:rPr dirty="0"/>
              <a:t>ncrease access and convenience</a:t>
            </a:r>
          </a:p>
          <a:p>
            <a:r>
              <a:rPr b="1" dirty="0"/>
              <a:t>Z</a:t>
            </a:r>
            <a:r>
              <a:rPr dirty="0"/>
              <a:t>ero regrets approach to decision-making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Vaccine Hesitancy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b="1" dirty="0"/>
              <a:t>Common Concerns &amp; Responses:</a:t>
            </a:r>
          </a:p>
          <a:p>
            <a:r>
              <a:rPr dirty="0"/>
              <a:t>Response:</a:t>
            </a:r>
            <a:r>
              <a:rPr lang="en-US" dirty="0"/>
              <a:t> </a:t>
            </a:r>
            <a:r>
              <a:rPr dirty="0"/>
              <a:t>Inactivated vaccines cannot cause disease</a:t>
            </a:r>
          </a:p>
          <a:p>
            <a:r>
              <a:rPr dirty="0"/>
              <a:t>Response:</a:t>
            </a:r>
            <a:r>
              <a:rPr lang="en-US" dirty="0"/>
              <a:t> </a:t>
            </a:r>
            <a:r>
              <a:rPr dirty="0"/>
              <a:t>Natural infection carries higher risks</a:t>
            </a:r>
          </a:p>
          <a:p>
            <a:r>
              <a:rPr dirty="0"/>
              <a:t>Response:</a:t>
            </a:r>
            <a:r>
              <a:rPr lang="en-US" dirty="0"/>
              <a:t> </a:t>
            </a:r>
            <a:r>
              <a:rPr dirty="0"/>
              <a:t>Immune system handles billions of antigens naturally</a:t>
            </a:r>
          </a:p>
          <a:p>
            <a:r>
              <a:rPr dirty="0"/>
              <a:t>Response:</a:t>
            </a:r>
            <a:r>
              <a:rPr lang="en-US" dirty="0"/>
              <a:t> </a:t>
            </a:r>
            <a:r>
              <a:rPr dirty="0"/>
              <a:t>Multiple studies show no causal relationship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Healthcare Settings:</a:t>
            </a:r>
          </a:p>
          <a:p>
            <a:r>
              <a:rPr dirty="0"/>
              <a:t>Primary care: Routine vaccination opportunities</a:t>
            </a:r>
          </a:p>
          <a:p>
            <a:r>
              <a:rPr dirty="0"/>
              <a:t>Hospital admission: Missed vaccination catch-up</a:t>
            </a:r>
          </a:p>
          <a:p>
            <a:r>
              <a:rPr dirty="0"/>
              <a:t>Emergency department: Vaccine counseling opportunities</a:t>
            </a:r>
          </a:p>
          <a:p>
            <a:r>
              <a:rPr dirty="0"/>
              <a:t>Outpatient clinics: Designated immunization days</a:t>
            </a:r>
          </a:p>
          <a:p>
            <a:pPr marL="0" indent="0">
              <a:buNone/>
            </a:pPr>
            <a:r>
              <a:rPr b="1" dirty="0"/>
              <a:t>Community Approaches:</a:t>
            </a:r>
          </a:p>
          <a:p>
            <a:r>
              <a:rPr dirty="0"/>
              <a:t>School-based programs: High coverage in educational settings</a:t>
            </a:r>
          </a:p>
          <a:p>
            <a:r>
              <a:rPr dirty="0"/>
              <a:t>Mobile teams: Hard-to-reach areas coverage</a:t>
            </a:r>
          </a:p>
          <a:p>
            <a:r>
              <a:rPr dirty="0"/>
              <a:t>Campaigns: National immunization days</a:t>
            </a:r>
          </a:p>
          <a:p>
            <a:r>
              <a:rPr dirty="0"/>
              <a:t>Reminder systems: SMS, app-based notifications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Coverage Barriers:</a:t>
            </a:r>
          </a:p>
          <a:p>
            <a:r>
              <a:rPr dirty="0"/>
              <a:t>Access issues: Transport, cost, availability</a:t>
            </a:r>
          </a:p>
          <a:p>
            <a:r>
              <a:rPr dirty="0"/>
              <a:t>Awareness gaps: Lack of knowledge, myths</a:t>
            </a:r>
          </a:p>
          <a:p>
            <a:r>
              <a:rPr dirty="0"/>
              <a:t>Health system: Fragmented delivery, stock-outs</a:t>
            </a:r>
          </a:p>
          <a:p>
            <a:r>
              <a:rPr dirty="0"/>
              <a:t>Policy gaps: Insufficient funding, prioritization</a:t>
            </a:r>
          </a:p>
          <a:p>
            <a:pPr marL="0" indent="0">
              <a:buNone/>
            </a:pPr>
            <a:r>
              <a:rPr b="1" dirty="0"/>
              <a:t>Solutions:</a:t>
            </a:r>
          </a:p>
          <a:p>
            <a:r>
              <a:rPr dirty="0"/>
              <a:t>Mobile outreach: Community-based service delivery</a:t>
            </a:r>
          </a:p>
          <a:p>
            <a:r>
              <a:rPr dirty="0"/>
              <a:t>Communication campaigns: Targeted education efforts</a:t>
            </a:r>
          </a:p>
          <a:p>
            <a:r>
              <a:rPr dirty="0"/>
              <a:t>Cold chain strengthening: Reliable vaccine supply</a:t>
            </a:r>
          </a:p>
          <a:p>
            <a:r>
              <a:rPr dirty="0"/>
              <a:t>Digital integration: </a:t>
            </a:r>
            <a:r>
              <a:rPr dirty="0" err="1"/>
              <a:t>CoWIN</a:t>
            </a:r>
            <a:r>
              <a:rPr dirty="0"/>
              <a:t> platform optimization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Key Performance Indicators:</a:t>
            </a:r>
          </a:p>
          <a:p>
            <a:r>
              <a:rPr dirty="0"/>
              <a:t>Coverage rates: ≥90% across all indicators</a:t>
            </a:r>
          </a:p>
          <a:p>
            <a:r>
              <a:rPr dirty="0"/>
              <a:t>Drop-out rates: &lt;10% between vaccine doses</a:t>
            </a:r>
          </a:p>
          <a:p>
            <a:r>
              <a:rPr dirty="0"/>
              <a:t>Timely vaccination: ≥85% given on schedule</a:t>
            </a:r>
          </a:p>
          <a:p>
            <a:r>
              <a:rPr dirty="0"/>
              <a:t>AEFI reporting: 100% of serious events investigated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CBME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Question: Most cost-effective pneumonia prevention strategy?</a:t>
            </a:r>
          </a:p>
          <a:p>
            <a:r>
              <a:rPr dirty="0"/>
              <a:t>A) Hospital treatment protocols</a:t>
            </a:r>
          </a:p>
          <a:p>
            <a:r>
              <a:rPr dirty="0"/>
              <a:t>B) </a:t>
            </a:r>
            <a:r>
              <a:rPr b="1" dirty="0"/>
              <a:t>Vaccination programs</a:t>
            </a:r>
            <a:r>
              <a:rPr lang="en-US" b="1" dirty="0"/>
              <a:t> </a:t>
            </a:r>
            <a:r>
              <a:rPr lang="en-IN" dirty="0"/>
              <a:t>⭐</a:t>
            </a:r>
            <a:endParaRPr dirty="0"/>
          </a:p>
          <a:p>
            <a:r>
              <a:rPr dirty="0"/>
              <a:t>C) Antibiotic stewardship</a:t>
            </a:r>
          </a:p>
          <a:p>
            <a:r>
              <a:rPr dirty="0"/>
              <a:t>D) Air pollution control</a:t>
            </a:r>
          </a:p>
          <a:p>
            <a:pPr marL="0" indent="0">
              <a:buNone/>
            </a:pPr>
            <a:r>
              <a:rPr b="1" dirty="0"/>
              <a:t>Question: Which pneumococcal vaccine provides longest immunity?</a:t>
            </a:r>
          </a:p>
          <a:p>
            <a:r>
              <a:rPr dirty="0"/>
              <a:t>A) PCV7 (discontinued)</a:t>
            </a:r>
          </a:p>
          <a:p>
            <a:r>
              <a:rPr dirty="0"/>
              <a:t>B) </a:t>
            </a:r>
            <a:r>
              <a:rPr b="1" dirty="0"/>
              <a:t>PCV13</a:t>
            </a:r>
            <a:r>
              <a:rPr lang="en-US" b="1" dirty="0"/>
              <a:t> </a:t>
            </a:r>
            <a:r>
              <a:rPr lang="en-IN" dirty="0"/>
              <a:t>⭐</a:t>
            </a:r>
            <a:endParaRPr dirty="0"/>
          </a:p>
          <a:p>
            <a:r>
              <a:rPr dirty="0"/>
              <a:t>C) PPSV23</a:t>
            </a:r>
          </a:p>
          <a:p>
            <a:r>
              <a:rPr dirty="0"/>
              <a:t>D) None of the above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Case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Patient Case: 65-year-old diabetic</a:t>
            </a:r>
          </a:p>
          <a:p>
            <a:r>
              <a:rPr dirty="0"/>
              <a:t>Presentation: Productive cough, fever, shortness of breath</a:t>
            </a:r>
          </a:p>
          <a:p>
            <a:r>
              <a:rPr dirty="0"/>
              <a:t>History: Not vaccinated against pneumococcus or influenza</a:t>
            </a:r>
          </a:p>
          <a:p>
            <a:r>
              <a:rPr dirty="0"/>
              <a:t>Treatment: Appropriate antibiotics + vaccination counseling</a:t>
            </a:r>
          </a:p>
          <a:p>
            <a:r>
              <a:rPr dirty="0"/>
              <a:t>Prevention: PCV13 now + influenza vaccination timing</a:t>
            </a:r>
          </a:p>
          <a:p>
            <a:r>
              <a:rPr b="1" dirty="0"/>
              <a:t>Learning Point:</a:t>
            </a:r>
            <a:r>
              <a:rPr dirty="0"/>
              <a:t> Every pneumonia admission is vaccination opportunity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37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Advanced Vaccine Development:</a:t>
            </a:r>
          </a:p>
          <a:p>
            <a:r>
              <a:rPr dirty="0"/>
              <a:t>Universal pneumococcal: Conserved antigens approach</a:t>
            </a:r>
          </a:p>
          <a:p>
            <a:r>
              <a:rPr dirty="0"/>
              <a:t>Maternal immunization: Prenatal antibody transfer</a:t>
            </a:r>
          </a:p>
          <a:p>
            <a:r>
              <a:rPr dirty="0"/>
              <a:t>LAIV improvements: Better efficacy in all age groups</a:t>
            </a:r>
          </a:p>
          <a:p>
            <a:r>
              <a:rPr dirty="0"/>
              <a:t>Combination vaccines: Single-shot pneumonia prevention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Digital Integration:</a:t>
            </a:r>
          </a:p>
          <a:p>
            <a:r>
              <a:rPr dirty="0"/>
              <a:t>Blockchain certificates: Tamper-proof vaccination records</a:t>
            </a:r>
          </a:p>
          <a:p>
            <a:r>
              <a:rPr dirty="0"/>
              <a:t>AI prediction: Outbreak forecasting and vaccine stock optimization</a:t>
            </a:r>
          </a:p>
          <a:p>
            <a:r>
              <a:rPr dirty="0"/>
              <a:t>Mobile apps: Real-time coverage monitoring and reminders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🧠 Essential Concepts: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Vaccination prevents 50-80% of pneumonia deaths</a:t>
            </a:r>
            <a:r>
              <a:rPr dirty="0"/>
              <a:t> globally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PCV13 + PPSV23 sequential strategy</a:t>
            </a:r>
            <a:r>
              <a:rPr dirty="0"/>
              <a:t> for optimal adult protection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Annual influenza vaccination</a:t>
            </a:r>
            <a:r>
              <a:rPr dirty="0"/>
              <a:t> essential for high-risk groups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Cost-benefit ratio exceeds 50:1</a:t>
            </a:r>
            <a:r>
              <a:rPr dirty="0"/>
              <a:t> for vaccination programs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Herd immunity protects vulnerable</a:t>
            </a:r>
            <a:r>
              <a:rPr dirty="0"/>
              <a:t> unvaccinated populations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/>
              <a:t>Vaccine counseling requires empathy</a:t>
            </a:r>
            <a:r>
              <a:rPr dirty="0"/>
              <a:t> and evidence-based responses</a:t>
            </a:r>
          </a:p>
          <a:p>
            <a:pPr marL="0" indent="0">
              <a:buNone/>
            </a:pPr>
            <a:r>
              <a:rPr dirty="0"/>
              <a:t>7. </a:t>
            </a:r>
            <a:r>
              <a:rPr b="1" dirty="0"/>
              <a:t>Implementation barriers</a:t>
            </a:r>
            <a:r>
              <a:rPr dirty="0"/>
              <a:t> can be overcome with innovative solutions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Rate your learning experience:</a:t>
            </a:r>
          </a:p>
          <a:p>
            <a:r>
              <a:rPr dirty="0"/>
              <a:t>Knowledge acquired: ⭐⭐⭐⭐⭐</a:t>
            </a:r>
          </a:p>
          <a:p>
            <a:r>
              <a:rPr dirty="0"/>
              <a:t>Clinical relevance: ⭐⭐⭐⭐⭐</a:t>
            </a:r>
          </a:p>
          <a:p>
            <a:r>
              <a:rPr dirty="0"/>
              <a:t>Teaching quality: ⭐⭐⭐⭐⭐</a:t>
            </a:r>
          </a:p>
          <a:p>
            <a:r>
              <a:rPr dirty="0"/>
              <a:t>Materials usefulness: ⭐⭐⭐⭐⭐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📚 Key Guidelines:</a:t>
            </a:r>
          </a:p>
          <a:p>
            <a:r>
              <a:rPr dirty="0"/>
              <a:t>1. WHO Pneumococcal Vaccine Position Paper (2022)</a:t>
            </a:r>
          </a:p>
          <a:p>
            <a:r>
              <a:rPr dirty="0"/>
              <a:t>2. IAP Pediatric Consensus Guidelines (2021)</a:t>
            </a:r>
          </a:p>
          <a:p>
            <a:r>
              <a:rPr dirty="0"/>
              <a:t>3. ACIP Adult Immunization Schedule (2024)</a:t>
            </a:r>
          </a:p>
          <a:p>
            <a:r>
              <a:rPr dirty="0"/>
              <a:t>4. CDC Pink Book: Epidemiology and Prevention of Vaccine-Preventable Diseases</a:t>
            </a:r>
          </a:p>
          <a:p>
            <a:pPr marL="0" indent="0">
              <a:buNone/>
            </a:pPr>
            <a:r>
              <a:rPr b="1" dirty="0"/>
              <a:t>🔗 Online Resources:</a:t>
            </a:r>
          </a:p>
          <a:p>
            <a:r>
              <a:rPr dirty="0"/>
              <a:t>WHO Immunization: https://www.who.int/immunization</a:t>
            </a:r>
          </a:p>
          <a:p>
            <a:r>
              <a:rPr dirty="0"/>
              <a:t>CDC Vaccines: https://www.cdc.gov/vaccines</a:t>
            </a:r>
          </a:p>
          <a:p>
            <a:r>
              <a:rPr dirty="0"/>
              <a:t>IAP Guidelines: https://iapindia.org/guidelines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Chapter 10: Pneumococcal Vaccination - Detailed Types &amp; Recommendations</a:t>
            </a:r>
          </a:p>
          <a:p>
            <a:pPr marL="0" indent="0">
              <a:buNone/>
            </a:pPr>
            <a:r>
              <a:rPr b="1" dirty="0"/>
              <a:t>Key Topics:</a:t>
            </a:r>
          </a:p>
          <a:p>
            <a:r>
              <a:rPr dirty="0"/>
              <a:t>PCV13 vs PPSV23 mechanisms</a:t>
            </a:r>
          </a:p>
          <a:p>
            <a:r>
              <a:rPr dirty="0"/>
              <a:t>Special populations schedules</a:t>
            </a:r>
          </a:p>
          <a:p>
            <a:r>
              <a:rPr dirty="0"/>
              <a:t>Safety and contraindications</a:t>
            </a:r>
          </a:p>
          <a:p>
            <a:r>
              <a:rPr dirty="0"/>
              <a:t>Implementation challenges</a:t>
            </a:r>
          </a:p>
          <a:p>
            <a:pPr marL="0" indent="0">
              <a:buNone/>
            </a:pPr>
            <a:r>
              <a:rPr b="1" dirty="0"/>
              <a:t>Next Class:</a:t>
            </a:r>
            <a:r>
              <a:rPr dirty="0"/>
              <a:t> October 15, 2025 | 9:00 AM</a:t>
            </a:r>
          </a:p>
          <a:p>
            <a:pPr marL="0" indent="0">
              <a:buNone/>
            </a:pPr>
            <a:r>
              <a:rPr b="1" dirty="0"/>
              <a:t>Location:</a:t>
            </a:r>
            <a:r>
              <a:rPr dirty="0"/>
              <a:t> Integration Class Hall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Dr Siddalingaiah H S. Professor, </a:t>
            </a:r>
            <a:r>
              <a:rPr lang="en-US"/>
              <a:t>Community M</a:t>
            </a:r>
            <a:r>
              <a:rPr lang="en-US" dirty="0"/>
              <a:t>e</a:t>
            </a:r>
            <a:r>
              <a:rPr lang="en-US"/>
              <a:t>dicine</a:t>
            </a:r>
            <a:r>
              <a:rPr lang="en-US" dirty="0"/>
              <a:t>.</a:t>
            </a:r>
          </a:p>
          <a:p>
            <a:r>
              <a:rPr dirty="0"/>
              <a:t>Email: hssling@yahoo.com</a:t>
            </a:r>
          </a:p>
          <a:p>
            <a:r>
              <a:rPr dirty="0"/>
              <a:t>Phone: +91-8941087719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1458</Words>
  <Application>Microsoft Office PowerPoint</Application>
  <PresentationFormat>On-screen Show (4:3)</PresentationFormat>
  <Paragraphs>271</Paragraphs>
  <Slides>31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Prevention of Pneumonia - Vaccination Strategies</vt:lpstr>
      <vt:lpstr>Learning Objectives</vt:lpstr>
      <vt:lpstr>Pneumonia Prevention Paradigm Shift</vt:lpstr>
      <vt:lpstr>Global Pneumonia Burden - Vaccine-Preventable</vt:lpstr>
      <vt:lpstr>Indian Context - Pneumonia Mortality</vt:lpstr>
      <vt:lpstr>Pneumococcal Disease Epidemiology</vt:lpstr>
      <vt:lpstr>Pneumococcal Vaccine Impact Evidence</vt:lpstr>
      <vt:lpstr>Influenza as Secondary Pneumonia</vt:lpstr>
      <vt:lpstr>Comprehensive Vaccination Strategy</vt:lpstr>
      <vt:lpstr>Pneumococcal Vaccine Types - Overview</vt:lpstr>
      <vt:lpstr>PCV13 Schedule and Administration</vt:lpstr>
      <vt:lpstr>PPSV23 Recommendations</vt:lpstr>
      <vt:lpstr>Sequential Adult Vaccination</vt:lpstr>
      <vt:lpstr>Influenza Vaccine Seasons &amp; Strains</vt:lpstr>
      <vt:lpstr>Influenza Vaccine Types Comparison</vt:lpstr>
      <vt:lpstr>Influenza Vaccination Timing &amp; Coverage</vt:lpstr>
      <vt:lpstr>Vaccine Effectiveness Data</vt:lpstr>
      <vt:lpstr>Cost-Effectiveness Analysis</vt:lpstr>
      <vt:lpstr>Vaccine Counseling Framework</vt:lpstr>
      <vt:lpstr>Addressing Vaccine Hesitancy</vt:lpstr>
      <vt:lpstr>Implementation Strategies</vt:lpstr>
      <vt:lpstr>Program Challenges &amp; Solutions</vt:lpstr>
      <vt:lpstr>Monitoring &amp; Evaluation</vt:lpstr>
      <vt:lpstr>CBME Assessment Questions</vt:lpstr>
      <vt:lpstr>Clinical Case Application</vt:lpstr>
      <vt:lpstr>Future Directions</vt:lpstr>
      <vt:lpstr>Key Takeaways</vt:lpstr>
      <vt:lpstr>Session Evaluation</vt:lpstr>
      <vt:lpstr>References &amp; Resources</vt:lpstr>
      <vt:lpstr>Next Session Preview</vt:lpstr>
      <vt:lpstr>Q&amp;A and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3</cp:revision>
  <dcterms:created xsi:type="dcterms:W3CDTF">2013-01-27T09:14:16Z</dcterms:created>
  <dcterms:modified xsi:type="dcterms:W3CDTF">2025-10-05T14:13:52Z</dcterms:modified>
  <cp:category/>
</cp:coreProperties>
</file>