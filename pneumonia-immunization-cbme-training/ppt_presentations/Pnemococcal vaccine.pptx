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9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Re-cap &amp; Chapter 10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Previous Session: Chapter 9</a:t>
            </a:r>
          </a:p>
          <a:p>
            <a:r>
              <a:rPr dirty="0"/>
              <a:t>Global pneumonia burden &amp; vaccine-preventable deaths</a:t>
            </a:r>
          </a:p>
          <a:p>
            <a:r>
              <a:rPr dirty="0"/>
              <a:t>PCV13 &amp; PPSV23 vaccine types overview</a:t>
            </a:r>
          </a:p>
          <a:p>
            <a:r>
              <a:rPr dirty="0"/>
              <a:t>Influenza vaccination seasons &amp; strains</a:t>
            </a:r>
          </a:p>
          <a:p>
            <a:r>
              <a:rPr dirty="0"/>
              <a:t>Implementation strategies</a:t>
            </a:r>
          </a:p>
          <a:p>
            <a:pPr marL="0" indent="0">
              <a:buNone/>
            </a:pPr>
            <a:r>
              <a:rPr b="1" dirty="0"/>
              <a:t>Today's Focus: Chapter 10</a:t>
            </a:r>
          </a:p>
          <a:p>
            <a:r>
              <a:rPr dirty="0"/>
              <a:t>Deep dive into pneumococcal vaccine science</a:t>
            </a:r>
          </a:p>
          <a:p>
            <a:r>
              <a:rPr dirty="0"/>
              <a:t>Age-specific recommendations &amp; special populations</a:t>
            </a:r>
          </a:p>
          <a:p>
            <a:r>
              <a:rPr dirty="0"/>
              <a:t>Immunogenicity &amp; safety profiles</a:t>
            </a:r>
          </a:p>
          <a:p>
            <a:r>
              <a:rPr dirty="0"/>
              <a:t>Clinical decision-making frameworks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Streptococcus pneumoniae - The Pathogen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Microbiology Essentials:</a:t>
            </a:r>
          </a:p>
          <a:p>
            <a:r>
              <a:rPr dirty="0"/>
              <a:t>Gram-positive diplococcus</a:t>
            </a:r>
          </a:p>
          <a:p>
            <a:r>
              <a:rPr dirty="0"/>
              <a:t>90+ serotypes identified</a:t>
            </a:r>
          </a:p>
          <a:p>
            <a:r>
              <a:rPr dirty="0"/>
              <a:t>Capsular polysaccharide virulence factor</a:t>
            </a:r>
          </a:p>
          <a:p>
            <a:r>
              <a:rPr dirty="0"/>
              <a:t>Nasopharyngeal carriage in 10-40% healthy adults</a:t>
            </a:r>
          </a:p>
          <a:p>
            <a:r>
              <a:rPr dirty="0"/>
              <a:t>Invasive potential: Pneumonia, meningitis, sepsis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Serotype Distribution - Indian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/>
              <a:t>Most Common Serotypes in India (IPD cases):</a:t>
            </a:r>
          </a:p>
          <a:p>
            <a:r>
              <a:rPr dirty="0"/>
              <a:t>1. </a:t>
            </a:r>
            <a:r>
              <a:rPr b="1" dirty="0"/>
              <a:t>19F</a:t>
            </a:r>
            <a:r>
              <a:rPr dirty="0"/>
              <a:t> (12-15%)</a:t>
            </a:r>
          </a:p>
          <a:p>
            <a:r>
              <a:rPr dirty="0"/>
              <a:t>2. </a:t>
            </a:r>
            <a:r>
              <a:rPr b="1" dirty="0"/>
              <a:t>14</a:t>
            </a:r>
            <a:r>
              <a:rPr dirty="0"/>
              <a:t> (10-12%)</a:t>
            </a:r>
          </a:p>
          <a:p>
            <a:r>
              <a:rPr dirty="0"/>
              <a:t>3. </a:t>
            </a:r>
            <a:r>
              <a:rPr b="1" dirty="0"/>
              <a:t>6B/6A</a:t>
            </a:r>
            <a:r>
              <a:rPr dirty="0"/>
              <a:t> (10-12%)</a:t>
            </a:r>
          </a:p>
          <a:p>
            <a:r>
              <a:rPr dirty="0"/>
              <a:t>4. </a:t>
            </a:r>
            <a:r>
              <a:rPr b="1" dirty="0"/>
              <a:t>1</a:t>
            </a:r>
            <a:r>
              <a:rPr dirty="0"/>
              <a:t> (8-10%)</a:t>
            </a:r>
          </a:p>
          <a:p>
            <a:r>
              <a:rPr dirty="0"/>
              <a:t>5. </a:t>
            </a:r>
            <a:r>
              <a:rPr b="1" dirty="0"/>
              <a:t>19A</a:t>
            </a:r>
            <a:r>
              <a:rPr dirty="0"/>
              <a:t> (6-8%)</a:t>
            </a:r>
          </a:p>
          <a:p>
            <a:r>
              <a:rPr dirty="0"/>
              <a:t>6. </a:t>
            </a:r>
            <a:r>
              <a:rPr b="1" dirty="0"/>
              <a:t>23F</a:t>
            </a:r>
            <a:r>
              <a:rPr dirty="0"/>
              <a:t> (5-7%)</a:t>
            </a:r>
          </a:p>
          <a:p>
            <a:pPr marL="0" indent="0">
              <a:buNone/>
            </a:pPr>
            <a:r>
              <a:rPr b="1" dirty="0"/>
              <a:t>Note:</a:t>
            </a:r>
            <a:r>
              <a:rPr dirty="0"/>
              <a:t> Serotype distribution varies by age and geography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Pneumococcal Vaccine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Timeline of Vaccine Development:</a:t>
            </a:r>
          </a:p>
          <a:p>
            <a:r>
              <a:rPr dirty="0"/>
              <a:t>1977: 14-valent polysaccharide vaccine</a:t>
            </a:r>
          </a:p>
          <a:p>
            <a:r>
              <a:rPr dirty="0"/>
              <a:t>1983: 23-valent polysaccharide vaccine (PPSV23)</a:t>
            </a:r>
          </a:p>
          <a:p>
            <a:r>
              <a:rPr dirty="0"/>
              <a:t>2000: 7-valent conjugate vaccine (PCV7)</a:t>
            </a:r>
          </a:p>
          <a:p>
            <a:r>
              <a:rPr dirty="0"/>
              <a:t>2010: 13-valent conjugate vaccine (PCV13)</a:t>
            </a:r>
          </a:p>
          <a:p>
            <a:r>
              <a:rPr dirty="0"/>
              <a:t>Future: 15-20 valent conjugates, universal vaccines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Vaccine Mechanism - T-cell Dependent vs Independent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Conjugate Vaccines (PCV13/PCV15):</a:t>
            </a:r>
          </a:p>
          <a:p>
            <a:r>
              <a:rPr dirty="0"/>
              <a:t>T-cell dependent immune response</a:t>
            </a:r>
          </a:p>
          <a:p>
            <a:r>
              <a:rPr dirty="0"/>
              <a:t>Memory B-cells generation</a:t>
            </a:r>
          </a:p>
          <a:p>
            <a:r>
              <a:rPr dirty="0"/>
              <a:t>Avidity maturation with booster doses</a:t>
            </a:r>
          </a:p>
          <a:p>
            <a:r>
              <a:rPr dirty="0"/>
              <a:t>Mucosal immunity reduces nasopharyngeal carriage</a:t>
            </a:r>
          </a:p>
          <a:p>
            <a:r>
              <a:rPr dirty="0"/>
              <a:t>Herd protection through reduced transmission</a:t>
            </a:r>
          </a:p>
          <a:p>
            <a:pPr marL="0" indent="0">
              <a:buNone/>
            </a:pPr>
            <a:r>
              <a:rPr b="1" dirty="0"/>
              <a:t>Polysaccharide Vaccines (PPSV23):</a:t>
            </a:r>
          </a:p>
          <a:p>
            <a:r>
              <a:rPr dirty="0"/>
              <a:t>T-cell independent antibody response</a:t>
            </a:r>
          </a:p>
          <a:p>
            <a:r>
              <a:rPr dirty="0"/>
              <a:t>No immunological memory generation</a:t>
            </a:r>
          </a:p>
          <a:p>
            <a:r>
              <a:rPr dirty="0"/>
              <a:t>Hyporesponsive to repeat vaccinations</a:t>
            </a:r>
          </a:p>
          <a:p>
            <a:r>
              <a:rPr dirty="0"/>
              <a:t>Short-lived immunity (3-5 years)</a:t>
            </a:r>
          </a:p>
          <a:p>
            <a:r>
              <a:rPr dirty="0"/>
              <a:t>No herd protection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PCV13 Immunogenicity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b="1" dirty="0"/>
              <a:t>Antibody Response Metrics:</a:t>
            </a:r>
          </a:p>
          <a:p>
            <a:r>
              <a:rPr dirty="0"/>
              <a:t>Geometric Mean Titer (GMT): 4-8 fold higher than PPSV23</a:t>
            </a:r>
          </a:p>
          <a:p>
            <a:r>
              <a:rPr dirty="0"/>
              <a:t>Opsonophagocytic Activity (OPA): Functional antibody measurement</a:t>
            </a:r>
          </a:p>
          <a:p>
            <a:r>
              <a:rPr dirty="0"/>
              <a:t>Memory B-cell Response: Persistent immunity</a:t>
            </a:r>
          </a:p>
          <a:p>
            <a:r>
              <a:rPr dirty="0"/>
              <a:t>Aging Adult Response: Better than PPSV23 in elderly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PCV13 vs PPSV23 Efficacy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312420"/>
              </p:ext>
            </p:extLst>
          </p:nvPr>
        </p:nvGraphicFramePr>
        <p:xfrm>
          <a:off x="261901" y="1563329"/>
          <a:ext cx="8620198" cy="2841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2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6245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PCV13 Efficacy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PPSV23 Efficacy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Statistical 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303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IPD Prevention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75-85%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50-60%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p&lt;0.01 all serotypes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512900"/>
                  </a:ext>
                </a:extLst>
              </a:tr>
              <a:tr h="4326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Pneumonia Hospitalization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40-50%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20-30%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p&lt;0.05 in elderly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160345"/>
                  </a:ext>
                </a:extLst>
              </a:tr>
              <a:tr h="513735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Mortality Reduction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30-40%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15-25%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p&lt;0.01 meta-analysis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076143"/>
                  </a:ext>
                </a:extLst>
              </a:tr>
              <a:tr h="4326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Herd Immunity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35-50%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0-5%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p&lt;0.001 in children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6157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Age-Specific Schedule - Infants &lt;2 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Universal</a:t>
            </a:r>
            <a:r>
              <a:rPr b="1" dirty="0"/>
              <a:t> Immunization Schedule: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627575"/>
              </p:ext>
            </p:extLst>
          </p:nvPr>
        </p:nvGraphicFramePr>
        <p:xfrm>
          <a:off x="948813" y="2133600"/>
          <a:ext cx="7024116" cy="3314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9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5974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Vaccine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Dose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Rationale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594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weeks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PCV13-1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 mL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Early protection start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310896"/>
                  </a:ext>
                </a:extLst>
              </a:tr>
              <a:tr h="668594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weeks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PCV13-2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 mL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Prime immune response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388388"/>
                  </a:ext>
                </a:extLst>
              </a:tr>
              <a:tr h="668594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weeks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PCV13-3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 mL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Boost antibody levels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835017"/>
                  </a:ext>
                </a:extLst>
              </a:tr>
              <a:tr h="668594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9-12 months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PCV13-4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 mL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Prolonged immunity |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393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Catch-up Vaccination -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Unvaccinated or Partially Vaccinated: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441196"/>
              </p:ext>
            </p:extLst>
          </p:nvPr>
        </p:nvGraphicFramePr>
        <p:xfrm>
          <a:off x="599768" y="2212258"/>
          <a:ext cx="8229600" cy="3441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8258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Recommended Schedule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258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7-11 months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doses (4-week intervals)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103992"/>
                  </a:ext>
                </a:extLst>
              </a:tr>
              <a:tr h="688258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12-23 months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doses (8-week interval)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907679"/>
                  </a:ext>
                </a:extLst>
              </a:tr>
              <a:tr h="688258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24-59 months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dose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686299"/>
                  </a:ext>
                </a:extLst>
              </a:tr>
              <a:tr h="688258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≥60 months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 routinely needed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0733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Immunocompromised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b="1" dirty="0"/>
              <a:t>High-risk groups requiring vaccination:</a:t>
            </a:r>
          </a:p>
          <a:p>
            <a:r>
              <a:rPr dirty="0"/>
              <a:t>HIV-infected children</a:t>
            </a:r>
            <a:r>
              <a:rPr lang="en-US" dirty="0"/>
              <a:t> </a:t>
            </a:r>
            <a:r>
              <a:rPr dirty="0"/>
              <a:t>(CD4 count consideration)</a:t>
            </a:r>
          </a:p>
          <a:p>
            <a:r>
              <a:rPr dirty="0"/>
              <a:t>Malignancy patients</a:t>
            </a:r>
            <a:r>
              <a:rPr lang="en-US" dirty="0"/>
              <a:t> </a:t>
            </a:r>
            <a:r>
              <a:rPr dirty="0"/>
              <a:t>(timing with chemotherapy)</a:t>
            </a:r>
          </a:p>
          <a:p>
            <a:r>
              <a:rPr dirty="0"/>
              <a:t>Solid organ transplant recipients</a:t>
            </a:r>
          </a:p>
          <a:p>
            <a:r>
              <a:rPr dirty="0"/>
              <a:t>Congenital immunodeficiencies</a:t>
            </a:r>
          </a:p>
          <a:p>
            <a:r>
              <a:rPr dirty="0"/>
              <a:t>Nephrotic syndrome patients</a:t>
            </a:r>
          </a:p>
          <a:p>
            <a:pPr marL="0" indent="0">
              <a:buNone/>
            </a:pPr>
            <a:r>
              <a:rPr b="1" dirty="0"/>
              <a:t>Special schedules:</a:t>
            </a:r>
            <a:r>
              <a:rPr dirty="0"/>
              <a:t> Additional doses may be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Adult Vaccination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Sequential Approach for Comprehensive Protection: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PCV13 First</a:t>
            </a:r>
            <a:r>
              <a:rPr dirty="0"/>
              <a:t> - Broad serotype coverage with memory response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PPSV23 Later</a:t>
            </a:r>
            <a:r>
              <a:rPr dirty="0"/>
              <a:t> (8+ weeks) - Additional serotypes, booster effect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Monitoring Response</a:t>
            </a:r>
            <a:r>
              <a:rPr dirty="0"/>
              <a:t> - Antibody titers if high-risk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Why Sequential:</a:t>
            </a:r>
          </a:p>
          <a:p>
            <a:r>
              <a:rPr dirty="0"/>
              <a:t>PCV13 enhances PPSV23 immunogenicity</a:t>
            </a:r>
          </a:p>
          <a:p>
            <a:r>
              <a:rPr dirty="0"/>
              <a:t>Broader protection against all common serotypes</a:t>
            </a:r>
          </a:p>
          <a:p>
            <a:r>
              <a:rPr dirty="0"/>
              <a:t>Longer duration of protection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Elderly Adults (≥65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691" y="1417638"/>
            <a:ext cx="8229600" cy="48300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Universal Recommendation:</a:t>
            </a:r>
          </a:p>
          <a:p>
            <a:r>
              <a:rPr dirty="0"/>
              <a:t>PCV13 first dose (any time after 65)</a:t>
            </a:r>
          </a:p>
          <a:p>
            <a:r>
              <a:rPr dirty="0"/>
              <a:t>PPSV23 eight weeks later</a:t>
            </a:r>
          </a:p>
          <a:p>
            <a:r>
              <a:rPr dirty="0"/>
              <a:t>No routine re-vaccination unless high-risk</a:t>
            </a:r>
          </a:p>
          <a:p>
            <a:r>
              <a:rPr dirty="0"/>
              <a:t>Shared clinical decision-making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Effectiveness Data:</a:t>
            </a:r>
          </a:p>
          <a:p>
            <a:r>
              <a:rPr dirty="0"/>
              <a:t>75% reduction in invasive pneumococcal disease</a:t>
            </a:r>
          </a:p>
          <a:p>
            <a:r>
              <a:rPr dirty="0"/>
              <a:t>45% reduction</a:t>
            </a:r>
            <a:r>
              <a:rPr lang="en-US" dirty="0"/>
              <a:t> </a:t>
            </a:r>
            <a:r>
              <a:rPr dirty="0"/>
              <a:t>in pneumonia hospitalization</a:t>
            </a:r>
          </a:p>
          <a:p>
            <a:r>
              <a:rPr dirty="0"/>
              <a:t>NNT = 1,200 to prevent one IPD case annually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High-Risk Adults &lt;65 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Chronic Diseases:</a:t>
            </a:r>
          </a:p>
          <a:p>
            <a:r>
              <a:rPr dirty="0"/>
              <a:t>COPD and asthma: 2-4 fold increased risk</a:t>
            </a:r>
          </a:p>
          <a:p>
            <a:r>
              <a:rPr dirty="0"/>
              <a:t>Diabetes mellitus: Impaired immune response</a:t>
            </a:r>
          </a:p>
          <a:p>
            <a:r>
              <a:rPr dirty="0"/>
              <a:t>Congestive heart failure: Compromised respiratory reserve</a:t>
            </a:r>
          </a:p>
          <a:p>
            <a:r>
              <a:rPr dirty="0"/>
              <a:t>Chronic liver disease: Reduced opsonization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Immunosuppressive States:</a:t>
            </a:r>
          </a:p>
          <a:p>
            <a:r>
              <a:rPr dirty="0"/>
              <a:t>HIV infection: CD4 count-guided decisions</a:t>
            </a:r>
          </a:p>
          <a:p>
            <a:r>
              <a:rPr dirty="0"/>
              <a:t>Malignancy: Timing with chemotherapy cycles</a:t>
            </a:r>
          </a:p>
          <a:p>
            <a:r>
              <a:rPr dirty="0"/>
              <a:t>Solid organ transplant: 3-6 months post-transplant</a:t>
            </a:r>
          </a:p>
          <a:p>
            <a:r>
              <a:rPr dirty="0"/>
              <a:t>Hematopoietic stem cell transplant: +3 months post-transplant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Special Populations - Asplenic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Lifelong Risk of Overwhelming Post-Splenectomy Infection (OPSI):</a:t>
            </a:r>
          </a:p>
          <a:p>
            <a:r>
              <a:rPr dirty="0"/>
              <a:t>Immediate PCV13 post-splenectomy (if not received)</a:t>
            </a:r>
          </a:p>
          <a:p>
            <a:r>
              <a:rPr dirty="0"/>
              <a:t>PPSV23 8+ weeks later</a:t>
            </a:r>
          </a:p>
          <a:p>
            <a:r>
              <a:rPr dirty="0"/>
              <a:t>Re-vaccination every 5 years</a:t>
            </a:r>
          </a:p>
          <a:p>
            <a:r>
              <a:rPr dirty="0"/>
              <a:t>Lifelong antibiotic prophylaxis</a:t>
            </a:r>
          </a:p>
          <a:p>
            <a:r>
              <a:rPr dirty="0"/>
              <a:t>Medical alert bracelet essential</a:t>
            </a:r>
          </a:p>
          <a:p>
            <a:pPr marL="0" indent="0">
              <a:buNone/>
            </a:pPr>
            <a:r>
              <a:rPr b="1" dirty="0"/>
              <a:t>Immunology:</a:t>
            </a:r>
            <a:r>
              <a:rPr dirty="0"/>
              <a:t> Spleen critical for pneumococcal clearance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Pregnancy &amp; Maternal Immunization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Safety Evidence:</a:t>
            </a:r>
          </a:p>
          <a:p>
            <a:r>
              <a:rPr dirty="0"/>
              <a:t>PCV13 safe in all trimesters (inactivated vaccine)</a:t>
            </a:r>
          </a:p>
          <a:p>
            <a:r>
              <a:rPr dirty="0"/>
              <a:t>No adverse pregnancy outcomes in large cohort studies</a:t>
            </a:r>
          </a:p>
          <a:p>
            <a:r>
              <a:rPr dirty="0"/>
              <a:t>Placental antibody transfer provides neonatal protection</a:t>
            </a:r>
          </a:p>
          <a:p>
            <a:r>
              <a:rPr dirty="0"/>
              <a:t>Optimal timing: Second/third trimester</a:t>
            </a:r>
          </a:p>
          <a:p>
            <a:pPr marL="0" indent="0">
              <a:buNone/>
            </a:pPr>
            <a:r>
              <a:rPr b="1" dirty="0"/>
              <a:t>Benefits:</a:t>
            </a:r>
          </a:p>
          <a:p>
            <a:r>
              <a:rPr dirty="0"/>
              <a:t>Maternal protection against invasive disease</a:t>
            </a:r>
          </a:p>
          <a:p>
            <a:r>
              <a:rPr dirty="0"/>
              <a:t>Neonatal antibodies from placental transfer</a:t>
            </a:r>
          </a:p>
          <a:p>
            <a:r>
              <a:rPr dirty="0"/>
              <a:t>Reduced vertical transmission risk</a:t>
            </a:r>
          </a:p>
          <a:p>
            <a:r>
              <a:rPr dirty="0"/>
              <a:t>Postpartum vaccination coverage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Healthcare Workers - Occupational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Ethical Obligation to Protect Patients:</a:t>
            </a:r>
          </a:p>
          <a:p>
            <a:r>
              <a:rPr dirty="0"/>
              <a:t>Personal vaccination to prevent nosocomial transmission</a:t>
            </a:r>
          </a:p>
          <a:p>
            <a:r>
              <a:rPr dirty="0"/>
              <a:t>Annual influenza + pneumococcal as appropriate</a:t>
            </a:r>
          </a:p>
          <a:p>
            <a:r>
              <a:rPr dirty="0"/>
              <a:t>Serological testing if occupational exposure</a:t>
            </a:r>
          </a:p>
          <a:p>
            <a:r>
              <a:rPr dirty="0"/>
              <a:t>Infection control integration</a:t>
            </a:r>
          </a:p>
          <a:p>
            <a:pPr marL="0" indent="0">
              <a:buNone/>
            </a:pPr>
            <a:r>
              <a:rPr b="1" dirty="0"/>
              <a:t>Influenza Protection Priority:</a:t>
            </a:r>
          </a:p>
          <a:p>
            <a:r>
              <a:rPr dirty="0"/>
              <a:t>High-dose vaccine if ≥65 years</a:t>
            </a:r>
          </a:p>
          <a:p>
            <a:r>
              <a:rPr dirty="0"/>
              <a:t>Quadrivalent coverage for comprehensive protection</a:t>
            </a:r>
          </a:p>
          <a:p>
            <a:r>
              <a:rPr dirty="0"/>
              <a:t>Staff vaccination clinics for convenience</a:t>
            </a:r>
          </a:p>
          <a:p>
            <a:r>
              <a:rPr dirty="0"/>
              <a:t>Mandatory reporting of influenza-like illness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Vaccine Safety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PCV13 Safety (Millions of doses administered):</a:t>
            </a:r>
          </a:p>
          <a:p>
            <a:r>
              <a:rPr dirty="0"/>
              <a:t>Injection site reactions: Pain, swelling (10-30%)</a:t>
            </a:r>
          </a:p>
          <a:p>
            <a:r>
              <a:rPr dirty="0"/>
              <a:t>Systemic reactions: Fever, irritability (&lt;2%)</a:t>
            </a:r>
          </a:p>
          <a:p>
            <a:r>
              <a:rPr dirty="0"/>
              <a:t>Serious adverse events: Extremely rare (&lt;1:1 million)</a:t>
            </a:r>
          </a:p>
          <a:p>
            <a:r>
              <a:rPr dirty="0"/>
              <a:t>No causal association with any chronic conditions</a:t>
            </a:r>
          </a:p>
          <a:p>
            <a:pPr marL="0" indent="0">
              <a:buNone/>
            </a:pPr>
            <a:r>
              <a:rPr b="1" dirty="0"/>
              <a:t>PPSV23 Safety:</a:t>
            </a:r>
          </a:p>
          <a:p>
            <a:r>
              <a:rPr dirty="0"/>
              <a:t>Similar reaction rates to PCV13</a:t>
            </a:r>
          </a:p>
          <a:p>
            <a:r>
              <a:rPr dirty="0"/>
              <a:t>No anaphylaxis reported in trials</a:t>
            </a:r>
          </a:p>
          <a:p>
            <a:r>
              <a:rPr dirty="0"/>
              <a:t>Safe in elderly with multiple comorbidities</a:t>
            </a:r>
          </a:p>
          <a:p>
            <a:r>
              <a:rPr dirty="0"/>
              <a:t>No drug interactions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Adverse Events Following Immunization (AEFI)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009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Local Reactions:</a:t>
            </a:r>
          </a:p>
          <a:p>
            <a:r>
              <a:rPr dirty="0"/>
              <a:t>Tenderness, redness, swelling at injection site</a:t>
            </a:r>
          </a:p>
          <a:p>
            <a:r>
              <a:rPr dirty="0"/>
              <a:t>Usually mild and self-limiting (24-48 hours)</a:t>
            </a:r>
          </a:p>
          <a:p>
            <a:r>
              <a:rPr dirty="0"/>
              <a:t>Ice application and acetaminophen for comfort</a:t>
            </a:r>
          </a:p>
          <a:p>
            <a:pPr marL="0" indent="0">
              <a:buNone/>
            </a:pPr>
            <a:r>
              <a:rPr b="1" dirty="0"/>
              <a:t>Systemic Reactions:</a:t>
            </a:r>
          </a:p>
          <a:p>
            <a:r>
              <a:rPr dirty="0"/>
              <a:t>Fever, myalgia, fatigue (uncommon)</a:t>
            </a:r>
          </a:p>
          <a:p>
            <a:r>
              <a:rPr dirty="0"/>
              <a:t>Usually within first 24-72 hours</a:t>
            </a:r>
          </a:p>
          <a:p>
            <a:r>
              <a:rPr dirty="0"/>
              <a:t>Self-limiting, supportive care only</a:t>
            </a:r>
          </a:p>
          <a:p>
            <a:pPr marL="0" indent="0">
              <a:buNone/>
            </a:pPr>
            <a:r>
              <a:rPr b="1" dirty="0"/>
              <a:t>Rare but Serious Events:</a:t>
            </a:r>
          </a:p>
          <a:p>
            <a:r>
              <a:rPr dirty="0"/>
              <a:t>Allergic reactions (1:1 million doses)</a:t>
            </a:r>
          </a:p>
          <a:p>
            <a:r>
              <a:rPr dirty="0"/>
              <a:t>Cellulitis at injection site (&lt;1:100,000)</a:t>
            </a:r>
          </a:p>
          <a:p>
            <a:r>
              <a:rPr dirty="0"/>
              <a:t>Neurological events (under investigation)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Contraindications &amp; Precautions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Absolute Contraindications:</a:t>
            </a:r>
          </a:p>
          <a:p>
            <a:r>
              <a:rPr dirty="0"/>
              <a:t>Severe allergic reaction to any vaccine component</a:t>
            </a:r>
          </a:p>
          <a:p>
            <a:r>
              <a:rPr dirty="0"/>
              <a:t>Anaphylaxis to previous pneumococcal vaccine</a:t>
            </a:r>
          </a:p>
          <a:p>
            <a:r>
              <a:rPr dirty="0"/>
              <a:t>Not applicable for minor egg allergies</a:t>
            </a:r>
          </a:p>
          <a:p>
            <a:pPr marL="0" indent="0">
              <a:buNone/>
            </a:pPr>
            <a:r>
              <a:rPr b="1" dirty="0"/>
              <a:t>Precautions:</a:t>
            </a:r>
          </a:p>
          <a:p>
            <a:r>
              <a:rPr dirty="0"/>
              <a:t>Moderate/severe illness: Defer until recovery</a:t>
            </a:r>
          </a:p>
          <a:p>
            <a:r>
              <a:rPr dirty="0"/>
              <a:t>Pregnancy: Category B - generally safe</a:t>
            </a:r>
          </a:p>
          <a:p>
            <a:r>
              <a:rPr dirty="0"/>
              <a:t>Immunosuppression: May have reduced response</a:t>
            </a:r>
          </a:p>
          <a:p>
            <a:r>
              <a:rPr dirty="0"/>
              <a:t>Breastfeeding: Safe, compatible with lactation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Co-administration with Other Vaccines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6127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Compatibility Data:</a:t>
            </a:r>
          </a:p>
          <a:p>
            <a:r>
              <a:rPr dirty="0"/>
              <a:t>Safe with influenza vaccines (simultaneous administration)</a:t>
            </a:r>
          </a:p>
          <a:p>
            <a:r>
              <a:rPr dirty="0"/>
              <a:t>Compatible with childhood vaccines (pediatric schedules)</a:t>
            </a:r>
          </a:p>
          <a:p>
            <a:r>
              <a:rPr dirty="0"/>
              <a:t>No interference with immune response</a:t>
            </a:r>
          </a:p>
          <a:p>
            <a:r>
              <a:rPr dirty="0"/>
              <a:t>Preferred approach for better compliance</a:t>
            </a:r>
          </a:p>
          <a:p>
            <a:pPr marL="0" indent="0">
              <a:buNone/>
            </a:pPr>
            <a:r>
              <a:rPr b="1" dirty="0"/>
              <a:t>Spacing Guidelines:</a:t>
            </a:r>
          </a:p>
          <a:p>
            <a:r>
              <a:rPr dirty="0"/>
              <a:t>DTaP/IPV/Hib/</a:t>
            </a:r>
            <a:r>
              <a:rPr dirty="0" err="1"/>
              <a:t>HepB</a:t>
            </a:r>
            <a:r>
              <a:rPr dirty="0"/>
              <a:t>: Can be given together</a:t>
            </a:r>
          </a:p>
          <a:p>
            <a:r>
              <a:rPr dirty="0"/>
              <a:t>Measles-Mumps-Rubella: 4-week separation</a:t>
            </a:r>
          </a:p>
          <a:p>
            <a:r>
              <a:rPr dirty="0"/>
              <a:t>Live vs Inactivated: No minimum interval required</a:t>
            </a:r>
          </a:p>
          <a:p>
            <a:r>
              <a:rPr dirty="0"/>
              <a:t>Documentation: Record all vaccines on same date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Immunogenicity in Special Populations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HIV-Infected Individuals:</a:t>
            </a:r>
          </a:p>
          <a:p>
            <a:r>
              <a:rPr dirty="0"/>
              <a:t>PCV13 safe regardless of CD4 count</a:t>
            </a:r>
          </a:p>
          <a:p>
            <a:r>
              <a:rPr dirty="0"/>
              <a:t>Response may be reduced (&lt;200 cells/</a:t>
            </a:r>
            <a:r>
              <a:rPr dirty="0" err="1"/>
              <a:t>μL</a:t>
            </a:r>
            <a:r>
              <a:rPr dirty="0"/>
              <a:t>)</a:t>
            </a:r>
          </a:p>
          <a:p>
            <a:r>
              <a:rPr dirty="0"/>
              <a:t>Additional doses may be beneficial</a:t>
            </a:r>
          </a:p>
          <a:p>
            <a:r>
              <a:rPr dirty="0"/>
              <a:t>Timing: Any CD4 count &gt;100 cells/</a:t>
            </a:r>
            <a:r>
              <a:rPr dirty="0" err="1"/>
              <a:t>μL</a:t>
            </a:r>
            <a:endParaRPr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Cancer Patients:</a:t>
            </a:r>
          </a:p>
          <a:p>
            <a:r>
              <a:rPr dirty="0"/>
              <a:t>Timing crucial: Pre-chemotherapy when possible</a:t>
            </a:r>
          </a:p>
          <a:p>
            <a:r>
              <a:rPr dirty="0"/>
              <a:t>Reduced response during active treatment</a:t>
            </a:r>
          </a:p>
          <a:p>
            <a:r>
              <a:rPr dirty="0"/>
              <a:t>May need higher doses or additional boosters</a:t>
            </a:r>
          </a:p>
          <a:p>
            <a:r>
              <a:rPr dirty="0"/>
              <a:t>Coordinate with oncology treatment plan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Vaccine-Induced Serotype Replacement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 err="1"/>
              <a:t>Phenomemon</a:t>
            </a:r>
            <a:r>
              <a:rPr b="1" dirty="0"/>
              <a:t> Explanation:</a:t>
            </a:r>
          </a:p>
          <a:p>
            <a:r>
              <a:rPr dirty="0"/>
              <a:t>Capsule switching by pneumococci under vaccine pressure</a:t>
            </a:r>
          </a:p>
          <a:p>
            <a:r>
              <a:rPr dirty="0"/>
              <a:t>Emergence of non-vaccine serotypes (especially 19A, 35B)</a:t>
            </a:r>
          </a:p>
          <a:p>
            <a:r>
              <a:rPr dirty="0"/>
              <a:t>Partial offset of vaccine benefits</a:t>
            </a:r>
          </a:p>
          <a:p>
            <a:r>
              <a:rPr dirty="0"/>
              <a:t>Under active surveillance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Real-world Impact:</a:t>
            </a:r>
          </a:p>
          <a:p>
            <a:r>
              <a:rPr dirty="0"/>
              <a:t>Net positive effect despite replacement</a:t>
            </a:r>
          </a:p>
          <a:p>
            <a:r>
              <a:rPr dirty="0"/>
              <a:t>Broad coverage vaccines (PCV15, PCV20) in development</a:t>
            </a:r>
          </a:p>
          <a:p>
            <a:r>
              <a:rPr dirty="0"/>
              <a:t>Ongoing monitoring essential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Challenges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9076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Access Barriers:</a:t>
            </a:r>
          </a:p>
          <a:p>
            <a:r>
              <a:rPr dirty="0"/>
              <a:t>Geographic distribution in rural/remote areas</a:t>
            </a:r>
          </a:p>
          <a:p>
            <a:r>
              <a:rPr dirty="0"/>
              <a:t>Supply chain logistics for cold chain maintenance</a:t>
            </a:r>
          </a:p>
          <a:p>
            <a:r>
              <a:rPr dirty="0"/>
              <a:t>Healthcare worker training in proper administration</a:t>
            </a:r>
          </a:p>
          <a:p>
            <a:r>
              <a:rPr dirty="0"/>
              <a:t>Community awareness and demand generation</a:t>
            </a:r>
          </a:p>
          <a:p>
            <a:pPr marL="0" indent="0">
              <a:buNone/>
            </a:pPr>
            <a:r>
              <a:rPr lang="en-US" b="1" dirty="0"/>
              <a:t>S</a:t>
            </a:r>
            <a:r>
              <a:rPr b="1" dirty="0"/>
              <a:t>ystem-level Issues:</a:t>
            </a:r>
          </a:p>
          <a:p>
            <a:r>
              <a:rPr dirty="0"/>
              <a:t>Program coordination between public/private sectors</a:t>
            </a:r>
          </a:p>
          <a:p>
            <a:r>
              <a:rPr dirty="0"/>
              <a:t>Data management for coverage monitoring</a:t>
            </a:r>
          </a:p>
          <a:p>
            <a:r>
              <a:rPr dirty="0"/>
              <a:t>Resource allocation for vaccination campaigns</a:t>
            </a:r>
          </a:p>
          <a:p>
            <a:r>
              <a:rPr dirty="0"/>
              <a:t>Quality assurance across different delivery platforms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Cost-Effectiveness in Indian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6294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Economic Analysis:</a:t>
            </a:r>
          </a:p>
          <a:p>
            <a:r>
              <a:rPr dirty="0"/>
              <a:t>Cost per vaccinated child: ₹500-800 including service delivery</a:t>
            </a:r>
          </a:p>
          <a:p>
            <a:r>
              <a:rPr dirty="0"/>
              <a:t>DALYs averted: 8-12 per vaccinated child</a:t>
            </a:r>
          </a:p>
          <a:p>
            <a:r>
              <a:rPr dirty="0"/>
              <a:t>ROI: 8-12 times investment recovered through reduced healthcare costs</a:t>
            </a:r>
          </a:p>
          <a:p>
            <a:r>
              <a:rPr dirty="0"/>
              <a:t>Long-term savings: Reduced antibiotic resistance burden</a:t>
            </a:r>
          </a:p>
          <a:p>
            <a:pPr marL="0" indent="0">
              <a:buNone/>
            </a:pPr>
            <a:r>
              <a:rPr b="1" dirty="0"/>
              <a:t>Bottleneck Analysis:</a:t>
            </a:r>
          </a:p>
          <a:p>
            <a:r>
              <a:rPr dirty="0"/>
              <a:t>Vaccine pricing vs local manufacturing capacity</a:t>
            </a:r>
          </a:p>
          <a:p>
            <a:r>
              <a:rPr dirty="0"/>
              <a:t>Delivery costs in difficult terrain</a:t>
            </a:r>
          </a:p>
          <a:p>
            <a:r>
              <a:rPr dirty="0"/>
              <a:t>Training expenses for healthcare workforce</a:t>
            </a:r>
          </a:p>
          <a:p>
            <a:r>
              <a:rPr dirty="0"/>
              <a:t>Monitoring costs for adverse event surveillance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Pneumococcal Vaccines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5232"/>
            <a:ext cx="8229600" cy="487925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b="1" dirty="0"/>
              <a:t>Next-Generation Vaccines:</a:t>
            </a:r>
          </a:p>
          <a:p>
            <a:r>
              <a:rPr b="1" dirty="0"/>
              <a:t>PCV15 &amp; PCV20:</a:t>
            </a:r>
          </a:p>
          <a:p>
            <a:r>
              <a:rPr dirty="0"/>
              <a:t>Broader serotype coverage (15 and 20 serotypes)</a:t>
            </a:r>
          </a:p>
          <a:p>
            <a:r>
              <a:rPr dirty="0"/>
              <a:t>Same conjugate technology with enhanced immunogenicity</a:t>
            </a:r>
          </a:p>
          <a:p>
            <a:r>
              <a:rPr dirty="0"/>
              <a:t>Backward compatibility with PCV13</a:t>
            </a:r>
          </a:p>
          <a:p>
            <a:r>
              <a:rPr dirty="0"/>
              <a:t>Global rollout ongoing</a:t>
            </a:r>
          </a:p>
          <a:p>
            <a:pPr marL="0" indent="0">
              <a:buNone/>
            </a:pPr>
            <a:r>
              <a:rPr b="1" dirty="0"/>
              <a:t>Universal Pneumococcal Vaccines:</a:t>
            </a:r>
          </a:p>
          <a:p>
            <a:r>
              <a:rPr dirty="0"/>
              <a:t>Conserved antigens approach (</a:t>
            </a:r>
            <a:r>
              <a:rPr dirty="0" err="1"/>
              <a:t>PhtD</a:t>
            </a:r>
            <a:r>
              <a:rPr dirty="0"/>
              <a:t>, Ply)</a:t>
            </a:r>
          </a:p>
          <a:p>
            <a:r>
              <a:rPr dirty="0"/>
              <a:t>Serotype-independent protection</a:t>
            </a:r>
          </a:p>
          <a:p>
            <a:r>
              <a:rPr dirty="0"/>
              <a:t>Potential for single-dose immunity</a:t>
            </a:r>
          </a:p>
          <a:p>
            <a:r>
              <a:rPr dirty="0"/>
              <a:t>Elimination goal attainment</a:t>
            </a:r>
          </a:p>
          <a:p>
            <a:pPr marL="0" indent="0">
              <a:buNone/>
            </a:pPr>
            <a:r>
              <a:rPr b="1" dirty="0"/>
              <a:t>Protein-Based Vaccines:</a:t>
            </a:r>
          </a:p>
          <a:p>
            <a:r>
              <a:rPr dirty="0"/>
              <a:t>Pneumococcal surface protein A (</a:t>
            </a:r>
            <a:r>
              <a:rPr dirty="0" err="1"/>
              <a:t>PspA</a:t>
            </a:r>
            <a:r>
              <a:rPr dirty="0"/>
              <a:t>)</a:t>
            </a:r>
          </a:p>
          <a:p>
            <a:r>
              <a:rPr dirty="0" err="1"/>
              <a:t>Pneumolysin</a:t>
            </a:r>
            <a:r>
              <a:rPr dirty="0"/>
              <a:t> toxoid</a:t>
            </a:r>
          </a:p>
          <a:p>
            <a:r>
              <a:rPr dirty="0"/>
              <a:t>Combination approaches for comprehensive protection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CBME Assessment - Clinical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b="1" dirty="0"/>
              <a:t>Case Scenario:</a:t>
            </a:r>
          </a:p>
          <a:p>
            <a:pPr marL="0" indent="0">
              <a:buNone/>
            </a:pPr>
            <a:r>
              <a:rPr b="1" dirty="0"/>
              <a:t>Options Analysis: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PPSV23 only:</a:t>
            </a:r>
            <a:r>
              <a:rPr dirty="0"/>
              <a:t> Adequate but suboptimal coverage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PCV13 only:</a:t>
            </a:r>
            <a:r>
              <a:rPr dirty="0"/>
              <a:t> Good choice but incomplete protection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PCV13 → PPSV23: Optimal approach</a:t>
            </a:r>
            <a:r>
              <a:rPr dirty="0"/>
              <a:t> ⭐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/>
              <a:t>Both simultaneously:</a:t>
            </a:r>
            <a:r>
              <a:rPr dirty="0"/>
              <a:t> Increased side effects risk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Clinical Pearls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7110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Pneumococcal Vaccination Wisdom: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Start with PCV13</a:t>
            </a:r>
            <a:r>
              <a:rPr dirty="0"/>
              <a:t> for memory response and broadest protection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Add PPSV23 later</a:t>
            </a:r>
            <a:r>
              <a:rPr dirty="0"/>
              <a:t> for additional serotypes and booster effect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Age ≥65 = automatic indication</a:t>
            </a:r>
            <a:r>
              <a:rPr dirty="0"/>
              <a:t> for vaccination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/>
              <a:t>High-risk conditions</a:t>
            </a:r>
            <a:r>
              <a:rPr dirty="0"/>
              <a:t> warrant vaccination regardless of age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b="1" dirty="0"/>
              <a:t>Pregnancy safe</a:t>
            </a:r>
            <a:r>
              <a:rPr dirty="0"/>
              <a:t> with PCV13 in all trimesters</a:t>
            </a:r>
          </a:p>
          <a:p>
            <a:pPr marL="0" indent="0">
              <a:buNone/>
            </a:pPr>
            <a:r>
              <a:rPr dirty="0"/>
              <a:t>6. </a:t>
            </a:r>
            <a:r>
              <a:rPr b="1" dirty="0" err="1"/>
              <a:t>Asplenic</a:t>
            </a:r>
            <a:r>
              <a:rPr b="1" dirty="0"/>
              <a:t> patients</a:t>
            </a:r>
            <a:r>
              <a:rPr dirty="0"/>
              <a:t> need lifelong protection strategy</a:t>
            </a:r>
          </a:p>
          <a:p>
            <a:pPr marL="0" indent="0">
              <a:buNone/>
            </a:pPr>
            <a:r>
              <a:rPr dirty="0"/>
              <a:t>7. </a:t>
            </a:r>
            <a:r>
              <a:rPr b="1" dirty="0"/>
              <a:t>Herd immunity</a:t>
            </a:r>
            <a:r>
              <a:rPr dirty="0"/>
              <a:t> benefits unvaccinated populations</a:t>
            </a:r>
          </a:p>
          <a:p>
            <a:pPr marL="0" indent="0">
              <a:buNone/>
            </a:pPr>
            <a:r>
              <a:rPr dirty="0"/>
              <a:t>8. </a:t>
            </a:r>
            <a:r>
              <a:rPr b="1" dirty="0"/>
              <a:t>Cost saves lives</a:t>
            </a:r>
            <a:r>
              <a:rPr dirty="0"/>
              <a:t> - every vaccine dose prevents suffering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568"/>
            <a:ext cx="8229600" cy="498316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Test your pneumococcal knowledge:</a:t>
            </a:r>
          </a:p>
          <a:p>
            <a:pPr marL="0" indent="0">
              <a:buNone/>
            </a:pPr>
            <a:r>
              <a:rPr b="1" dirty="0"/>
              <a:t>Question: Best pneumococcal vaccine for 70-year-old diabetic?</a:t>
            </a:r>
          </a:p>
          <a:p>
            <a:r>
              <a:rPr dirty="0"/>
              <a:t>A) PPSV23 only</a:t>
            </a:r>
          </a:p>
          <a:p>
            <a:r>
              <a:rPr dirty="0"/>
              <a:t>B) PCV13 only</a:t>
            </a:r>
          </a:p>
          <a:p>
            <a:r>
              <a:rPr dirty="0"/>
              <a:t>C) </a:t>
            </a:r>
            <a:r>
              <a:rPr b="1" dirty="0"/>
              <a:t>PCV13 then PPSV23</a:t>
            </a:r>
            <a:r>
              <a:rPr dirty="0"/>
              <a:t> ⭐</a:t>
            </a:r>
          </a:p>
          <a:p>
            <a:r>
              <a:rPr dirty="0"/>
              <a:t>D) Neither routinely needed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Question: PCV13 covers how many pneumococcal serotypes?</a:t>
            </a:r>
          </a:p>
          <a:p>
            <a:r>
              <a:rPr dirty="0"/>
              <a:t>A) 7 serotypes</a:t>
            </a:r>
          </a:p>
          <a:p>
            <a:r>
              <a:rPr dirty="0"/>
              <a:t>B) </a:t>
            </a:r>
            <a:r>
              <a:rPr b="1" dirty="0"/>
              <a:t>13 serotypes</a:t>
            </a:r>
            <a:r>
              <a:rPr dirty="0"/>
              <a:t> ⭐</a:t>
            </a:r>
          </a:p>
          <a:p>
            <a:r>
              <a:rPr dirty="0"/>
              <a:t>C) 23 serotypes</a:t>
            </a:r>
          </a:p>
          <a:p>
            <a:r>
              <a:rPr dirty="0"/>
              <a:t>D) All serotypes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b="1" dirty="0"/>
              <a:t>📚 Recommended Resources: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ACIP Adult Immunization Guidelines (2024)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WHO Pneumococcal Vaccine Position Paper (2023)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CDC Pink Book: Pneumococcal Disease (2024)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/>
              <a:t>Indian Academy of Pediatrics Guidelines (2022)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b="1" dirty="0"/>
              <a:t>Vaccine Journal - PCV13 immunogenicity studies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/>
              <a:t>What We Learned Today:</a:t>
            </a:r>
          </a:p>
          <a:p>
            <a:r>
              <a:rPr dirty="0"/>
              <a:t>Immunologic basis for different vaccine mechanisms</a:t>
            </a:r>
          </a:p>
          <a:p>
            <a:r>
              <a:rPr dirty="0"/>
              <a:t>Evidence-based schedules for all age groups</a:t>
            </a:r>
          </a:p>
          <a:p>
            <a:r>
              <a:rPr dirty="0"/>
              <a:t>Risk-benefit profiles for safe vaccination practice</a:t>
            </a:r>
          </a:p>
          <a:p>
            <a:r>
              <a:rPr dirty="0"/>
              <a:t>Implementation challenges and solutions</a:t>
            </a:r>
          </a:p>
          <a:p>
            <a:r>
              <a:rPr dirty="0"/>
              <a:t>Future vaccine prospects for complete pneumococcal control</a:t>
            </a:r>
          </a:p>
          <a:p>
            <a:pPr marL="0" indent="0">
              <a:buNone/>
            </a:pPr>
            <a:r>
              <a:rPr lang="en-US" b="1"/>
              <a:t>Next:</a:t>
            </a:r>
            <a:r>
              <a:rPr b="1"/>
              <a:t> </a:t>
            </a:r>
            <a:r>
              <a:rPr b="1" dirty="0"/>
              <a:t>Influenza Vaccination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1687</Words>
  <Application>Microsoft Office PowerPoint</Application>
  <PresentationFormat>On-screen Show (4:3)</PresentationFormat>
  <Paragraphs>347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Re-cap &amp; Chapter 10 Focus</vt:lpstr>
      <vt:lpstr>Streptococcus pneumoniae - The Pathogen</vt:lpstr>
      <vt:lpstr>Serotype Distribution - Indian Context</vt:lpstr>
      <vt:lpstr>Pneumococcal Vaccine Evolution</vt:lpstr>
      <vt:lpstr>Vaccine Mechanism - T-cell Dependent vs Independent</vt:lpstr>
      <vt:lpstr>PCV13 Immunogenicity Data</vt:lpstr>
      <vt:lpstr>PCV13 vs PPSV23 Efficacy Comparison</vt:lpstr>
      <vt:lpstr>Age-Specific Schedule - Infants &lt;2 Years</vt:lpstr>
      <vt:lpstr>Catch-up Vaccination - Children</vt:lpstr>
      <vt:lpstr>Immunocompromised Children</vt:lpstr>
      <vt:lpstr>Adult Vaccination Strategy</vt:lpstr>
      <vt:lpstr>Elderly Adults (≥65 years)</vt:lpstr>
      <vt:lpstr>High-Risk Adults &lt;65 Years</vt:lpstr>
      <vt:lpstr>Special Populations - Asplenic Patients</vt:lpstr>
      <vt:lpstr>Pregnancy &amp; Maternal Immunization</vt:lpstr>
      <vt:lpstr>Healthcare Workers - Occupational Health</vt:lpstr>
      <vt:lpstr>Vaccine Safety Profile</vt:lpstr>
      <vt:lpstr>Adverse Events Following Immunization (AEFI)</vt:lpstr>
      <vt:lpstr>Contraindications &amp; Precautions</vt:lpstr>
      <vt:lpstr>Co-administration with Other Vaccines</vt:lpstr>
      <vt:lpstr>Immunogenicity in Special Populations</vt:lpstr>
      <vt:lpstr>Vaccine-Induced Serotype Replacement</vt:lpstr>
      <vt:lpstr>Implementation Challenges in India</vt:lpstr>
      <vt:lpstr>Cost-Effectiveness in Indian Context</vt:lpstr>
      <vt:lpstr>Future Pneumococcal Vaccines</vt:lpstr>
      <vt:lpstr>CBME Assessment - Clinical Decision Making</vt:lpstr>
      <vt:lpstr>Key Clinical Pearls</vt:lpstr>
      <vt:lpstr>Interactive Quiz</vt:lpstr>
      <vt:lpstr>References &amp; Further Reading</vt:lpstr>
      <vt:lpstr>Session Wrap-up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 Siddalingaiah H S</cp:lastModifiedBy>
  <cp:revision>3</cp:revision>
  <dcterms:created xsi:type="dcterms:W3CDTF">2013-01-27T09:14:16Z</dcterms:created>
  <dcterms:modified xsi:type="dcterms:W3CDTF">2025-10-05T14:35:37Z</dcterms:modified>
  <cp:category/>
</cp:coreProperties>
</file>