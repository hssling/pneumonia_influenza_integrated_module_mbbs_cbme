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Positioning 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Building on Chapter 10: Pneumococcal Focus</a:t>
            </a:r>
          </a:p>
          <a:p>
            <a:r>
              <a:rPr b="1"/>
              <a:t>Previous Chapter Highlights:</a:t>
            </a:r>
          </a:p>
          <a:p>
            <a:pPr/>
            <a:r>
              <a:t>PCV13 science &amp; age-specific schedules</a:t>
            </a:r>
          </a:p>
          <a:p>
            <a:pPr/>
            <a:r>
              <a:t>T-cell dependent immunity vs polysaccharide</a:t>
            </a:r>
          </a:p>
          <a:p>
            <a:pPr/>
            <a:r>
              <a:t>Special populations &amp; implementation</a:t>
            </a:r>
          </a:p>
          <a:p>
            <a:pPr/>
            <a:r>
              <a:t>Indian context adaptations</a:t>
            </a:r>
          </a:p>
          <a:p>
            <a:r>
              <a:rPr b="1"/>
              <a:t>Chapter 11 focuses on influenza - the other major pneumonia vaccine:</a:t>
            </a:r>
          </a:p>
          <a:p>
            <a:pPr/>
            <a:r>
              <a:t>Seasonal influenza burden** and prevention</a:t>
            </a:r>
          </a:p>
          <a:p>
            <a:pPr/>
            <a:r>
              <a:t>Vaccine types &amp; immunogenicity</a:t>
            </a:r>
          </a:p>
          <a:p>
            <a:pPr/>
            <a:r>
              <a:t>Pandemic preparedness frameworks</a:t>
            </a:r>
          </a:p>
          <a:p>
            <a:pPr/>
            <a:r>
              <a:t>Healthcare worker vaccination ethics</a:t>
            </a:r>
          </a:p>
          <a:p>
            <a:pPr/>
            <a:r>
              <a:t>Public health program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By session end, students will be able to:</a:t>
            </a:r>
          </a:p>
          <a:p>
            <a:r>
              <a:t>1. Quantify seasonal influenza pneumonia burden globally &amp; in India</a:t>
            </a:r>
          </a:p>
          <a:p>
            <a:r>
              <a:t>2. Differentiate influenza vaccine types and their indications</a:t>
            </a:r>
          </a:p>
          <a:p>
            <a:r>
              <a:t>3. Apply evidence-based seasonal vaccination recommendations</a:t>
            </a:r>
          </a:p>
          <a:p>
            <a:r>
              <a:t>4. Design pandemic influenza response strategies</a:t>
            </a:r>
          </a:p>
          <a:p>
            <a:r>
              <a:t>5. Counsel patients on influenza vaccination benefits and timing</a:t>
            </a:r>
          </a:p>
          <a:p>
            <a:r>
              <a:rPr b="1"/>
              <a:t>CBME Competencies: Medical Knowledge, Practice-Based Learning, Systems-Based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Viral Pneumonia's Second Major Threat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Primary viral infection** (influenza A/B viruses)</a:t>
            </a:r>
          </a:p>
          <a:p>
            <a:pPr/>
            <a:r>
              <a:t>Destruction of respiratory epithelium</a:t>
            </a:r>
          </a:p>
          <a:p>
            <a:pPr/>
            <a:r>
              <a:t>Secondary bacterial invasion** (S. pneumoniae, S. aureus)</a:t>
            </a:r>
          </a:p>
          <a:p>
            <a:pPr/>
            <a:r>
              <a:t>10-15% of influenza cases develop pneumonia</a:t>
            </a:r>
          </a:p>
          <a:p>
            <a:pPr/>
            <a:r>
              <a:t>High-risk populations:** Elderly, immunocompromised, pregnant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Influenza Burden &amp; Economic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Annual seasonal influenza statistics:</a:t>
            </a:r>
          </a:p>
          <a:p>
            <a:pPr/>
            <a:r>
              <a:t>300-500,000 deaths worldwide** (including pneumonia complications)</a:t>
            </a:r>
          </a:p>
          <a:p>
            <a:pPr/>
            <a:r>
              <a:t>3-5 million severe illness cases** requiring hospitalization</a:t>
            </a:r>
          </a:p>
          <a:p>
            <a:pPr/>
            <a:r>
              <a:t>Economic burden: $87 billion USD** annual global costs</a:t>
            </a:r>
          </a:p>
          <a:p>
            <a:pPr/>
            <a:r>
              <a:t>India-specific:** 10-20 million cases, 50,000-100,000 deaths annually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Influenza Virus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Type A (most virulent):</a:t>
            </a:r>
          </a:p>
          <a:p>
            <a:pPr/>
            <a:r>
              <a:t>Hemagglutinin (HA): 18 subtypes (H1-H18)</a:t>
            </a:r>
          </a:p>
          <a:p>
            <a:pPr/>
            <a:r>
              <a:t>Neuraminidase (NA): 11 subtypes (N1-N11)</a:t>
            </a:r>
          </a:p>
          <a:p>
            <a:pPr/>
            <a:r>
              <a:t>Pandemic potential through antigenic shift</a:t>
            </a:r>
          </a:p>
          <a:p>
            <a:pPr/>
            <a:r>
              <a:t>Examples: H1N1 (2009 pandemic), seasonal H3N2</a:t>
            </a:r>
          </a:p>
          <a:p>
            <a:r>
              <a:rPr b="1"/>
              <a:t>Type B (seasonal):</a:t>
            </a:r>
          </a:p>
          <a:p>
            <a:pPr/>
            <a:r>
              <a:t>No subtypes, two lineages: Victoria &amp; Yamagata</a:t>
            </a:r>
          </a:p>
          <a:p>
            <a:pPr/>
            <a:r>
              <a:t>Seasonal epidemics, no pandemics</a:t>
            </a:r>
          </a:p>
          <a:p>
            <a:pPr/>
            <a:r>
              <a:t>Less severe than type A</a:t>
            </a:r>
          </a:p>
          <a:p>
            <a:pPr/>
            <a:r>
              <a:t>Antigenic drift requires annual vaccine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Antigenic Evolution - Annual Vaccine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Antigenic Drift:</a:t>
            </a:r>
          </a:p>
          <a:p>
            <a:pPr/>
            <a:r>
              <a:t>Point mutations in HA/NA genes</a:t>
            </a:r>
          </a:p>
          <a:p>
            <a:pPr/>
            <a:r>
              <a:t>Gradual immune escape from prior vaccines</a:t>
            </a:r>
          </a:p>
          <a:p>
            <a:pPr/>
            <a:r>
              <a:t>Predictable seasonal circulation patterns</a:t>
            </a:r>
          </a:p>
          <a:p>
            <a:pPr/>
            <a:r>
              <a:t>Vaccine mismatch risk (20-50% annually)</a:t>
            </a:r>
          </a:p>
          <a:p>
            <a:r>
              <a:rPr b="1"/>
              <a:t>Antigenic Shift:</a:t>
            </a:r>
          </a:p>
          <a:p>
            <a:pPr/>
            <a:r>
              <a:t>Reassortment between human/animal viruses</a:t>
            </a:r>
          </a:p>
          <a:p>
            <a:pPr/>
            <a:r>
              <a:t>Sudden emergence of novel subtypes</a:t>
            </a:r>
          </a:p>
          <a:p>
            <a:pPr/>
            <a:r>
              <a:t>Pandemic potential (H5N1, H7N9 surveillance)</a:t>
            </a:r>
          </a:p>
          <a:p>
            <a:pPr/>
            <a:r>
              <a:t>Rapid vaccine development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Influenza Vaccine Types - 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|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743200">
                <a:tc>
                  <a:txBody>
                    <a:bodyPr/>
                    <a:lstStyle/>
                    <a:p/>
                    <a:p>
                      <a:r>
                        <a:t/>
                      </a:r>
                      <a:r>
                        <a:rPr b="1"/>
                        <a:t>Vaccine Type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r>
                        <a:t/>
                      </a:r>
                      <a:r>
                        <a:rPr b="1"/>
                        <a:t>Administration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r>
                        <a:t/>
                      </a:r>
                      <a:r>
                        <a:rPr b="1"/>
                        <a:t>Age Range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r>
                        <a:t/>
                      </a:r>
                      <a:r>
                        <a:rPr b="1"/>
                        <a:t>Composition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r>
                        <a:t/>
                      </a:r>
                      <a:r>
                        <a:rPr b="1"/>
                        <a:t>Efficiency</a:t>
                      </a:r>
                      <a:r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 Timing &amp; Geographical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Northern Hemisphere Timing:</a:t>
            </a:r>
          </a:p>
          <a:p>
            <a:pPr/>
            <a:r>
              <a:t>Primary season:** December-March (peaking January-February)</a:t>
            </a:r>
          </a:p>
          <a:p>
            <a:pPr/>
            <a:r>
              <a:t>Vaccine optimization:** September-October pre-season</a:t>
            </a:r>
          </a:p>
          <a:p>
            <a:pPr/>
            <a:r>
              <a:t>Community protection duration:** 6-8 months</a:t>
            </a:r>
          </a:p>
          <a:p>
            <a:pPr/>
            <a:r>
              <a:t>Booster consideration:** High-risk individuals</a:t>
            </a:r>
          </a:p>
          <a:p>
            <a:r>
              <a:rPr b="1"/>
              <a:t>Southern Hemisphere Timing:</a:t>
            </a:r>
          </a:p>
          <a:p>
            <a:pPr/>
            <a:r>
              <a:t>Primary season:** April-September (peaking June-August)</a:t>
            </a:r>
          </a:p>
          <a:p>
            <a:pPr/>
            <a:r>
              <a:t>Vaccine optimization:** March-April preparation</a:t>
            </a:r>
          </a:p>
          <a:p>
            <a:pPr/>
            <a:r>
              <a:t>Strain prediction:** Basis for Northern vaccine design</a:t>
            </a:r>
          </a:p>
          <a:p>
            <a:pPr/>
            <a:r>
              <a:t>Global influenza surveillance:** Continuous year-round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Groups for Seasonal Vaccination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Universal Recommendation Categories:</a:t>
            </a:r>
          </a:p>
          <a:p>
            <a:r>
              <a:t>1. </a:t>
            </a:r>
            <a:r>
              <a:rPr b="1"/>
              <a:t>All persons ≥6 months</a:t>
            </a:r>
            <a:r>
              <a:t> - Community protection</a:t>
            </a:r>
          </a:p>
          <a:p>
            <a:r>
              <a:t>2. </a:t>
            </a:r>
            <a:r>
              <a:rPr b="1"/>
              <a:t>Pregnant individuals</a:t>
            </a:r>
            <a:r>
              <a:t> - Maternal &amp; fetal protection</a:t>
            </a:r>
          </a:p>
          <a:p>
            <a:r>
              <a:t>3. </a:t>
            </a:r>
            <a:r>
              <a:rPr b="1"/>
              <a:t>Children 6-59 months</a:t>
            </a:r>
            <a:r>
              <a:t> - Primary high-risk age group</a:t>
            </a:r>
          </a:p>
          <a:p>
            <a:r>
              <a:t>4. </a:t>
            </a:r>
            <a:r>
              <a:rPr b="1"/>
              <a:t>Adults ≥65 years</a:t>
            </a:r>
            <a:r>
              <a:t> - Immunosenescence vulnerability</a:t>
            </a:r>
          </a:p>
          <a:p>
            <a:r>
              <a:t>5. </a:t>
            </a:r>
            <a:r>
              <a:rPr b="1"/>
              <a:t>Chronic medical conditions</a:t>
            </a:r>
            <a:r>
              <a:t> - COPD, diabetes, heart disease</a:t>
            </a:r>
          </a:p>
          <a:p>
            <a:r>
              <a:t>6. </a:t>
            </a:r>
            <a:r>
              <a:rPr b="1"/>
              <a:t>Healthcare workers</a:t>
            </a:r>
            <a:r>
              <a:t> - Patient protection and occupational health</a:t>
            </a:r>
          </a:p>
          <a:p>
            <a:r>
              <a:t>7. </a:t>
            </a:r>
            <a:r>
              <a:rPr b="1"/>
              <a:t>Residents of long-term care facilities</a:t>
            </a:r>
            <a:r>
              <a:t> - Outbreak prevention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Vaccine Effectiveness in Real-World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Seasonal Influenza Vaccine Effectiveness:</a:t>
            </a:r>
          </a:p>
          <a:p>
            <a:pPr/>
            <a:r>
              <a:t>Healthy adults (18-64 years):** 40-60% against symptomatic illness</a:t>
            </a:r>
          </a:p>
          <a:p>
            <a:pPr/>
            <a:r>
              <a:t>Elderly (≥65 years):** 50-70% against severe outcomes</a:t>
            </a:r>
          </a:p>
          <a:p>
            <a:pPr/>
            <a:r>
              <a:t>Children (2-17 years):** 60-75% protection demonstrated</a:t>
            </a:r>
          </a:p>
          <a:p>
            <a:pPr/>
            <a:r>
              <a:t>High-dose formulation:** 25% additional protection in elderly</a:t>
            </a:r>
          </a:p>
          <a:p>
            <a:r>
              <a:rPr b="1"/>
              <a:t>Secondary Pneumonia Prevention:</a:t>
            </a:r>
          </a:p>
          <a:p>
            <a:pPr/>
            <a:r>
              <a:t>Hospitalization reduction:** 30-50% in vaccinated groups</a:t>
            </a:r>
          </a:p>
          <a:p>
            <a:pPr/>
            <a:r>
              <a:t>ICU admission decline:** 40-60% fewer severe cases</a:t>
            </a:r>
          </a:p>
          <a:p>
            <a:pPr/>
            <a:r>
              <a:t>Mortality benefit:** 80% reduction in influenza-related deaths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Pediatric Vaccination Special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First Vaccination Ever:</a:t>
            </a:r>
          </a:p>
          <a:p>
            <a:pPr/>
            <a:r>
              <a:t>Two doses required:** 4 weeks apart for optimal response</a:t>
            </a:r>
          </a:p>
          <a:p>
            <a:pPr/>
            <a:r>
              <a:t>Immune naive individuals:** Primary series needed</a:t>
            </a:r>
          </a:p>
          <a:p>
            <a:pPr/>
            <a:r>
              <a:t>Subsequent years:** Annual single dose</a:t>
            </a:r>
          </a:p>
          <a:p>
            <a:pPr/>
            <a:r>
              <a:t>LAIV option:** Ages 2-8 years (better immunogenicity)</a:t>
            </a:r>
          </a:p>
          <a:p>
            <a:r>
              <a:rPr b="1"/>
              <a:t>Catch-up Situations:</a:t>
            </a:r>
          </a:p>
          <a:p>
            <a:pPr/>
            <a:r>
              <a:t>6-35 months:** 0.25 mL dose (standard pediatric formulation)</a:t>
            </a:r>
          </a:p>
          <a:p>
            <a:pPr/>
            <a:r>
              <a:t>36+ months:** Adult dose (0.5 mL)</a:t>
            </a:r>
          </a:p>
          <a:p>
            <a:pPr/>
            <a:r>
              <a:t>Historical barriers:** Needle fear, parental concerns</a:t>
            </a:r>
          </a:p>
          <a:p>
            <a:pPr/>
            <a:r>
              <a:t>School-based programs:** High coverage achievement potential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Pregnancy &amp; Maternal Immunization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Universal Recommendation: All trimesters safe and effective</a:t>
            </a:r>
          </a:p>
          <a:p>
            <a:r>
              <a:rPr b="1"/>
              <a:t>Maternal Benefits:</a:t>
            </a:r>
          </a:p>
          <a:p>
            <a:pPr/>
            <a:r>
              <a:t>Severe influenza prevention during pregnancy</a:t>
            </a:r>
          </a:p>
          <a:p>
            <a:pPr/>
            <a:r>
              <a:t>Reduced hospitalization and complications</a:t>
            </a:r>
          </a:p>
          <a:p>
            <a:pPr/>
            <a:r>
              <a:t>Postpartum immunity maintenance</a:t>
            </a:r>
          </a:p>
          <a:p>
            <a:r>
              <a:rPr b="1"/>
              <a:t>Fetal/Infant Benefits:</a:t>
            </a:r>
          </a:p>
          <a:p>
            <a:pPr/>
            <a:r>
              <a:t>Placental antibody transfer until 6 months</a:t>
            </a:r>
          </a:p>
          <a:p>
            <a:pPr/>
            <a:r>
              <a:t>Neonatal protection against severe illness</a:t>
            </a:r>
          </a:p>
          <a:p>
            <a:pPr/>
            <a:r>
              <a:t>Reduced infant hospitalization (31-63%)</a:t>
            </a:r>
          </a:p>
          <a:p>
            <a:pPr/>
            <a:r>
              <a:t>Extended protection through breastfeeding</a:t>
            </a:r>
          </a:p>
          <a:p>
            <a:r>
              <a:rPr b="1"/>
              <a:t>Safety Profile:</a:t>
            </a:r>
          </a:p>
          <a:p>
            <a:pPr/>
            <a:r>
              <a:t>Extensive safety data from millions of doses</a:t>
            </a:r>
          </a:p>
          <a:p>
            <a:pPr/>
            <a:r>
              <a:t>No increased adverse pregnancy outcomes</a:t>
            </a:r>
          </a:p>
          <a:p>
            <a:pPr/>
            <a:r>
              <a:t>Category B classification (FDA pregnancy categories)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Immunocompromised Patient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HIV-Infected Individuals:</a:t>
            </a:r>
          </a:p>
          <a:p>
            <a:pPr/>
            <a:r>
              <a:t>Safe regardless of CD4 count (&gt;200 recommended)</a:t>
            </a:r>
          </a:p>
          <a:p>
            <a:pPr/>
            <a:r>
              <a:t>Better response with CD4 &gt;500 cells/μL</a:t>
            </a:r>
          </a:p>
          <a:p>
            <a:pPr/>
            <a:r>
              <a:t>Combination with pneumococcal vaccination advised</a:t>
            </a:r>
          </a:p>
          <a:p>
            <a:pPr/>
            <a:r>
              <a:t>Annual revaccination recommended</a:t>
            </a:r>
          </a:p>
          <a:p>
            <a:r>
              <a:rPr b="1"/>
              <a:t>Cancer Patients:</a:t>
            </a:r>
          </a:p>
          <a:p>
            <a:pPr/>
            <a:r>
              <a:t>Timing with chemotherapy cycles crucial</a:t>
            </a:r>
          </a:p>
          <a:p>
            <a:pPr/>
            <a:r>
              <a:t>Safe during remission or stable disease</a:t>
            </a:r>
          </a:p>
          <a:p>
            <a:pPr/>
            <a:r>
              <a:t>May need higher antibody titers post-vaccination</a:t>
            </a:r>
          </a:p>
          <a:p>
            <a:pPr/>
            <a:r>
              <a:t>Often requires annual vaccination</a:t>
            </a:r>
          </a:p>
          <a:p>
            <a:r>
              <a:rPr b="1"/>
              <a:t>Organ Transplant Recipients:</a:t>
            </a:r>
          </a:p>
          <a:p>
            <a:pPr/>
            <a:r>
              <a:t>Post-transplant protection (3-6 months recommended)</a:t>
            </a:r>
          </a:p>
          <a:p>
            <a:pPr/>
            <a:r>
              <a:t>May require higher antigen doses</a:t>
            </a:r>
          </a:p>
          <a:p>
            <a:pPr/>
            <a:r>
              <a:t>Reduced response in immunosuppressive states</a:t>
            </a:r>
          </a:p>
          <a:p>
            <a:pPr/>
            <a:r>
              <a:t>Live vaccines (LAIV) generally contraindicated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Adverse Events and Safety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Common Local Reactions (10-30%):</a:t>
            </a:r>
          </a:p>
          <a:p>
            <a:pPr/>
            <a:r>
              <a:t>Injection site pain, redness, swelling</a:t>
            </a:r>
          </a:p>
          <a:p>
            <a:pPr/>
            <a:r>
              <a:t>Generally mild, resolve within 24-48 hours</a:t>
            </a:r>
          </a:p>
          <a:p>
            <a:pPr/>
            <a:r>
              <a:t>No specific treatment usually required</a:t>
            </a:r>
          </a:p>
          <a:p>
            <a:pPr/>
            <a:r>
              <a:t>Higher incidence with high-dose formulations</a:t>
            </a:r>
          </a:p>
          <a:p>
            <a:r>
              <a:rPr b="1"/>
              <a:t>Systemic Reactions (5-15%):</a:t>
            </a:r>
          </a:p>
          <a:p>
            <a:pPr/>
            <a:r>
              <a:t>Low-grade fever, fatigue, myalgia</a:t>
            </a:r>
          </a:p>
          <a:p>
            <a:pPr/>
            <a:r>
              <a:t>Headache, arthralgia, chills</a:t>
            </a:r>
          </a:p>
          <a:p>
            <a:pPr/>
            <a:r>
              <a:t>Generally self-limiting within 3-7 days</a:t>
            </a:r>
          </a:p>
          <a:p>
            <a:pPr/>
            <a:r>
              <a:t>More common in younger adults than elderly</a:t>
            </a:r>
          </a:p>
          <a:p>
            <a:r>
              <a:rPr b="1"/>
              <a:t>Rare Serious Events:</a:t>
            </a:r>
          </a:p>
          <a:p>
            <a:pPr/>
            <a:r>
              <a:t>Guillain-Barré syndrome:** Not causally linked (&lt;1:1 million doses)</a:t>
            </a:r>
          </a:p>
          <a:p>
            <a:pPr/>
            <a:r>
              <a:t>Anaphylaxis:** Extremely rare (1:1 million)</a:t>
            </a:r>
          </a:p>
          <a:p>
            <a:pPr/>
            <a:r>
              <a:t>New onset thrombocytopenia:** Idiopathic, coincidental</a:t>
            </a:r>
          </a:p>
          <a:p>
            <a:pPr/>
            <a:r>
              <a:t>Oculorespiratory syndrome:** Rare, self-limiting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LAIV (Live Attenuated) Special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Advantages over inactivated vaccines:</a:t>
            </a:r>
          </a:p>
          <a:p>
            <a:pPr/>
            <a:r>
              <a:t>Better mucosal immunity** (intranasal administration)</a:t>
            </a:r>
          </a:p>
          <a:p>
            <a:pPr/>
            <a:r>
              <a:t>Longer duration of protection</a:t>
            </a:r>
          </a:p>
          <a:p>
            <a:pPr/>
            <a:r>
              <a:t>Cross-protection** against drifted viruses</a:t>
            </a:r>
          </a:p>
          <a:p>
            <a:pPr/>
            <a:r>
              <a:t>Easier administration** (needle-free)</a:t>
            </a:r>
          </a:p>
          <a:p>
            <a:r>
              <a:rPr b="1"/>
              <a:t>Disadvantages &amp; Contraindications:</a:t>
            </a:r>
          </a:p>
          <a:p>
            <a:pPr/>
            <a:r>
              <a:t>Not recommended in pregnancy</a:t>
            </a:r>
          </a:p>
          <a:p>
            <a:pPr/>
            <a:r>
              <a:t>Contraindicated in immunocompromised</a:t>
            </a:r>
          </a:p>
          <a:p>
            <a:pPr/>
            <a:r>
              <a:t>Avoid in children with asthma** (risk of wheezing)</a:t>
            </a:r>
          </a:p>
          <a:p>
            <a:pPr/>
            <a:r>
              <a:t>Garlic/onion allergy** (stabilizer component)</a:t>
            </a:r>
          </a:p>
          <a:p>
            <a:pPr/>
            <a:r>
              <a:t>Recent influenza antiviral use** (reduces efficacy)</a:t>
            </a:r>
          </a:p>
          <a:p>
            <a:r>
              <a:rPr b="1"/>
              <a:t>Effectiveness Data:</a:t>
            </a:r>
          </a:p>
          <a:p>
            <a:pPr/>
            <a:r>
              <a:t>50-58% against antigenically matched viruses</a:t>
            </a:r>
          </a:p>
          <a:p>
            <a:pPr/>
            <a:r>
              <a:t>Better for children 2-17 years</a:t>
            </a:r>
          </a:p>
          <a:p>
            <a:pPr/>
            <a:r>
              <a:t>Lower effectiveness in adults &gt;60 years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Pandemic Preparedness - From Seasonal to Global Threat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Pandemic Influenza Characteristics:</a:t>
            </a:r>
          </a:p>
          <a:p>
            <a:pPr/>
            <a:r>
              <a:t>Rapid global spread** (R0=2.0-3.0)</a:t>
            </a:r>
          </a:p>
          <a:p>
            <a:pPr/>
            <a:r>
              <a:t>Novel viral strains** (limited population immunity)</a:t>
            </a:r>
          </a:p>
          <a:p>
            <a:pPr/>
            <a:r>
              <a:t>High healthcare system strain</a:t>
            </a:r>
          </a:p>
          <a:p>
            <a:pPr/>
            <a:r>
              <a:t>Economic disruption unparalleled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Pandemic Vaccine Development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Traditional Egg-Based Production:</a:t>
            </a:r>
          </a:p>
          <a:p>
            <a:pPr/>
            <a:r>
              <a:t>6-9 months development timeline</a:t>
            </a:r>
          </a:p>
          <a:p>
            <a:pPr/>
            <a:r>
              <a:t>Stockpiling of egg-adapted strains</a:t>
            </a:r>
          </a:p>
          <a:p>
            <a:pPr/>
            <a:r>
              <a:t>Global distribution challenges</a:t>
            </a:r>
          </a:p>
          <a:p>
            <a:pPr/>
            <a:r>
              <a:t>Limitations in low/middle-income countries</a:t>
            </a:r>
          </a:p>
          <a:p>
            <a:r>
              <a:rPr b="1"/>
              <a:t>Next-Generation Platforms:</a:t>
            </a:r>
          </a:p>
          <a:p>
            <a:r>
              <a:rPr b="1"/>
              <a:t>Cell-Based Vaccines:</a:t>
            </a:r>
          </a:p>
          <a:p>
            <a:pPr/>
            <a:r>
              <a:t>Faster production cycles** (weeks instead of months)</a:t>
            </a:r>
          </a:p>
          <a:p>
            <a:pPr/>
            <a:r>
              <a:t>No egg allergies risk</a:t>
            </a:r>
          </a:p>
          <a:p>
            <a:pPr/>
            <a:r>
              <a:t>Higher fidelity to circulating viruses</a:t>
            </a:r>
          </a:p>
          <a:p>
            <a:pPr/>
            <a:r>
              <a:t>Scalable manufacturing capacity</a:t>
            </a:r>
          </a:p>
          <a:p>
            <a:r>
              <a:rPr b="1"/>
              <a:t>RNA/DNA Vaccines:</a:t>
            </a:r>
          </a:p>
          <a:p>
            <a:pPr/>
            <a:r>
              <a:t>24-48 hour development** possible</a:t>
            </a:r>
          </a:p>
          <a:p>
            <a:pPr/>
            <a:r>
              <a:t>Highly adaptable** to any genetic sequence</a:t>
            </a:r>
          </a:p>
          <a:p>
            <a:pPr/>
            <a:r>
              <a:t>Stored in freeze-dried form** (long shelf-life)</a:t>
            </a:r>
          </a:p>
          <a:p>
            <a:pPr/>
            <a:r>
              <a:t>Pandemic-ready stockpiles** available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 Worker Vaccination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Professional Responsibility Framework:</a:t>
            </a:r>
          </a:p>
          <a:p>
            <a:r>
              <a:rPr b="1"/>
              <a:t>Patient Protection:</a:t>
            </a:r>
          </a:p>
          <a:p>
            <a:pPr/>
            <a:r>
              <a:t>Institutional safety** through herd immunity</a:t>
            </a:r>
          </a:p>
          <a:p>
            <a:pPr/>
            <a:r>
              <a:t>Prevention of nosocomial transmission</a:t>
            </a:r>
          </a:p>
          <a:p>
            <a:pPr/>
            <a:r>
              <a:t>Workplace absenteeism reduction</a:t>
            </a:r>
          </a:p>
          <a:p>
            <a:pPr/>
            <a:r>
              <a:t>Quality patient care continuity</a:t>
            </a:r>
          </a:p>
          <a:p>
            <a:r>
              <a:rPr b="1"/>
              <a:t>Personal Health Protection:</a:t>
            </a:r>
          </a:p>
          <a:p>
            <a:pPr/>
            <a:r>
              <a:t>Occupational hazard** in healthcare settings</a:t>
            </a:r>
          </a:p>
          <a:p>
            <a:pPr/>
            <a:r>
              <a:t>2009 H1N1 pandemic lessons** (high HCW mortality)</a:t>
            </a:r>
          </a:p>
          <a:p>
            <a:pPr/>
            <a:r>
              <a:t>Work-life balance** through illness prevention</a:t>
            </a:r>
          </a:p>
          <a:p>
            <a:pPr/>
            <a:r>
              <a:t>Medication compliance incentives</a:t>
            </a:r>
          </a:p>
          <a:p>
            <a:r>
              <a:rPr b="1"/>
              <a:t>Ethical Component:</a:t>
            </a:r>
          </a:p>
          <a:p>
            <a:pPr/>
            <a:r>
              <a:t>Duty of care** to vulnerable patients</a:t>
            </a:r>
          </a:p>
          <a:p>
            <a:pPr/>
            <a:r>
              <a:t>Benedict's principle** (first, do no harm)</a:t>
            </a:r>
          </a:p>
          <a:p>
            <a:pPr/>
            <a:r>
              <a:t>Institutional policies** vs individual autonomy</a:t>
            </a:r>
          </a:p>
          <a:p>
            <a:pPr/>
            <a:r>
              <a:t>Mandate effectiveness** in high-coverage settings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Vaccine Hesitancy in Influenza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Influenza-Specific Concerns:</a:t>
            </a:r>
          </a:p>
          <a:p>
            <a:pPr/>
            <a:r>
              <a:t>Response:* Seasonal influenza causes 290,000-650,000 deaths annually</a:t>
            </a:r>
          </a:p>
          <a:p>
            <a:pPr/>
            <a:r>
              <a:t>Response:* Inactivated vaccines cannot cause infection</a:t>
            </a:r>
          </a:p>
          <a:p>
            <a:pPr/>
            <a:r>
              <a:t>Response:* 5-20% of adults get symptomatic influenza annually</a:t>
            </a:r>
          </a:p>
          <a:p>
            <a:pPr/>
            <a:r>
              <a:t>Response:* Local reactions mild and transient (&lt;2% serious)</a:t>
            </a:r>
          </a:p>
          <a:p>
            <a:pPr/>
            <a:r>
              <a:t>Response:* Prevents maternal-fetal complications, safe in all trimesters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Cost-Effectiveness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Direct Cost Savings:</a:t>
            </a:r>
          </a:p>
          <a:p>
            <a:pPr/>
            <a:r>
              <a:t>Outpatient visits reduction:** 40-60% fewer consultations</a:t>
            </a:r>
          </a:p>
          <a:p>
            <a:pPr/>
            <a:r>
              <a:t>Hospitalization prevention:** 30-50% reduction in severe cases</a:t>
            </a:r>
          </a:p>
          <a:p>
            <a:pPr/>
            <a:r>
              <a:t>Antibiotic prescription decline:** 25-40% fewer prescriptions</a:t>
            </a:r>
          </a:p>
          <a:p>
            <a:pPr/>
            <a:r>
              <a:t>Work productivity gains:** 15-25% absenteeism reduction</a:t>
            </a:r>
          </a:p>
          <a:p>
            <a:r>
              <a:rPr b="1"/>
              <a:t>Cost per QALY:</a:t>
            </a:r>
          </a:p>
          <a:p>
            <a:pPr/>
            <a:r>
              <a:t>Developed countries:** $10,000-30,000 per QALY gained</a:t>
            </a:r>
          </a:p>
          <a:p>
            <a:pPr/>
            <a:r>
              <a:t>Developing countries:** Even more favorable economics</a:t>
            </a:r>
          </a:p>
          <a:p>
            <a:pPr/>
            <a:r>
              <a:t>Universal coverage ROI:** 2-5 fold return on investment</a:t>
            </a:r>
          </a:p>
          <a:p>
            <a:pPr/>
            <a:r>
              <a:t>Societal perspective:** 6-8 months to break even per vaccine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Repurposing for COVID-19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Established Surveillance Networks:</a:t>
            </a:r>
          </a:p>
          <a:p>
            <a:pPr/>
            <a:r>
              <a:t>WHO FluNet:** Global viral surveillance system</a:t>
            </a:r>
          </a:p>
          <a:p>
            <a:pPr/>
            <a:r>
              <a:t>EMFLU:** Emerging respiratory virus monitoring</a:t>
            </a:r>
          </a:p>
          <a:p>
            <a:pPr/>
            <a:r>
              <a:t>GISRs:** Global Influenza Surveillance States</a:t>
            </a:r>
          </a:p>
          <a:p>
            <a:pPr/>
            <a:r>
              <a:t>Real-time genomic sequencing</a:t>
            </a:r>
          </a:p>
          <a:p>
            <a:r>
              <a:rPr b="1"/>
              <a:t>Vaccine Manufacturing Capacity:</a:t>
            </a:r>
          </a:p>
          <a:p>
            <a:pPr/>
            <a:r>
              <a:t>Northern Hemisphere factories:** Rapid strain switching</a:t>
            </a:r>
          </a:p>
          <a:p>
            <a:pPr/>
            <a:r>
              <a:t>Southern Hemisphere positioning:** Year-round production</a:t>
            </a:r>
          </a:p>
          <a:p>
            <a:pPr/>
            <a:r>
              <a:t>Novel platform technologies:** mRNA vaccine adaptability</a:t>
            </a:r>
          </a:p>
          <a:p>
            <a:pPr/>
            <a:r>
              <a:t>Stockpile management:** Strategic reserve implementation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 - Universal Influenza Vaccines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Beyond Seasonal Vaccines:</a:t>
            </a:r>
          </a:p>
          <a:p>
            <a:r>
              <a:rPr b="1"/>
              <a:t>Conserved Epitope Vaccines:</a:t>
            </a:r>
          </a:p>
          <a:p>
            <a:pPr/>
            <a:r>
              <a:t>Hemagglutinin stalk** rather than head antigens</a:t>
            </a:r>
          </a:p>
          <a:p>
            <a:pPr/>
            <a:r>
              <a:t>Universal protection** against all influenza A subtypes</a:t>
            </a:r>
          </a:p>
          <a:p>
            <a:pPr/>
            <a:r>
              <a:t>Potent cross-protection** against drifted viruses</a:t>
            </a:r>
          </a:p>
          <a:p>
            <a:pPr/>
            <a:r>
              <a:t>Single-dose lifetime immunity** theoretical possibility</a:t>
            </a:r>
          </a:p>
          <a:p>
            <a:r>
              <a:rPr b="1"/>
              <a:t>Mucosal Administration:</a:t>
            </a:r>
          </a:p>
          <a:p>
            <a:pPr/>
            <a:r>
              <a:t>Intranasal delivery** for superior local immunity</a:t>
            </a:r>
          </a:p>
          <a:p>
            <a:pPr/>
            <a:r>
              <a:t>Mucosal adjuvants** to enhance response</a:t>
            </a:r>
          </a:p>
          <a:p>
            <a:pPr/>
            <a:r>
              <a:t>Easier administration** for mass campaigns</a:t>
            </a:r>
          </a:p>
          <a:p>
            <a:pPr/>
            <a:r>
              <a:t>No injection anxiety** barriers</a:t>
            </a:r>
          </a:p>
          <a:p>
            <a:r>
              <a:rPr b="1"/>
              <a:t>Combination Vaccines:</a:t>
            </a:r>
          </a:p>
          <a:p>
            <a:pPr/>
            <a:r>
              <a:t>Single-shot protection** (influenza + pneumococcal)</a:t>
            </a:r>
          </a:p>
          <a:p>
            <a:pPr/>
            <a:r>
              <a:t>COVID-19 integration** for respiratory protection</a:t>
            </a:r>
          </a:p>
          <a:p>
            <a:pPr/>
            <a:r>
              <a:t>Adjuvanted formulations** for older adults</a:t>
            </a:r>
          </a:p>
          <a:p>
            <a:pPr/>
            <a:r>
              <a:t>Personalized vaccination** by genetic risk factors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CBME Key Assessment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Question: Influenza vaccine effectiveness in elderly?</a:t>
            </a:r>
          </a:p>
          <a:p>
            <a:pPr/>
            <a:r>
              <a:t>A) 20-30%</a:t>
            </a:r>
          </a:p>
          <a:p>
            <a:pPr/>
            <a:r>
              <a:t>B) 50-70% against severe outcomes ⭐</a:t>
            </a:r>
          </a:p>
          <a:p>
            <a:pPr/>
            <a:r>
              <a:t>C) 80-90%</a:t>
            </a:r>
          </a:p>
          <a:p>
            <a:pPr/>
            <a:r>
              <a:t>D) 0-10%</a:t>
            </a:r>
          </a:p>
          <a:p>
            <a:r>
              <a:rPr b="1"/>
              <a:t>Question: LAIV effectiveness in children vs adults?</a:t>
            </a:r>
          </a:p>
          <a:p>
            <a:pPr/>
            <a:r>
              <a:t>A) Better in adults</a:t>
            </a:r>
          </a:p>
          <a:p>
            <a:pPr/>
            <a:r>
              <a:t>B) Equal effectiveness</a:t>
            </a:r>
          </a:p>
          <a:p>
            <a:pPr/>
            <a:r>
              <a:t>C) Better in children (&gt;60%) ⭐</a:t>
            </a:r>
          </a:p>
          <a:p>
            <a:pPr/>
            <a:r>
              <a:t>D) Not effective in either</a:t>
            </a:r>
          </a:p>
          <a:p>
            <a:r>
              <a:rPr b="1"/>
              <a:t>Question: Pregnancy influenza vaccination timing?</a:t>
            </a:r>
          </a:p>
          <a:p>
            <a:pPr/>
            <a:r>
              <a:t>A) Only first trimester</a:t>
            </a:r>
          </a:p>
          <a:p>
            <a:pPr/>
            <a:r>
              <a:t>B) Only second trimester</a:t>
            </a:r>
          </a:p>
          <a:p>
            <a:pPr/>
            <a:r>
              <a:t>C) All trimesters safe ⭐</a:t>
            </a:r>
          </a:p>
          <a:p>
            <a:pPr/>
            <a:r>
              <a:t>D) Only postpartum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Decision-Making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Case 1: 75-year-old COPD Patient</a:t>
            </a:r>
          </a:p>
          <a:p>
            <a:pPr/>
            <a:r>
              <a:t>History: Frequent exacerbations, recent hospitalization</a:t>
            </a:r>
          </a:p>
          <a:p>
            <a:pPr/>
            <a:r>
              <a:t>Recommendation: High-dose quadrivalent influenza vaccine</a:t>
            </a:r>
          </a:p>
          <a:p>
            <a:pPr/>
            <a:r>
              <a:t>Rationale: Enhanced immunogenicity in elderly + COPD risk</a:t>
            </a:r>
          </a:p>
          <a:p>
            <a:pPr/>
            <a:r>
              <a:t>Additional: Pneumococcal vaccination for comprehensive protection</a:t>
            </a:r>
          </a:p>
          <a:p>
            <a:r>
              <a:rPr b="1"/>
              <a:t>Case 2: 32-year-old Pregnant Healthcare Worker</a:t>
            </a:r>
          </a:p>
          <a:p>
            <a:pPr/>
            <a:r>
              <a:t>Trimester: Second trimester, multiple patient contacts</a:t>
            </a:r>
          </a:p>
          <a:p>
            <a:pPr/>
            <a:r>
              <a:t>Recommendation: Standard quadrivalent IIV</a:t>
            </a:r>
          </a:p>
          <a:p>
            <a:pPr/>
            <a:r>
              <a:t>Rationale: Fetal protection + occupational risk reduction</a:t>
            </a:r>
          </a:p>
          <a:p>
            <a:pPr/>
            <a:r>
              <a:t>Counseling: Safety profile, benefit-to-risk assessment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Evaluation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Learning Experience Assessment:</a:t>
            </a:r>
          </a:p>
          <a:p>
            <a:r>
              <a:t>What was most valuable today? __________</a:t>
            </a:r>
          </a:p>
          <a:p>
            <a:r>
              <a:t>What needs more emphasis? __________</a:t>
            </a:r>
          </a:p>
          <a:p>
            <a:r>
              <a:t>Additional topics you'd like covered? __________</a:t>
            </a:r>
          </a:p>
          <a:p>
            <a:r>
              <a:t/>
            </a:r>
            <a:r>
              <a:rPr b="1"/>
              <a:t>Overall Rating:</a:t>
            </a:r>
            <a:r>
              <a:t> ⭐⭐⭐⭐⭐</a:t>
            </a:r>
          </a:p>
          <a:p>
            <a:r>
              <a:rPr b="1"/>
              <a:t>Interactive Discussion Topics:</a:t>
            </a:r>
          </a:p>
          <a:p>
            <a:pPr/>
            <a:r>
              <a:t>Hospital policy on mandatory HCW vaccination</a:t>
            </a:r>
          </a:p>
          <a:p>
            <a:pPr/>
            <a:r>
              <a:t>Challenges in rural immunization delivery</a:t>
            </a:r>
          </a:p>
          <a:p>
            <a:pPr/>
            <a:r>
              <a:t>Integration with existing respiratory illness programs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Implementation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Clinic-Level Integration:</a:t>
            </a:r>
          </a:p>
          <a:p>
            <a:pPr/>
            <a:r>
              <a:t>Annual campaigns:** September-November focused activities</a:t>
            </a:r>
          </a:p>
          <a:p>
            <a:pPr/>
            <a:r>
              <a:t>Standing order protocols:** Nurse-initiated vaccination</a:t>
            </a:r>
          </a:p>
          <a:p>
            <a:pPr/>
            <a:r>
              <a:t>Reminder systems:** Automated patient messaging</a:t>
            </a:r>
          </a:p>
          <a:p>
            <a:pPr/>
            <a:r>
              <a:t>Documentation:** Integration with medical records</a:t>
            </a:r>
          </a:p>
          <a:p>
            <a:r>
              <a:rPr b="1"/>
              <a:t>Community Approaches:</a:t>
            </a:r>
          </a:p>
          <a:p>
            <a:pPr/>
            <a:r>
              <a:t>Pharmacy partnerships:** Extended access hours</a:t>
            </a:r>
          </a:p>
          <a:p>
            <a:pPr/>
            <a:r>
              <a:t>Workplace vaccination:** Employer-sponsored programs</a:t>
            </a:r>
          </a:p>
          <a:p>
            <a:pPr/>
            <a:r>
              <a:t>Senior center campaigns:** Concentrated vulnerable populations</a:t>
            </a:r>
          </a:p>
          <a:p>
            <a:pPr/>
            <a:r>
              <a:t>Door-to-door services:** Hard-to-reach geographic areas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📚 Key Guidelines (2024 Updates):</a:t>
            </a:r>
          </a:p>
          <a:p>
            <a:r>
              <a:t>1. </a:t>
            </a:r>
            <a:r>
              <a:rPr b="1"/>
              <a:t>ACIP Influenza Vaccination Recommendations</a:t>
            </a:r>
            <a:r>
              <a:t/>
            </a:r>
          </a:p>
          <a:p>
            <a:r>
              <a:t>2. </a:t>
            </a:r>
            <a:r>
              <a:rPr b="1"/>
              <a:t>WHO Global Influenza Strategy 2019-2030</a:t>
            </a:r>
            <a:r>
              <a:t/>
            </a:r>
          </a:p>
          <a:p>
            <a:r>
              <a:t>3. </a:t>
            </a:r>
            <a:r>
              <a:rPr b="1"/>
              <a:t>CDC Pink Book - Influenza Chapter</a:t>
            </a:r>
            <a:r>
              <a:t/>
            </a:r>
          </a:p>
          <a:p>
            <a:r>
              <a:t>4. </a:t>
            </a:r>
            <a:r>
              <a:rPr b="1"/>
              <a:t>IAP Pediatric Immunization Schedule India</a:t>
            </a:r>
            <a:r>
              <a:t/>
            </a:r>
          </a:p>
          <a:p>
            <a:r>
              <a:rPr b="1"/>
              <a:t>🔗 Online Platforms:</a:t>
            </a:r>
          </a:p>
          <a:p>
            <a:pPr/>
            <a:r>
              <a:t>CDC Influenza:** https://www.cdc.gov/flu</a:t>
            </a:r>
          </a:p>
          <a:p>
            <a:pPr/>
            <a:r>
              <a:t>WHO FluNet:** https://www.who.int/tools/flunet</a:t>
            </a:r>
          </a:p>
          <a:p>
            <a:pPr/>
            <a:r>
              <a:t>Influenza Research Database:** Comprehensive literature</a:t>
            </a:r>
          </a:p>
          <a:p>
            <a:pPr/>
            <a:r>
              <a:t>VIA - Vaccine Information for Adults:** ACIP resource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Session: Program Implementation (Chapter 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Building on Influenza Foundation:</a:t>
            </a:r>
          </a:p>
          <a:p>
            <a:pPr/>
            <a:r>
              <a:t>Coverage monitoring systems</a:t>
            </a:r>
          </a:p>
          <a:p>
            <a:pPr/>
            <a:r>
              <a:t>Social mobilization strategies</a:t>
            </a:r>
          </a:p>
          <a:p>
            <a:pPr/>
            <a:r>
              <a:t>Cold chain logistics excellence</a:t>
            </a:r>
          </a:p>
          <a:p>
            <a:pPr/>
            <a:r>
              <a:t>Quality assurance frameworks</a:t>
            </a:r>
          </a:p>
          <a:p>
            <a:pPr/>
            <a:r>
              <a:t>Digital transformation in immunization</a:t>
            </a:r>
          </a:p>
          <a:p>
            <a:r>
              <a:rPr b="1"/>
              <a:t>Key Takeaways from Today's Session:</a:t>
            </a:r>
          </a:p>
          <a:p>
            <a:pPr/>
            <a:r>
              <a:t>Vaccination prevents 50-80% of influenza pneumonia cases</a:t>
            </a:r>
          </a:p>
          <a:p>
            <a:pPr/>
            <a:r>
              <a:t>Annual updates required due to viral evolution</a:t>
            </a:r>
          </a:p>
          <a:p>
            <a:pPr/>
            <a:r>
              <a:t>Universal recommendation benefits all age groups</a:t>
            </a:r>
          </a:p>
          <a:p>
            <a:pPr/>
            <a:r>
              <a:t>Pregnancy safe and effective for mother-baby protection</a:t>
            </a:r>
          </a:p>
          <a:p>
            <a:pPr/>
            <a:r>
              <a:t>Healthcare workers have ethical vaccination responsibility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