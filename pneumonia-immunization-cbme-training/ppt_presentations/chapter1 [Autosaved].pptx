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1642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## Slide 1: Title Slide</a:t>
            </a:r>
          </a:p>
          <a:p>
            <a:pPr>
              <a:defRPr b="1"/>
            </a:pPr>
            <a:r>
              <a:rPr dirty="0"/>
              <a:t>Chapter 1: Introduction to Pneumonia - Epidemiology &amp; Pathophysiology</a:t>
            </a:r>
          </a:p>
          <a:p>
            <a:r>
              <a:rPr dirty="0"/>
              <a:t>Associate Professor, Community Medicine</a:t>
            </a:r>
          </a:p>
          <a:p>
            <a:r>
              <a:rPr dirty="0"/>
              <a:t>MBBS Phase 3 Part 1 Integration Class - Day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b="1"/>
            </a:pPr>
            <a:r>
              <a:rPr dirty="0"/>
              <a:t>By end of this session, MBBS students will be able to:</a:t>
            </a:r>
          </a:p>
          <a:p>
            <a:r>
              <a:rPr dirty="0"/>
              <a:t>1. Define pneumonia using clinical &amp; radiological criteria</a:t>
            </a:r>
          </a:p>
          <a:p>
            <a:r>
              <a:rPr dirty="0"/>
              <a:t>2. Classify pneumonia types by etiology &amp; acquisition</a:t>
            </a:r>
          </a:p>
          <a:p>
            <a:r>
              <a:rPr dirty="0"/>
              <a:t>3. Explain global &amp; national pneumonia burden data</a:t>
            </a:r>
          </a:p>
          <a:p>
            <a:r>
              <a:rPr dirty="0"/>
              <a:t>4. Describe pathophysiological mechanisms of pneumonia</a:t>
            </a:r>
          </a:p>
          <a:p>
            <a:r>
              <a:rPr dirty="0"/>
              <a:t>5. Identify host &amp; environmental risk factors</a:t>
            </a:r>
          </a:p>
          <a:p>
            <a:pPr>
              <a:defRPr b="1"/>
            </a:pPr>
            <a:r>
              <a:rPr dirty="0"/>
              <a:t>CBME Competencies: Medical Knowledge, Patient Care, Systems-Based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Pneumonia?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rPr dirty="0"/>
              <a:t>Acute infection of lung parenchyma characterized by:</a:t>
            </a:r>
          </a:p>
          <a:p>
            <a:r>
              <a:rPr dirty="0"/>
              <a:t>Consolidation of alveoli</a:t>
            </a:r>
          </a:p>
          <a:p>
            <a:r>
              <a:rPr dirty="0"/>
              <a:t>Inflammatory exudate accumulation</a:t>
            </a:r>
          </a:p>
          <a:p>
            <a:r>
              <a:rPr dirty="0"/>
              <a:t>Impaired gas exchange</a:t>
            </a:r>
          </a:p>
          <a:p>
            <a:r>
              <a:rPr dirty="0"/>
              <a:t>Typical vs Atypical presentations</a:t>
            </a:r>
          </a:p>
          <a:p>
            <a:r>
              <a:rPr dirty="0"/>
              <a:t>Community vs Hospital-acquired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Pneumonia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 |  **Category**  |  **Definition**  |  **Examples**  |  **Microbiology**  | </a:t>
            </a:r>
          </a:p>
          <a:p>
            <a:r>
              <a:t>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Pneumonia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📊 Key Statistics:</a:t>
            </a:r>
          </a:p>
          <a:p>
            <a:r>
              <a:t>Annual cases: 156 million worldwide</a:t>
            </a:r>
          </a:p>
          <a:p>
            <a:r>
              <a:t>Annual deaths: 2.5 million people</a:t>
            </a:r>
          </a:p>
          <a:p>
            <a:r>
              <a:t>Leading cause: Top infectious disease killer</a:t>
            </a:r>
          </a:p>
          <a:p>
            <a:r>
              <a:t>Age distribution: 71% in children &lt;5 years</a:t>
            </a:r>
          </a:p>
          <a:p>
            <a:r>
              <a:t>Adult mortality: 600,000 deaths annually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Pneumonia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🇮🇳 Indian Context:</a:t>
            </a:r>
          </a:p>
          <a:p>
            <a:r>
              <a:t>Annual episodes: 40-50 million cases</a:t>
            </a:r>
          </a:p>
          <a:p>
            <a:r>
              <a:t>Mortality rate: 340,000 deaths annually</a:t>
            </a:r>
          </a:p>
          <a:p>
            <a:r>
              <a:t>Case fatality: 2.3 per 1,000 persons</a:t>
            </a:r>
          </a:p>
          <a:p>
            <a:r>
              <a:t>Child mortality: 17% of under-5 deaths</a:t>
            </a:r>
          </a:p>
          <a:p>
            <a:r>
              <a:t>Highest burden: Uttar Pradesh, Bihar, Rajasthan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Etiological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Microbial Spectrum in CAP:</a:t>
            </a:r>
          </a:p>
          <a:p>
            <a:r>
              <a:t>1. *Streptococcus pneumoniae* - 25-40% (most common bacterial)</a:t>
            </a:r>
          </a:p>
          <a:p>
            <a:r>
              <a:t>2. *Mycoplasma pneumoniae* - 15-30% (school-age peak)</a:t>
            </a:r>
          </a:p>
          <a:p>
            <a:r>
              <a:t>3. *Chlamydophila pneumoniae* - 10-15% (young adults)</a:t>
            </a:r>
          </a:p>
          <a:p>
            <a:r>
              <a:t>4. *Haemophilus influenzae* - 5-15% (COPD patients)</a:t>
            </a:r>
          </a:p>
          <a:p>
            <a:r>
              <a:t>5. *Legionella pneumophila* - 2-10% (water systems)</a:t>
            </a:r>
          </a:p>
          <a:p>
            <a:r>
              <a:t>6. *Respiratory viruses* - 15-20% (winter epidemics)</a:t>
            </a:r>
          </a:p>
          <a:p>
            <a:r>
              <a:t>7. *Staphylococcus aureus* - 2-5% (post-viral)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for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b="1"/>
            </a:pPr>
            <a:r>
              <a:rPr dirty="0"/>
              <a:t>Host Factors:</a:t>
            </a:r>
          </a:p>
          <a:p>
            <a:r>
              <a:rPr dirty="0"/>
              <a:t>Age extremes: &lt;2 years and &gt;65 years</a:t>
            </a:r>
          </a:p>
          <a:p>
            <a:r>
              <a:rPr dirty="0"/>
              <a:t>Underlying diseases: COPD, diabetes, heart failure</a:t>
            </a:r>
          </a:p>
          <a:p>
            <a:r>
              <a:rPr dirty="0"/>
              <a:t>Immunodeficiency: HIV, malignancy, immunosuppression</a:t>
            </a:r>
          </a:p>
          <a:p>
            <a:r>
              <a:rPr dirty="0"/>
              <a:t>Lifestyle: Smoking, alcoholism, poor nutrition</a:t>
            </a:r>
          </a:p>
          <a:p>
            <a:pPr>
              <a:defRPr b="1"/>
            </a:pPr>
            <a:r>
              <a:rPr dirty="0"/>
              <a:t>Environmental Factors:</a:t>
            </a:r>
          </a:p>
          <a:p>
            <a:r>
              <a:rPr dirty="0"/>
              <a:t>Air pollution: Indoor smoke, particulate matter</a:t>
            </a:r>
          </a:p>
          <a:p>
            <a:r>
              <a:rPr dirty="0"/>
              <a:t>Crowding: Urban slums, dormitories</a:t>
            </a:r>
          </a:p>
          <a:p>
            <a:r>
              <a:rPr dirty="0"/>
              <a:t>Malnutrition: Vitamin A, zinc deficiency</a:t>
            </a:r>
          </a:p>
          <a:p>
            <a:r>
              <a:rPr dirty="0"/>
              <a:t>Seasonal: Winter epidemics, monsoon peaks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Pathophysiology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b="1"/>
            </a:pPr>
            <a:r>
              <a:rPr dirty="0"/>
              <a:t>Four-Step Sequence:</a:t>
            </a:r>
          </a:p>
          <a:p>
            <a:r>
              <a:rPr dirty="0"/>
              <a:t>1. *Colonization* - Pathogen adheres to epithelium</a:t>
            </a:r>
          </a:p>
          <a:p>
            <a:r>
              <a:rPr dirty="0"/>
              <a:t>2. *Invasion* - Bacterial multiplication in alveoli</a:t>
            </a:r>
          </a:p>
          <a:p>
            <a:r>
              <a:rPr dirty="0"/>
              <a:t>3. *Inflammation* - Cytokine release, neutrophil migration</a:t>
            </a:r>
          </a:p>
          <a:p>
            <a:r>
              <a:rPr dirty="0"/>
              <a:t>4. *Consolidation* - Exudate fills air spaces, impairs gas exchange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 Defense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Anatomical Barriers:</a:t>
            </a:r>
          </a:p>
          <a:p>
            <a:r>
              <a:t>Upper airways: Nasal filtration, mucociliary clearance</a:t>
            </a:r>
          </a:p>
          <a:p>
            <a:r>
              <a:t>Cough reflex: Prevents aspiration</a:t>
            </a:r>
          </a:p>
          <a:p>
            <a:r>
              <a:t>Bronchial tree: Hair cells, mucus production</a:t>
            </a:r>
          </a:p>
          <a:p>
            <a:pPr>
              <a:defRPr b="1"/>
            </a:pPr>
            <a:r>
              <a:t>Cellular Immunity:</a:t>
            </a:r>
          </a:p>
          <a:p>
            <a:r>
              <a:t>Alveolar macrophages: Phagocytosis</a:t>
            </a:r>
          </a:p>
          <a:p>
            <a:r>
              <a:t>Neutrophils: Acute inflammatory response</a:t>
            </a:r>
          </a:p>
          <a:p>
            <a:r>
              <a:t>Complement system: Opsonization, chemotaxis</a:t>
            </a:r>
          </a:p>
          <a:p>
            <a:pPr>
              <a:defRPr b="1"/>
            </a:pPr>
            <a:r>
              <a:t>Humoral Immunity:</a:t>
            </a:r>
          </a:p>
          <a:p>
            <a:r>
              <a:t>Antibodies: Serotype-specific protection</a:t>
            </a:r>
          </a:p>
          <a:p>
            <a:r>
              <a:t>Immunoglobulins: IgG, IgM, IgA</a:t>
            </a:r>
          </a:p>
          <a:p>
            <a:r>
              <a:t>Memory cells: Long-term immunity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Aspiration vs Inhalation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Aspiration Pneumonia:</a:t>
            </a:r>
          </a:p>
          <a:p>
            <a:r>
              <a:t>Most common route: Oropharyngeal contents</a:t>
            </a:r>
          </a:p>
          <a:p>
            <a:r>
              <a:t>Risk factors: CNS disorders, dysphagia, unconsciousness</a:t>
            </a:r>
          </a:p>
          <a:p>
            <a:r>
              <a:t>Anaerobic bacteria: Predominant in elderly</a:t>
            </a:r>
          </a:p>
          <a:p>
            <a:r>
              <a:t>Chemical pneumonitis: Gastric acid injury</a:t>
            </a:r>
          </a:p>
          <a:p>
            <a:pPr>
              <a:defRPr b="1"/>
            </a:pPr>
            <a:r>
              <a:t>Inhalation Pneumonia:</a:t>
            </a:r>
          </a:p>
          <a:p>
            <a:r>
              <a:t>Droplet nuclei: Mycobacteria, viruses, Legionella</a:t>
            </a:r>
          </a:p>
          <a:p>
            <a:r>
              <a:t>Airborne transmission: RSV, influenza aerosols</a:t>
            </a:r>
          </a:p>
          <a:p>
            <a:r>
              <a:t>Smaller inoculum: Survives upper airway defenses</a:t>
            </a:r>
          </a:p>
          <a:p>
            <a:r>
              <a:t>Diffuse involvement: Often bilateral distribution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vs Atypical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 |  **Feature**  |  **Typical Pneumonia**  |  **Atypical Pneumonia**  | </a:t>
            </a:r>
          </a:p>
          <a:p>
            <a:r>
              <a:t>|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Respiratory Symptoms:</a:t>
            </a:r>
          </a:p>
          <a:p>
            <a:r>
              <a:t>Dyspnea: Progressive shortness of breath</a:t>
            </a:r>
          </a:p>
          <a:p>
            <a:r>
              <a:t>Cough: Dry → productive with purulent sputum</a:t>
            </a:r>
          </a:p>
          <a:p>
            <a:r>
              <a:t>Chest pain: Pleuritic, worse on inspiration</a:t>
            </a:r>
          </a:p>
          <a:p>
            <a:r>
              <a:t>Hemoptysis: Rusty sputum (S. pneumoniae)</a:t>
            </a:r>
          </a:p>
          <a:p>
            <a:pPr>
              <a:defRPr b="1"/>
            </a:pPr>
            <a:r>
              <a:t>Systemic Symptoms:</a:t>
            </a:r>
          </a:p>
          <a:p>
            <a:r>
              <a:t>Fever: High-grade with chills/rigors</a:t>
            </a:r>
          </a:p>
          <a:p>
            <a:r>
              <a:t>Fatigue: Generalized weakness</a:t>
            </a:r>
          </a:p>
          <a:p>
            <a:r>
              <a:t>Anorexia: Loss of appetite</a:t>
            </a:r>
          </a:p>
          <a:p>
            <a:r>
              <a:t>Myalgias: Muscle aches and pains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Complications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Respiratory Complications:</a:t>
            </a:r>
          </a:p>
          <a:p>
            <a:r>
              <a:t>Pleural effusion/empyema</a:t>
            </a:r>
          </a:p>
          <a:p>
            <a:r>
              <a:t>Lung abscess</a:t>
            </a:r>
          </a:p>
          <a:p>
            <a:r>
              <a:t>Pneumothorax</a:t>
            </a:r>
          </a:p>
          <a:p>
            <a:r>
              <a:t>ARDS</a:t>
            </a:r>
          </a:p>
          <a:p>
            <a:pPr>
              <a:defRPr b="1"/>
            </a:pPr>
            <a:r>
              <a:t>Systemic Complications:</a:t>
            </a:r>
          </a:p>
          <a:p>
            <a:r>
              <a:t>Sepsis/septic shock</a:t>
            </a:r>
          </a:p>
          <a:p>
            <a:r>
              <a:t>Acute kidney injury</a:t>
            </a:r>
          </a:p>
          <a:p>
            <a:r>
              <a:t>Heart complications</a:t>
            </a:r>
          </a:p>
          <a:p>
            <a:r>
              <a:t>Metabolic disorders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CBME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Question 1: Most common cause of CAP?</a:t>
            </a:r>
          </a:p>
          <a:p>
            <a:r>
              <a:t>A) Haemophilus influenzae</a:t>
            </a:r>
          </a:p>
          <a:p>
            <a:r>
              <a:t>B) Streptococcus pneumoniae ⭐</a:t>
            </a:r>
          </a:p>
          <a:p>
            <a:r>
              <a:t>C) Mycoplasma pneumoniae</a:t>
            </a:r>
          </a:p>
          <a:p>
            <a:r>
              <a:t>D) Legionella pneumophila</a:t>
            </a:r>
          </a:p>
          <a:p>
            <a:pPr>
              <a:defRPr b="1"/>
            </a:pPr>
            <a:r>
              <a:t>Question 2: Pneumonia mortality in India?</a:t>
            </a:r>
          </a:p>
          <a:p>
            <a:r>
              <a:t>A) 10,000 deaths/year</a:t>
            </a:r>
          </a:p>
          <a:p>
            <a:r>
              <a:t>B) 50,000 deaths/year</a:t>
            </a:r>
          </a:p>
          <a:p>
            <a:r>
              <a:t>C) 340,000 deaths/year ⭐</a:t>
            </a:r>
          </a:p>
          <a:p>
            <a:r>
              <a:t>D) 1 million deaths/year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📋 In-Class Activities:</a:t>
            </a:r>
          </a:p>
          <a:p>
            <a:r>
              <a:t>1. *Case Analysis:* Review 3 pneumonia patient scenarios</a:t>
            </a:r>
          </a:p>
          <a:p>
            <a:r>
              <a:t>2. *Risk Factor Mapping:* Group exercise on local determinants</a:t>
            </a:r>
          </a:p>
          <a:p>
            <a:r>
              <a:t>3. *Microbiology Quiz:* Identify pathogens from descriptions</a:t>
            </a:r>
          </a:p>
          <a:p>
            <a:r>
              <a:t>4. *Epidemiology Exercise:* Calculate local pneumonia burden</a:t>
            </a:r>
          </a:p>
          <a:p>
            <a:pPr>
              <a:defRPr b="1"/>
            </a:pPr>
            <a:r>
              <a:t>🏠 Homework Assignment:</a:t>
            </a:r>
          </a:p>
          <a:p>
            <a:r>
              <a:t>Recall one pneumonia case from recent clinical posting</a:t>
            </a:r>
          </a:p>
          <a:p>
            <a:r>
              <a:t>Identify risk factors present in that patient</a:t>
            </a:r>
          </a:p>
          <a:p>
            <a:r>
              <a:t>Research local pneumonia statistics for tomorrow's discussion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🧠 Remember These Points:</a:t>
            </a:r>
          </a:p>
          <a:p>
            <a:r>
              <a:t>1. *Pneumonia = Acute lung infection with consolidation*</a:t>
            </a:r>
          </a:p>
          <a:p>
            <a:r>
              <a:t>2. *2.5 million deaths globally - mostly preventable*</a:t>
            </a:r>
          </a:p>
          <a:p>
            <a:r>
              <a:t>3. *S. pneumoniae most common bacterial cause*</a:t>
            </a:r>
          </a:p>
          <a:p>
            <a:r>
              <a:t>4. *Host + environmental factors determine risk*</a:t>
            </a:r>
          </a:p>
          <a:p>
            <a:r>
              <a:t>5. *Typical vs atypical clinical presentations differ*</a:t>
            </a:r>
          </a:p>
          <a:p>
            <a:r>
              <a:t>6. *Vaccination prevents most vaccine-preventable pneumonia*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b="1"/>
            </a:pPr>
            <a:r>
              <a:rPr dirty="0"/>
              <a:t>📚 Key References:</a:t>
            </a:r>
          </a:p>
          <a:p>
            <a:r>
              <a:rPr dirty="0"/>
              <a:t>1. WHO Pneumonia Fact Sheet (2023)</a:t>
            </a:r>
          </a:p>
          <a:p>
            <a:r>
              <a:rPr dirty="0"/>
              <a:t>2. Indian Academy of Pediatrics Guidelines (2022)</a:t>
            </a:r>
          </a:p>
          <a:p>
            <a:r>
              <a:rPr dirty="0"/>
              <a:t>3. ATS/IDSA CAP Guidelines (2019)</a:t>
            </a:r>
          </a:p>
          <a:p>
            <a:r>
              <a:rPr dirty="0"/>
              <a:t>4. Mandell LA, et al. Clinical Infectious Diseases (2019)</a:t>
            </a:r>
          </a:p>
          <a:p>
            <a:pPr>
              <a:defRPr b="1"/>
            </a:pPr>
            <a:r>
              <a:rPr dirty="0"/>
              <a:t>🔗 Useful Links:</a:t>
            </a:r>
          </a:p>
          <a:p>
            <a:r>
              <a:rPr dirty="0"/>
              <a:t>WHO Pneumonia: https://www.who.int/health-topics/pneumonia</a:t>
            </a:r>
          </a:p>
          <a:p>
            <a:r>
              <a:rPr dirty="0"/>
              <a:t>IAP Guidelines: https://iapindia.org/guidelines/</a:t>
            </a:r>
          </a:p>
          <a:p>
            <a:r>
              <a:rPr dirty="0"/>
              <a:t>CDC Pneumonia: https://www.cdc.gov/pneumonia/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Please provide feedback:</a:t>
            </a:r>
          </a:p>
          <a:p>
            <a:r>
              <a:rPr b="1"/>
              <a:t>What was most useful? __________</a:t>
            </a:r>
          </a:p>
          <a:p>
            <a:r>
              <a:rPr b="1"/>
              <a:t>What needs improvement? __________</a:t>
            </a:r>
          </a:p>
          <a:p>
            <a:r>
              <a:rPr b="1"/>
              <a:t>Additional topics to cover? __________</a:t>
            </a:r>
          </a:p>
          <a:p>
            <a:pPr>
              <a:defRPr b="1"/>
            </a:pPr>
            <a:r>
              <a:t>Overall rating: ⭐⭐⭐⭐⭐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Email: hssling@yahoo.com</a:t>
            </a:r>
          </a:p>
          <a:p>
            <a:r>
              <a:t>Phone: +91-8941087719</a:t>
            </a:r>
          </a:p>
          <a:p>
            <a:r>
              <a:rPr b="1"/>
              <a:t>Next Session: Chapter 2 - Pneumonia Classification (CAP vs HAP)</a:t>
            </a:r>
          </a:p>
          <a:p>
            <a:r>
              <a:rPr b="1"/>
              <a:t>Date: [Insert date] | Time: 9:00 AM - 10:30 AM</a:t>
            </a:r>
          </a:p>
          <a:p>
            <a:r>
              <a:rPr b="1"/>
              <a:t>Venue: Integration Class Hall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1077</Words>
  <Application>Microsoft Office PowerPoint</Application>
  <PresentationFormat>On-screen Show (4:3)</PresentationFormat>
  <Paragraphs>185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Title Slide</vt:lpstr>
      <vt:lpstr>Learning Objectives</vt:lpstr>
      <vt:lpstr>What is Pneumonia?</vt:lpstr>
      <vt:lpstr>Pneumonia Classification</vt:lpstr>
      <vt:lpstr>Slide</vt:lpstr>
      <vt:lpstr>Slide</vt:lpstr>
      <vt:lpstr>Slide</vt:lpstr>
      <vt:lpstr>Slide</vt:lpstr>
      <vt:lpstr>Global Pneumonia Burden</vt:lpstr>
      <vt:lpstr>Indian Pneumonia Statistics</vt:lpstr>
      <vt:lpstr>Etiological Agents</vt:lpstr>
      <vt:lpstr>Risk Factors for Pneumonia</vt:lpstr>
      <vt:lpstr>Pathophysiology of Pneumonia</vt:lpstr>
      <vt:lpstr>Host Defense Mechanisms</vt:lpstr>
      <vt:lpstr>Aspiration vs Inhalation Routes</vt:lpstr>
      <vt:lpstr>Typical vs Atypical Pneumonia</vt:lpstr>
      <vt:lpstr>Slide</vt:lpstr>
      <vt:lpstr>Slide</vt:lpstr>
      <vt:lpstr>Slide</vt:lpstr>
      <vt:lpstr>Clinical Manifestations</vt:lpstr>
      <vt:lpstr>Complications of Pneumonia</vt:lpstr>
      <vt:lpstr>CBME Assessment Questions</vt:lpstr>
      <vt:lpstr>Learning Activities</vt:lpstr>
      <vt:lpstr>Key Takeaways</vt:lpstr>
      <vt:lpstr>References &amp; Further Reading</vt:lpstr>
      <vt:lpstr>Session Evaluation</vt:lpstr>
      <vt:lpstr>Q&amp;A Session</vt:lpstr>
      <vt:lpstr>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 Siddalingaiah H S</dc:creator>
  <cp:keywords/>
  <dc:description>generated using python-pptx</dc:description>
  <cp:lastModifiedBy>Dr Siddalingaiah H S</cp:lastModifiedBy>
  <cp:revision>2</cp:revision>
  <dcterms:created xsi:type="dcterms:W3CDTF">2013-01-27T09:14:16Z</dcterms:created>
  <dcterms:modified xsi:type="dcterms:W3CDTF">2025-10-05T12:52:42Z</dcterms:modified>
  <cp:category/>
</cp:coreProperties>
</file>