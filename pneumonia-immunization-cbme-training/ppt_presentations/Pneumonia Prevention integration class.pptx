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76" r:id="rId7"/>
    <p:sldId id="261" r:id="rId8"/>
    <p:sldId id="277" r:id="rId9"/>
    <p:sldId id="262" r:id="rId10"/>
    <p:sldId id="278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261419"/>
            <a:ext cx="6400800" cy="3377381"/>
          </a:xfrm>
        </p:spPr>
        <p:txBody>
          <a:bodyPr>
            <a:normAutofit/>
          </a:bodyPr>
          <a:lstStyle/>
          <a:p>
            <a:r>
              <a:rPr b="1" dirty="0"/>
              <a:t>Introduction to Pneumonia - Epidemiology &amp; Pathophysiology</a:t>
            </a:r>
            <a:endParaRPr lang="en-US" b="1" dirty="0"/>
          </a:p>
          <a:p>
            <a:endParaRPr lang="en-US" b="1" dirty="0"/>
          </a:p>
          <a:p>
            <a:r>
              <a:rPr lang="en-US" sz="2400" b="1" dirty="0"/>
              <a:t>Dr Siddalingaiah H S</a:t>
            </a:r>
            <a:endParaRPr sz="2400" b="1" dirty="0"/>
          </a:p>
          <a:p>
            <a:r>
              <a:rPr sz="2400" dirty="0"/>
              <a:t>Professor, Community Medicine</a:t>
            </a:r>
          </a:p>
          <a:p>
            <a:r>
              <a:rPr sz="2400" dirty="0"/>
              <a:t>MBBS Phase 3 Part 1 Integration Class - Day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Learning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b="1" dirty="0"/>
              <a:t>By end of this session, MBBS students will be able to:</a:t>
            </a:r>
          </a:p>
          <a:p>
            <a:pPr marL="0" indent="0">
              <a:buNone/>
            </a:pPr>
            <a:r>
              <a:rPr dirty="0"/>
              <a:t>1. Define pneumonia using clinical &amp; radiological criteria</a:t>
            </a:r>
          </a:p>
          <a:p>
            <a:pPr marL="0" indent="0">
              <a:buNone/>
            </a:pPr>
            <a:r>
              <a:rPr dirty="0"/>
              <a:t>2. Classify pneumonia types by etiology &amp; acquisition</a:t>
            </a:r>
          </a:p>
          <a:p>
            <a:pPr marL="0" indent="0">
              <a:buNone/>
            </a:pPr>
            <a:r>
              <a:rPr dirty="0"/>
              <a:t>3. Explain global &amp; national pneumonia burden data</a:t>
            </a:r>
          </a:p>
          <a:p>
            <a:pPr marL="0" indent="0">
              <a:buNone/>
            </a:pPr>
            <a:r>
              <a:rPr dirty="0"/>
              <a:t>4. Describe pathophysiological mechanisms of pneumonia</a:t>
            </a:r>
          </a:p>
          <a:p>
            <a:pPr marL="0" indent="0">
              <a:buNone/>
            </a:pPr>
            <a:r>
              <a:rPr dirty="0"/>
              <a:t>5. Identify host &amp; environmental risk factors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b="1" dirty="0"/>
              <a:t>CBME Competencies: Medical Knowledge, Patient Care, Systems-Based Practice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Pneumonia?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b="1" dirty="0"/>
              <a:t>Acute infection of lung parenchyma characterized by:</a:t>
            </a:r>
          </a:p>
          <a:p>
            <a:r>
              <a:rPr dirty="0"/>
              <a:t>Consolidation of alveoli</a:t>
            </a:r>
          </a:p>
          <a:p>
            <a:r>
              <a:rPr dirty="0"/>
              <a:t>Inflammatory exudate accumulation</a:t>
            </a:r>
          </a:p>
          <a:p>
            <a:r>
              <a:rPr dirty="0"/>
              <a:t>Impaired gas exchange</a:t>
            </a:r>
          </a:p>
          <a:p>
            <a:r>
              <a:rPr dirty="0"/>
              <a:t>Typical vs Atypical presentations</a:t>
            </a:r>
          </a:p>
          <a:p>
            <a:r>
              <a:rPr dirty="0"/>
              <a:t>Community vs Hospital-acquired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Pneumonia Classification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4862953"/>
              </p:ext>
            </p:extLst>
          </p:nvPr>
        </p:nvGraphicFramePr>
        <p:xfrm>
          <a:off x="457200" y="1308837"/>
          <a:ext cx="8229600" cy="37399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endParaRPr dirty="0"/>
                    </a:p>
                    <a:p>
                      <a:r>
                        <a:rPr b="1" dirty="0"/>
                        <a:t>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dirty="0"/>
                    </a:p>
                    <a:p>
                      <a:r>
                        <a:rPr b="1" dirty="0"/>
                        <a:t>Definition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dirty="0"/>
                    </a:p>
                    <a:p>
                      <a:r>
                        <a:rPr b="1" dirty="0"/>
                        <a:t>Examples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dirty="0"/>
                    </a:p>
                    <a:p>
                      <a:r>
                        <a:rPr b="1" dirty="0"/>
                        <a:t>Microbiology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4956">
                <a:tc>
                  <a:txBody>
                    <a:bodyPr/>
                    <a:lstStyle/>
                    <a:p>
                      <a:r>
                        <a:rPr lang="en-IN" b="1" dirty="0"/>
                        <a:t>Community-Acquired</a:t>
                      </a:r>
                      <a:endParaRPr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&lt;48 hours hospital admission </a:t>
                      </a:r>
                      <a:endParaRPr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Healthy adults </a:t>
                      </a:r>
                      <a:endParaRPr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S. pneumoniae, M. pneumoniae</a:t>
                      </a:r>
                      <a:endParaRPr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0338476"/>
                  </a:ext>
                </a:extLst>
              </a:tr>
              <a:tr h="774956">
                <a:tc>
                  <a:txBody>
                    <a:bodyPr/>
                    <a:lstStyle/>
                    <a:p>
                      <a:r>
                        <a:rPr lang="en-IN" b="1" dirty="0"/>
                        <a:t>Hospital-Acquired</a:t>
                      </a:r>
                      <a:endParaRPr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≥48 hours admission </a:t>
                      </a:r>
                      <a:endParaRPr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ICU patients </a:t>
                      </a:r>
                      <a:endParaRPr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MDR pathogens, P. aeruginosa </a:t>
                      </a:r>
                      <a:endParaRPr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94689273"/>
                  </a:ext>
                </a:extLst>
              </a:tr>
              <a:tr h="774956">
                <a:tc>
                  <a:txBody>
                    <a:bodyPr/>
                    <a:lstStyle/>
                    <a:p>
                      <a:r>
                        <a:rPr lang="en-IN" b="1" dirty="0"/>
                        <a:t>Ventilator-Associated</a:t>
                      </a:r>
                      <a:endParaRPr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≥48-72 hours intubation </a:t>
                      </a:r>
                      <a:endParaRPr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Mechanically ventilated </a:t>
                      </a:r>
                      <a:endParaRPr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ESBL producers, MRSA </a:t>
                      </a:r>
                      <a:endParaRPr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248932"/>
                  </a:ext>
                </a:extLst>
              </a:tr>
              <a:tr h="774956">
                <a:tc>
                  <a:txBody>
                    <a:bodyPr/>
                    <a:lstStyle/>
                    <a:p>
                      <a:r>
                        <a:rPr lang="en-IN" b="1" dirty="0"/>
                        <a:t>Healthcare-Associated</a:t>
                      </a:r>
                      <a:endParaRPr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Recent healthcare exposure </a:t>
                      </a:r>
                      <a:endParaRPr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LTCF residents </a:t>
                      </a:r>
                      <a:endParaRPr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Mixed bacterial flora </a:t>
                      </a:r>
                      <a:endParaRPr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742579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Global Pneumonia Burden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b="1" dirty="0"/>
              <a:t>📊 Key Statistics:</a:t>
            </a:r>
          </a:p>
          <a:p>
            <a:r>
              <a:rPr dirty="0"/>
              <a:t>Annual cases: 156 million worldwide</a:t>
            </a:r>
          </a:p>
          <a:p>
            <a:r>
              <a:rPr dirty="0"/>
              <a:t>Annual deaths: 2.5 million people</a:t>
            </a:r>
          </a:p>
          <a:p>
            <a:r>
              <a:rPr dirty="0"/>
              <a:t>Leading cause: Top infectious disease killer</a:t>
            </a:r>
          </a:p>
          <a:p>
            <a:r>
              <a:rPr dirty="0"/>
              <a:t>Age distribution: 71% in children &lt;5 years</a:t>
            </a:r>
          </a:p>
          <a:p>
            <a:r>
              <a:rPr dirty="0"/>
              <a:t>Adult mortality: 600,000 deaths annually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92D2DFD-FCEC-AF57-444E-D46B6518D8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960" y="167149"/>
            <a:ext cx="8652387" cy="5810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9216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Indian Pneumonia Statistics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b="1" dirty="0"/>
              <a:t>🇮🇳 Indian Context:</a:t>
            </a:r>
          </a:p>
          <a:p>
            <a:r>
              <a:rPr dirty="0"/>
              <a:t>Annual episodes:</a:t>
            </a:r>
            <a:r>
              <a:rPr lang="en-US" dirty="0"/>
              <a:t> </a:t>
            </a:r>
            <a:r>
              <a:rPr dirty="0"/>
              <a:t>40-50 million cases</a:t>
            </a:r>
          </a:p>
          <a:p>
            <a:r>
              <a:rPr dirty="0"/>
              <a:t>Mortality rate:</a:t>
            </a:r>
            <a:r>
              <a:rPr lang="en-US" dirty="0"/>
              <a:t> </a:t>
            </a:r>
            <a:r>
              <a:rPr dirty="0"/>
              <a:t>340,000 deaths annually</a:t>
            </a:r>
          </a:p>
          <a:p>
            <a:r>
              <a:rPr dirty="0"/>
              <a:t>Case fatality:</a:t>
            </a:r>
            <a:r>
              <a:rPr lang="en-US" dirty="0"/>
              <a:t> </a:t>
            </a:r>
            <a:r>
              <a:rPr dirty="0"/>
              <a:t>2.3 per 1,000 persons</a:t>
            </a:r>
          </a:p>
          <a:p>
            <a:r>
              <a:rPr dirty="0"/>
              <a:t>Child mortality:</a:t>
            </a:r>
            <a:r>
              <a:rPr lang="en-US" dirty="0"/>
              <a:t> </a:t>
            </a:r>
            <a:r>
              <a:rPr dirty="0"/>
              <a:t>17% of under-5 deaths</a:t>
            </a:r>
          </a:p>
          <a:p>
            <a:r>
              <a:rPr dirty="0"/>
              <a:t>Highest burden:</a:t>
            </a:r>
            <a:r>
              <a:rPr lang="en-US" dirty="0"/>
              <a:t> </a:t>
            </a:r>
            <a:r>
              <a:rPr dirty="0"/>
              <a:t>Uttar Pradesh, Bihar, Rajasthan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8972D37-3744-B197-0E49-9DD1457FDD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7083" y="501445"/>
            <a:ext cx="7737987" cy="53782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97321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Etiological Agents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b="1" dirty="0"/>
              <a:t>Microbial Spectrum in CAP:</a:t>
            </a:r>
          </a:p>
          <a:p>
            <a:pPr marL="0" indent="0">
              <a:buNone/>
            </a:pPr>
            <a:r>
              <a:rPr dirty="0"/>
              <a:t>1. </a:t>
            </a:r>
            <a:r>
              <a:rPr b="1" dirty="0"/>
              <a:t>Streptococcus pneumoniae</a:t>
            </a:r>
            <a:r>
              <a:rPr dirty="0"/>
              <a:t> - 25-40% (most common bacterial)</a:t>
            </a:r>
          </a:p>
          <a:p>
            <a:pPr marL="0" indent="0">
              <a:buNone/>
            </a:pPr>
            <a:r>
              <a:rPr dirty="0"/>
              <a:t>2. </a:t>
            </a:r>
            <a:r>
              <a:rPr b="1" dirty="0"/>
              <a:t>Mycoplasma pneumoniae</a:t>
            </a:r>
            <a:r>
              <a:rPr dirty="0"/>
              <a:t> - 15-30% (school-age peak)</a:t>
            </a:r>
          </a:p>
          <a:p>
            <a:pPr marL="0" indent="0">
              <a:buNone/>
            </a:pPr>
            <a:r>
              <a:rPr dirty="0"/>
              <a:t>3. </a:t>
            </a:r>
            <a:r>
              <a:rPr b="1" dirty="0"/>
              <a:t>Chlamydophila pneumoniae</a:t>
            </a:r>
            <a:r>
              <a:rPr dirty="0"/>
              <a:t> - 10-15% (young adults)</a:t>
            </a:r>
          </a:p>
          <a:p>
            <a:pPr marL="0" indent="0">
              <a:buNone/>
            </a:pPr>
            <a:r>
              <a:rPr dirty="0"/>
              <a:t>4. </a:t>
            </a:r>
            <a:r>
              <a:rPr b="1" dirty="0" err="1"/>
              <a:t>Haemophilus</a:t>
            </a:r>
            <a:r>
              <a:rPr b="1" dirty="0"/>
              <a:t> influenzae</a:t>
            </a:r>
            <a:r>
              <a:rPr dirty="0"/>
              <a:t> - 5-15% (COPD patients)</a:t>
            </a:r>
          </a:p>
          <a:p>
            <a:pPr marL="0" indent="0">
              <a:buNone/>
            </a:pPr>
            <a:r>
              <a:rPr dirty="0"/>
              <a:t>5. </a:t>
            </a:r>
            <a:r>
              <a:rPr b="1" dirty="0"/>
              <a:t>Legionella pneumophila</a:t>
            </a:r>
            <a:r>
              <a:rPr dirty="0"/>
              <a:t> - 2-10% (water systems)</a:t>
            </a:r>
          </a:p>
          <a:p>
            <a:pPr marL="0" indent="0">
              <a:buNone/>
            </a:pPr>
            <a:r>
              <a:rPr dirty="0"/>
              <a:t>6. </a:t>
            </a:r>
            <a:r>
              <a:rPr b="1" dirty="0"/>
              <a:t>Respiratory viruses</a:t>
            </a:r>
            <a:r>
              <a:rPr dirty="0"/>
              <a:t> - 15-20% (winter epidemics)</a:t>
            </a:r>
          </a:p>
          <a:p>
            <a:pPr marL="0" indent="0">
              <a:buNone/>
            </a:pPr>
            <a:r>
              <a:rPr dirty="0"/>
              <a:t>7. </a:t>
            </a:r>
            <a:r>
              <a:rPr b="1" dirty="0"/>
              <a:t>Staphylococcus aureus</a:t>
            </a:r>
            <a:r>
              <a:rPr dirty="0"/>
              <a:t> - 2-5% (post-viral)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1EA73F4-B3F8-7ED1-21FB-443095F00E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607" y="416115"/>
            <a:ext cx="8034431" cy="5738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40730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Risk Factors for Pneumonia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b="1" dirty="0"/>
              <a:t>Host Factors:</a:t>
            </a:r>
          </a:p>
          <a:p>
            <a:r>
              <a:rPr dirty="0"/>
              <a:t>Age extremes: &lt;2 years and &gt;65 years</a:t>
            </a:r>
          </a:p>
          <a:p>
            <a:r>
              <a:rPr dirty="0"/>
              <a:t>Underlying diseases: COPD, diabetes, heart failure</a:t>
            </a:r>
          </a:p>
          <a:p>
            <a:r>
              <a:rPr dirty="0"/>
              <a:t>Immunodeficiency: HIV, malignancy, immunosuppression</a:t>
            </a:r>
          </a:p>
          <a:p>
            <a:r>
              <a:rPr dirty="0"/>
              <a:t>Lifestyle: Smoking, alcoholism, poor nutrition</a:t>
            </a:r>
          </a:p>
          <a:p>
            <a:pPr marL="0" indent="0">
              <a:buNone/>
            </a:pPr>
            <a:r>
              <a:rPr b="1" dirty="0"/>
              <a:t>Environmental Factors:</a:t>
            </a:r>
          </a:p>
          <a:p>
            <a:r>
              <a:rPr dirty="0"/>
              <a:t>Air pollution: Indoor smoke, particulate matter</a:t>
            </a:r>
          </a:p>
          <a:p>
            <a:r>
              <a:rPr dirty="0"/>
              <a:t>Crowding: Urban slums, dormitories</a:t>
            </a:r>
          </a:p>
          <a:p>
            <a:r>
              <a:rPr dirty="0"/>
              <a:t>Malnutrition: Vitamin A, zinc deficiency</a:t>
            </a:r>
          </a:p>
          <a:p>
            <a:r>
              <a:rPr dirty="0"/>
              <a:t>Seasonal: Winter epidemics, monsoon peaks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Pathophysiology of Pneumonia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b="1" dirty="0"/>
              <a:t>Four-Step Sequence:</a:t>
            </a:r>
          </a:p>
          <a:p>
            <a:pPr marL="0" indent="0">
              <a:buNone/>
            </a:pPr>
            <a:r>
              <a:rPr dirty="0"/>
              <a:t>1. </a:t>
            </a:r>
            <a:r>
              <a:rPr b="1" dirty="0"/>
              <a:t>Colonization</a:t>
            </a:r>
            <a:r>
              <a:rPr dirty="0"/>
              <a:t> - Pathogen adheres to epithelium</a:t>
            </a:r>
          </a:p>
          <a:p>
            <a:pPr marL="0" indent="0">
              <a:buNone/>
            </a:pPr>
            <a:r>
              <a:rPr dirty="0"/>
              <a:t>2. </a:t>
            </a:r>
            <a:r>
              <a:rPr b="1" dirty="0"/>
              <a:t>Invasion</a:t>
            </a:r>
            <a:r>
              <a:rPr dirty="0"/>
              <a:t> - Bacterial multiplication in alveoli</a:t>
            </a:r>
          </a:p>
          <a:p>
            <a:pPr marL="0" indent="0">
              <a:buNone/>
            </a:pPr>
            <a:r>
              <a:rPr dirty="0"/>
              <a:t>3. </a:t>
            </a:r>
            <a:r>
              <a:rPr b="1" dirty="0"/>
              <a:t>Inflammation</a:t>
            </a:r>
            <a:r>
              <a:rPr dirty="0"/>
              <a:t> - Cytokine release, neutrophil migration</a:t>
            </a:r>
          </a:p>
          <a:p>
            <a:pPr marL="0" indent="0">
              <a:buNone/>
            </a:pPr>
            <a:r>
              <a:rPr dirty="0"/>
              <a:t>4. </a:t>
            </a:r>
            <a:r>
              <a:rPr b="1" dirty="0"/>
              <a:t>Consolidation</a:t>
            </a:r>
            <a:r>
              <a:rPr dirty="0"/>
              <a:t> - Exudate fills air spaces, impairs gas exchange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Host Defense Mechanisms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b="1" dirty="0"/>
              <a:t>Anatomical Barriers:</a:t>
            </a:r>
          </a:p>
          <a:p>
            <a:r>
              <a:rPr dirty="0"/>
              <a:t>Upper airways: Nasal filtration, mucociliary clearance</a:t>
            </a:r>
          </a:p>
          <a:p>
            <a:r>
              <a:rPr dirty="0"/>
              <a:t>Cough reflex: Prevents aspiration</a:t>
            </a:r>
          </a:p>
          <a:p>
            <a:r>
              <a:rPr dirty="0"/>
              <a:t>Bronchial tree: Hair cells, mucus production</a:t>
            </a:r>
          </a:p>
          <a:p>
            <a:pPr marL="0" indent="0">
              <a:buNone/>
            </a:pPr>
            <a:r>
              <a:rPr b="1" dirty="0"/>
              <a:t>Cellular Immunity:</a:t>
            </a:r>
          </a:p>
          <a:p>
            <a:r>
              <a:rPr dirty="0"/>
              <a:t>Alveolar macrophages: Phagocytosis</a:t>
            </a:r>
          </a:p>
          <a:p>
            <a:r>
              <a:rPr dirty="0"/>
              <a:t>Neutrophils: Acute inflammatory response</a:t>
            </a:r>
          </a:p>
          <a:p>
            <a:r>
              <a:rPr dirty="0"/>
              <a:t>Complement system: Opsonization, chemotaxis</a:t>
            </a:r>
          </a:p>
          <a:p>
            <a:pPr marL="0" indent="0">
              <a:buNone/>
            </a:pPr>
            <a:r>
              <a:rPr b="1" dirty="0"/>
              <a:t>Humoral Immunity:</a:t>
            </a:r>
          </a:p>
          <a:p>
            <a:r>
              <a:rPr dirty="0"/>
              <a:t>Antibodies: Serotype-specific protection</a:t>
            </a:r>
          </a:p>
          <a:p>
            <a:r>
              <a:rPr dirty="0"/>
              <a:t>Immunoglobulins: IgG, IgM, IgA</a:t>
            </a:r>
          </a:p>
          <a:p>
            <a:r>
              <a:rPr dirty="0"/>
              <a:t>Memory cells: Long-term immunity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Aspiration vs Inhalation Routes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b="1" dirty="0"/>
              <a:t>Aspiration Pneumonia:</a:t>
            </a:r>
          </a:p>
          <a:p>
            <a:r>
              <a:rPr dirty="0"/>
              <a:t>Most common route: Oropharyngeal contents</a:t>
            </a:r>
          </a:p>
          <a:p>
            <a:r>
              <a:rPr dirty="0"/>
              <a:t>Risk factors: CNS disorders, dysphagia, unconsciousness</a:t>
            </a:r>
          </a:p>
          <a:p>
            <a:r>
              <a:rPr dirty="0"/>
              <a:t>Anaerobic bacteria: Predominant in elderly</a:t>
            </a:r>
          </a:p>
          <a:p>
            <a:r>
              <a:rPr dirty="0"/>
              <a:t>Chemical pneumonitis: Gastric acid injury</a:t>
            </a:r>
          </a:p>
          <a:p>
            <a:pPr marL="0" indent="0">
              <a:buNone/>
            </a:pPr>
            <a:r>
              <a:rPr b="1" dirty="0"/>
              <a:t>Inhalation Pneumonia:</a:t>
            </a:r>
          </a:p>
          <a:p>
            <a:r>
              <a:rPr dirty="0"/>
              <a:t>Droplet nuclei: Mycobacteria, viruses, Legionella</a:t>
            </a:r>
          </a:p>
          <a:p>
            <a:r>
              <a:rPr dirty="0"/>
              <a:t>Airborne transmission: RSV, influenza aerosols</a:t>
            </a:r>
          </a:p>
          <a:p>
            <a:r>
              <a:rPr dirty="0"/>
              <a:t>Smaller inoculum: Survives upper airway defenses</a:t>
            </a:r>
          </a:p>
          <a:p>
            <a:r>
              <a:rPr dirty="0"/>
              <a:t>Diffuse involvement: Often bilateral distribution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Typical vs Atypical Pneumonia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84289"/>
              </p:ext>
            </p:extLst>
          </p:nvPr>
        </p:nvGraphicFramePr>
        <p:xfrm>
          <a:off x="457200" y="1417637"/>
          <a:ext cx="8229600" cy="42555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27718">
                <a:tc>
                  <a:txBody>
                    <a:bodyPr/>
                    <a:lstStyle/>
                    <a:p>
                      <a:endParaRPr dirty="0"/>
                    </a:p>
                    <a:p>
                      <a:r>
                        <a:rPr b="1" dirty="0"/>
                        <a:t>Feature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dirty="0"/>
                    </a:p>
                    <a:p>
                      <a:r>
                        <a:rPr b="1" dirty="0"/>
                        <a:t>Typical Pneumonia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dirty="0"/>
                    </a:p>
                    <a:p>
                      <a:r>
                        <a:rPr b="1" dirty="0"/>
                        <a:t>Atypical Pneumonia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3016">
                <a:tc>
                  <a:txBody>
                    <a:bodyPr/>
                    <a:lstStyle/>
                    <a:p>
                      <a:r>
                        <a:rPr lang="en-IN" b="1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Onset</a:t>
                      </a:r>
                      <a:endParaRPr b="1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Acute, sudden </a:t>
                      </a:r>
                      <a:endParaRPr b="1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Gradual, subacute</a:t>
                      </a:r>
                      <a:endParaRPr b="1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8244743"/>
                  </a:ext>
                </a:extLst>
              </a:tr>
              <a:tr h="493016">
                <a:tc>
                  <a:txBody>
                    <a:bodyPr/>
                    <a:lstStyle/>
                    <a:p>
                      <a:r>
                        <a:rPr lang="en-IN" b="1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Fever</a:t>
                      </a:r>
                      <a:endParaRPr b="1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High, shaking chills </a:t>
                      </a:r>
                      <a:endParaRPr b="1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Low-grade</a:t>
                      </a:r>
                      <a:endParaRPr b="1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1447332"/>
                  </a:ext>
                </a:extLst>
              </a:tr>
              <a:tr h="493016">
                <a:tc>
                  <a:txBody>
                    <a:bodyPr/>
                    <a:lstStyle/>
                    <a:p>
                      <a:r>
                        <a:rPr lang="en-IN" b="1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Cough</a:t>
                      </a:r>
                      <a:endParaRPr b="1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Productive, purulent </a:t>
                      </a:r>
                      <a:endParaRPr b="1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Dry, persistent </a:t>
                      </a:r>
                      <a:endParaRPr b="1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8081445"/>
                  </a:ext>
                </a:extLst>
              </a:tr>
              <a:tr h="493016">
                <a:tc>
                  <a:txBody>
                    <a:bodyPr/>
                    <a:lstStyle/>
                    <a:p>
                      <a:r>
                        <a:rPr lang="en-IN" b="1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Chest pain</a:t>
                      </a:r>
                      <a:endParaRPr b="1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Pleuritic</a:t>
                      </a:r>
                      <a:endParaRPr b="1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Minimal</a:t>
                      </a:r>
                      <a:endParaRPr b="1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3262967"/>
                  </a:ext>
                </a:extLst>
              </a:tr>
              <a:tr h="493016">
                <a:tc>
                  <a:txBody>
                    <a:bodyPr/>
                    <a:lstStyle/>
                    <a:p>
                      <a:r>
                        <a:rPr lang="en-IN" b="1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X-ray</a:t>
                      </a:r>
                      <a:endParaRPr b="1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Lobar consolidation </a:t>
                      </a:r>
                      <a:endParaRPr b="1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Interstitial pattern </a:t>
                      </a:r>
                      <a:endParaRPr b="1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3842586"/>
                  </a:ext>
                </a:extLst>
              </a:tr>
              <a:tr h="862778">
                <a:tc>
                  <a:txBody>
                    <a:bodyPr/>
                    <a:lstStyle/>
                    <a:p>
                      <a:r>
                        <a:rPr lang="en-IN" b="1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White cells</a:t>
                      </a:r>
                      <a:endParaRPr b="1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Elevated neutrophils </a:t>
                      </a:r>
                      <a:endParaRPr b="1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Normal/mild elevation </a:t>
                      </a:r>
                      <a:endParaRPr b="1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285526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Clinical Manifestations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b="1" dirty="0"/>
              <a:t>Respiratory Symptoms:</a:t>
            </a:r>
          </a:p>
          <a:p>
            <a:r>
              <a:rPr dirty="0"/>
              <a:t>Dyspnea: Progressive shortness of breath</a:t>
            </a:r>
          </a:p>
          <a:p>
            <a:r>
              <a:rPr dirty="0"/>
              <a:t>Cough: Dry → productive with purulent sputum</a:t>
            </a:r>
          </a:p>
          <a:p>
            <a:r>
              <a:rPr dirty="0"/>
              <a:t>Chest pain: Pleuritic, worse on inspiration</a:t>
            </a:r>
          </a:p>
          <a:p>
            <a:r>
              <a:rPr dirty="0"/>
              <a:t>Hemoptysis: Rusty sputum (S. pneumoniae)</a:t>
            </a:r>
          </a:p>
          <a:p>
            <a:pPr marL="0" indent="0">
              <a:buNone/>
            </a:pPr>
            <a:r>
              <a:rPr b="1" dirty="0"/>
              <a:t>Systemic Symptoms:</a:t>
            </a:r>
          </a:p>
          <a:p>
            <a:r>
              <a:rPr dirty="0"/>
              <a:t>Fever: High-grade with chills/rigors</a:t>
            </a:r>
          </a:p>
          <a:p>
            <a:r>
              <a:rPr dirty="0"/>
              <a:t>Fatigue: Generalized weakness</a:t>
            </a:r>
          </a:p>
          <a:p>
            <a:r>
              <a:rPr dirty="0"/>
              <a:t>Anorexia: Loss of appetite</a:t>
            </a:r>
          </a:p>
          <a:p>
            <a:r>
              <a:rPr dirty="0"/>
              <a:t>Myalgias: Muscle aches and pains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Complications of Pneumonia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b="1" dirty="0"/>
              <a:t>Respiratory Complications:</a:t>
            </a:r>
          </a:p>
          <a:p>
            <a:r>
              <a:rPr dirty="0"/>
              <a:t>Pleural effusion/empyema</a:t>
            </a:r>
          </a:p>
          <a:p>
            <a:r>
              <a:rPr dirty="0"/>
              <a:t>Lung abscess</a:t>
            </a:r>
          </a:p>
          <a:p>
            <a:r>
              <a:rPr dirty="0"/>
              <a:t>Pneumothorax</a:t>
            </a:r>
          </a:p>
          <a:p>
            <a:r>
              <a:rPr dirty="0"/>
              <a:t>ARDS</a:t>
            </a:r>
          </a:p>
          <a:p>
            <a:pPr marL="0" indent="0">
              <a:buNone/>
            </a:pPr>
            <a:r>
              <a:rPr b="1" dirty="0"/>
              <a:t>Systemic Complications:</a:t>
            </a:r>
          </a:p>
          <a:p>
            <a:r>
              <a:rPr dirty="0"/>
              <a:t>Sepsis/septic shock</a:t>
            </a:r>
          </a:p>
          <a:p>
            <a:r>
              <a:rPr dirty="0"/>
              <a:t>Acute kidney injury</a:t>
            </a:r>
          </a:p>
          <a:p>
            <a:r>
              <a:rPr dirty="0"/>
              <a:t>Heart complications</a:t>
            </a:r>
          </a:p>
          <a:p>
            <a:r>
              <a:rPr dirty="0"/>
              <a:t>Metabolic disorders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CBME Assessment Questions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b="1" dirty="0"/>
              <a:t>Question 1: Most common cause of CAP?</a:t>
            </a:r>
          </a:p>
          <a:p>
            <a:r>
              <a:rPr dirty="0"/>
              <a:t>A) </a:t>
            </a:r>
            <a:r>
              <a:rPr dirty="0" err="1"/>
              <a:t>Haemophilus</a:t>
            </a:r>
            <a:r>
              <a:rPr dirty="0"/>
              <a:t> influenzae</a:t>
            </a:r>
          </a:p>
          <a:p>
            <a:r>
              <a:rPr dirty="0"/>
              <a:t>B) Streptococcus pneumoniae ⭐</a:t>
            </a:r>
          </a:p>
          <a:p>
            <a:r>
              <a:rPr dirty="0"/>
              <a:t>C) Mycoplasma pneumoniae</a:t>
            </a:r>
          </a:p>
          <a:p>
            <a:r>
              <a:rPr dirty="0"/>
              <a:t>D) Legionella pneumophila</a:t>
            </a:r>
          </a:p>
          <a:p>
            <a:pPr marL="0" indent="0">
              <a:buNone/>
            </a:pPr>
            <a:r>
              <a:rPr b="1" dirty="0"/>
              <a:t>Question 2: Pneumonia mortality in India?</a:t>
            </a:r>
          </a:p>
          <a:p>
            <a:r>
              <a:rPr dirty="0"/>
              <a:t>A) 10,000 deaths/year</a:t>
            </a:r>
          </a:p>
          <a:p>
            <a:r>
              <a:rPr dirty="0"/>
              <a:t>B) 50,000 deaths/year</a:t>
            </a:r>
          </a:p>
          <a:p>
            <a:r>
              <a:rPr dirty="0"/>
              <a:t>C) 340,000 deaths/year ⭐</a:t>
            </a:r>
          </a:p>
          <a:p>
            <a:r>
              <a:rPr dirty="0"/>
              <a:t>D) 1 million deaths/year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Learning Activities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endParaRPr dirty="0"/>
          </a:p>
          <a:p>
            <a:pPr marL="0" indent="0">
              <a:buNone/>
            </a:pPr>
            <a:r>
              <a:rPr b="1" dirty="0"/>
              <a:t>📋 In-Class Activities:</a:t>
            </a:r>
          </a:p>
          <a:p>
            <a:r>
              <a:rPr dirty="0"/>
              <a:t>1. </a:t>
            </a:r>
            <a:r>
              <a:rPr b="1" dirty="0"/>
              <a:t>Case Analysis:</a:t>
            </a:r>
            <a:r>
              <a:rPr dirty="0"/>
              <a:t> Review 3 pneumonia patient scenarios</a:t>
            </a:r>
          </a:p>
          <a:p>
            <a:r>
              <a:rPr dirty="0"/>
              <a:t>2. </a:t>
            </a:r>
            <a:r>
              <a:rPr b="1" dirty="0"/>
              <a:t>Risk Factor Mapping:</a:t>
            </a:r>
            <a:r>
              <a:rPr dirty="0"/>
              <a:t> Group exercise on local determinants</a:t>
            </a:r>
          </a:p>
          <a:p>
            <a:r>
              <a:rPr dirty="0"/>
              <a:t>3. </a:t>
            </a:r>
            <a:r>
              <a:rPr b="1" dirty="0"/>
              <a:t>Microbiology Quiz:</a:t>
            </a:r>
            <a:r>
              <a:rPr dirty="0"/>
              <a:t> Identify pathogens from descriptions</a:t>
            </a:r>
          </a:p>
          <a:p>
            <a:r>
              <a:rPr dirty="0"/>
              <a:t>4. </a:t>
            </a:r>
            <a:r>
              <a:rPr b="1" dirty="0"/>
              <a:t>Epidemiology Exercise:</a:t>
            </a:r>
            <a:r>
              <a:rPr dirty="0"/>
              <a:t> Calculate local pneumonia burden</a:t>
            </a:r>
            <a:endParaRPr lang="en-US" dirty="0"/>
          </a:p>
          <a:p>
            <a:endParaRPr dirty="0"/>
          </a:p>
          <a:p>
            <a:pPr marL="0" indent="0">
              <a:buNone/>
            </a:pPr>
            <a:r>
              <a:rPr b="1" dirty="0"/>
              <a:t>🏠 Homework Assignment:</a:t>
            </a:r>
          </a:p>
          <a:p>
            <a:r>
              <a:rPr dirty="0"/>
              <a:t>Recall one pneumonia case from recent clinical posting</a:t>
            </a:r>
          </a:p>
          <a:p>
            <a:r>
              <a:rPr dirty="0"/>
              <a:t>Identify risk factors present in that patient</a:t>
            </a:r>
          </a:p>
          <a:p>
            <a:r>
              <a:rPr dirty="0"/>
              <a:t>Research local pneumonia statistics for tomorrow's discussion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b="1" dirty="0"/>
              <a:t>🧠 Remember These Points:</a:t>
            </a:r>
          </a:p>
          <a:p>
            <a:pPr marL="0" indent="0">
              <a:buNone/>
            </a:pPr>
            <a:r>
              <a:rPr dirty="0"/>
              <a:t>1. </a:t>
            </a:r>
            <a:r>
              <a:rPr b="1" dirty="0"/>
              <a:t>Pneumonia = Acute lung infection with consolidation</a:t>
            </a:r>
          </a:p>
          <a:p>
            <a:pPr marL="0" indent="0">
              <a:buNone/>
            </a:pPr>
            <a:r>
              <a:rPr dirty="0"/>
              <a:t>2. </a:t>
            </a:r>
            <a:r>
              <a:rPr b="1" dirty="0"/>
              <a:t>2.5 million deaths globally - mostly preventable</a:t>
            </a:r>
          </a:p>
          <a:p>
            <a:pPr marL="0" indent="0">
              <a:buNone/>
            </a:pPr>
            <a:r>
              <a:rPr dirty="0"/>
              <a:t>3. </a:t>
            </a:r>
            <a:r>
              <a:rPr b="1" dirty="0"/>
              <a:t>S. pneumoniae most common bacterial cause</a:t>
            </a:r>
          </a:p>
          <a:p>
            <a:pPr marL="0" indent="0">
              <a:buNone/>
            </a:pPr>
            <a:r>
              <a:rPr dirty="0"/>
              <a:t>4. </a:t>
            </a:r>
            <a:r>
              <a:rPr b="1" dirty="0"/>
              <a:t>Host + environmental factors determine risk</a:t>
            </a:r>
          </a:p>
          <a:p>
            <a:pPr marL="0" indent="0">
              <a:buNone/>
            </a:pPr>
            <a:r>
              <a:rPr dirty="0"/>
              <a:t>5. </a:t>
            </a:r>
            <a:r>
              <a:rPr b="1" dirty="0"/>
              <a:t>Typical vs atypical clinical presentations differ</a:t>
            </a:r>
          </a:p>
          <a:p>
            <a:pPr marL="0" indent="0">
              <a:buNone/>
            </a:pPr>
            <a:r>
              <a:rPr dirty="0"/>
              <a:t>6. </a:t>
            </a:r>
            <a:r>
              <a:rPr b="1" dirty="0"/>
              <a:t>Vaccination prevents most vaccine-preventable pneumonia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References &amp; Further Reading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b="1" dirty="0"/>
              <a:t>📚 Key References:</a:t>
            </a:r>
          </a:p>
          <a:p>
            <a:pPr marL="0" indent="0">
              <a:buNone/>
            </a:pPr>
            <a:r>
              <a:rPr dirty="0"/>
              <a:t>1. WHO Pneumonia Fact Sheet (2023)</a:t>
            </a:r>
          </a:p>
          <a:p>
            <a:pPr marL="0" indent="0">
              <a:buNone/>
            </a:pPr>
            <a:r>
              <a:rPr dirty="0"/>
              <a:t>2. Indian Academy of Pediatrics Guidelines (2022)</a:t>
            </a:r>
          </a:p>
          <a:p>
            <a:pPr marL="0" indent="0">
              <a:buNone/>
            </a:pPr>
            <a:r>
              <a:rPr dirty="0"/>
              <a:t>3. ATS/IDSA CAP Guidelines (2019)</a:t>
            </a:r>
          </a:p>
          <a:p>
            <a:pPr marL="0" indent="0">
              <a:buNone/>
            </a:pPr>
            <a:r>
              <a:rPr dirty="0"/>
              <a:t>4. Mandell LA, et al. Clinical Infectious Diseases (2019)</a:t>
            </a:r>
          </a:p>
          <a:p>
            <a:pPr marL="0" indent="0">
              <a:buNone/>
            </a:pPr>
            <a:r>
              <a:rPr b="1" dirty="0"/>
              <a:t>🔗 Useful Links:</a:t>
            </a:r>
          </a:p>
          <a:p>
            <a:r>
              <a:rPr dirty="0"/>
              <a:t>WHO Pneumonia: https://www.who.int/health-topics/pneumonia</a:t>
            </a:r>
          </a:p>
          <a:p>
            <a:r>
              <a:rPr dirty="0"/>
              <a:t>IAP Guidelines: https://iapindia.org/guidelines/</a:t>
            </a:r>
          </a:p>
          <a:p>
            <a:r>
              <a:rPr dirty="0"/>
              <a:t>CDC Pneumonia: https://www.cdc.gov/pneumonia/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Session 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/>
              <a:t>Please </a:t>
            </a:r>
            <a:r>
              <a:rPr b="1" dirty="0"/>
              <a:t>provide feedback:</a:t>
            </a:r>
          </a:p>
          <a:p>
            <a:r>
              <a:rPr b="1" dirty="0"/>
              <a:t>What was most useful?</a:t>
            </a:r>
            <a:r>
              <a:rPr dirty="0"/>
              <a:t> __________</a:t>
            </a:r>
          </a:p>
          <a:p>
            <a:r>
              <a:rPr b="1" dirty="0"/>
              <a:t>What needs improvement?</a:t>
            </a:r>
            <a:r>
              <a:rPr dirty="0"/>
              <a:t> __________</a:t>
            </a:r>
          </a:p>
          <a:p>
            <a:r>
              <a:rPr b="1" dirty="0"/>
              <a:t>Additional topics to cover?</a:t>
            </a:r>
            <a:r>
              <a:rPr dirty="0"/>
              <a:t> __________</a:t>
            </a:r>
          </a:p>
          <a:p>
            <a:r>
              <a:rPr b="1" dirty="0"/>
              <a:t>Overall rating: ⭐⭐⭐⭐⭐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Q&amp;A Session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r>
              <a:rPr dirty="0"/>
              <a:t>Email: hssling@yahoo.com</a:t>
            </a:r>
          </a:p>
          <a:p>
            <a:r>
              <a:rPr dirty="0"/>
              <a:t>Phone: +91-8941087719</a:t>
            </a:r>
          </a:p>
          <a:p>
            <a:r>
              <a:rPr b="1" dirty="0"/>
              <a:t>Next Session:</a:t>
            </a:r>
            <a:r>
              <a:rPr dirty="0"/>
              <a:t> Chapter 2 - Pneumonia Classification (CAP vs HAP)</a:t>
            </a:r>
          </a:p>
          <a:p>
            <a:r>
              <a:rPr b="1" dirty="0"/>
              <a:t>Date: [Insert date] | Time:</a:t>
            </a:r>
            <a:r>
              <a:rPr dirty="0"/>
              <a:t> 9:00 AM - 10:30 AM</a:t>
            </a:r>
          </a:p>
          <a:p>
            <a:r>
              <a:rPr b="1" dirty="0"/>
              <a:t>Venue:</a:t>
            </a:r>
            <a:r>
              <a:rPr dirty="0"/>
              <a:t> Integration Class Hall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56</TotalTime>
  <Words>1081</Words>
  <Application>Microsoft Office PowerPoint</Application>
  <PresentationFormat>On-screen Show (4:3)</PresentationFormat>
  <Paragraphs>211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PowerPoint Presentation</vt:lpstr>
      <vt:lpstr>Learning Objectives</vt:lpstr>
      <vt:lpstr>What is Pneumonia?</vt:lpstr>
      <vt:lpstr>Pneumonia Classification</vt:lpstr>
      <vt:lpstr>Global Pneumonia Burden</vt:lpstr>
      <vt:lpstr>PowerPoint Presentation</vt:lpstr>
      <vt:lpstr>Indian Pneumonia Statistics</vt:lpstr>
      <vt:lpstr>PowerPoint Presentation</vt:lpstr>
      <vt:lpstr>Etiological Agents</vt:lpstr>
      <vt:lpstr>PowerPoint Presentation</vt:lpstr>
      <vt:lpstr>Risk Factors for Pneumonia</vt:lpstr>
      <vt:lpstr>Pathophysiology of Pneumonia</vt:lpstr>
      <vt:lpstr>Host Defense Mechanisms</vt:lpstr>
      <vt:lpstr>Aspiration vs Inhalation Routes</vt:lpstr>
      <vt:lpstr>Typical vs Atypical Pneumonia</vt:lpstr>
      <vt:lpstr>Clinical Manifestations</vt:lpstr>
      <vt:lpstr>Complications of Pneumonia</vt:lpstr>
      <vt:lpstr>CBME Assessment Questions</vt:lpstr>
      <vt:lpstr>Learning Activities</vt:lpstr>
      <vt:lpstr>Key Takeaways</vt:lpstr>
      <vt:lpstr>References &amp; Further Reading</vt:lpstr>
      <vt:lpstr>Session Evaluation</vt:lpstr>
      <vt:lpstr>Q&amp;A Session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Dr Siddalingaiah H S</cp:lastModifiedBy>
  <cp:revision>4</cp:revision>
  <dcterms:created xsi:type="dcterms:W3CDTF">2013-01-27T09:14:16Z</dcterms:created>
  <dcterms:modified xsi:type="dcterms:W3CDTF">2025-10-05T15:01:16Z</dcterms:modified>
  <cp:category/>
</cp:coreProperties>
</file>