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56" r:id="rId29"/>
    <p:sldId id="28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D976-2765-16E5-0BEF-6A9D074D9A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Influenza - the other major pneumonia vaccine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16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382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By session end, students will be able to:</a:t>
            </a:r>
          </a:p>
          <a:p>
            <a:r>
              <a:rPr dirty="0"/>
              <a:t>1. Quantify seasonal influenza pneumonia burden globally &amp; in India</a:t>
            </a:r>
          </a:p>
          <a:p>
            <a:r>
              <a:rPr dirty="0"/>
              <a:t>2. Differentiate influenza vaccine types and their indications</a:t>
            </a:r>
          </a:p>
          <a:p>
            <a:r>
              <a:rPr dirty="0"/>
              <a:t>3. Apply evidence-based seasonal vaccination recommendations</a:t>
            </a:r>
          </a:p>
          <a:p>
            <a:r>
              <a:rPr dirty="0"/>
              <a:t>4. Design pandemic influenza response strategies</a:t>
            </a:r>
          </a:p>
          <a:p>
            <a:r>
              <a:rPr dirty="0"/>
              <a:t>5. Counsel patients on influenza vaccination benefits and timing</a:t>
            </a:r>
          </a:p>
          <a:p>
            <a:pPr marL="0" indent="0">
              <a:buNone/>
            </a:pPr>
            <a:r>
              <a:rPr b="1" dirty="0"/>
              <a:t>CBME Competencies: Medical Knowledge, Practice-Based Learning, Systems-Based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Viral Pneumonia's Second Major Threat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Primary viral infection (influenza A/B viruses)</a:t>
            </a:r>
          </a:p>
          <a:p>
            <a:r>
              <a:rPr dirty="0"/>
              <a:t>Destruction of respiratory epithelium</a:t>
            </a:r>
          </a:p>
          <a:p>
            <a:r>
              <a:rPr dirty="0"/>
              <a:t>Secondary bacterial invasion (S. pneumoniae, S. aureus)</a:t>
            </a:r>
          </a:p>
          <a:p>
            <a:r>
              <a:rPr dirty="0"/>
              <a:t>10-15% of influenza cases develop pneumonia</a:t>
            </a:r>
          </a:p>
          <a:p>
            <a:r>
              <a:rPr dirty="0"/>
              <a:t>High-risk populations: Elderly, immunocompromised, pregnant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Global Influenza Burden &amp; 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Annual seasonal influenza statistics:</a:t>
            </a:r>
          </a:p>
          <a:p>
            <a:r>
              <a:rPr dirty="0"/>
              <a:t>300-500,000 deaths worldwide (including pneumonia complications)</a:t>
            </a:r>
          </a:p>
          <a:p>
            <a:r>
              <a:rPr dirty="0"/>
              <a:t>3-5 million severe illness cases requiring hospitalization</a:t>
            </a:r>
          </a:p>
          <a:p>
            <a:r>
              <a:rPr dirty="0"/>
              <a:t>Economic burden: $87 billion USD annual global costs</a:t>
            </a:r>
          </a:p>
          <a:p>
            <a:r>
              <a:rPr dirty="0"/>
              <a:t>India-specific: 10-20 million cases, 50,000-100,000 deaths annually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Influenza Virus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13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Type A (most virulent):</a:t>
            </a:r>
          </a:p>
          <a:p>
            <a:r>
              <a:rPr dirty="0"/>
              <a:t>Hemagglutinin (HA): 18 subtypes (H1-H18)</a:t>
            </a:r>
          </a:p>
          <a:p>
            <a:r>
              <a:rPr dirty="0"/>
              <a:t>Neuraminidase (NA): 11 subtypes (N1-N11)</a:t>
            </a:r>
          </a:p>
          <a:p>
            <a:r>
              <a:rPr dirty="0"/>
              <a:t>Pandemic potential through antigenic shift</a:t>
            </a:r>
          </a:p>
          <a:p>
            <a:r>
              <a:rPr dirty="0"/>
              <a:t>Examples: H1N1 (2009 pandemic), seasonal H3N2</a:t>
            </a:r>
          </a:p>
          <a:p>
            <a:pPr marL="0" indent="0">
              <a:buNone/>
            </a:pPr>
            <a:r>
              <a:rPr b="1" dirty="0"/>
              <a:t>Type B (seasonal):</a:t>
            </a:r>
          </a:p>
          <a:p>
            <a:r>
              <a:rPr dirty="0"/>
              <a:t>No subtypes, two lineages: Victoria &amp; Yamagata</a:t>
            </a:r>
          </a:p>
          <a:p>
            <a:r>
              <a:rPr dirty="0"/>
              <a:t>Seasonal epidemics, no pandemics</a:t>
            </a:r>
          </a:p>
          <a:p>
            <a:r>
              <a:rPr dirty="0"/>
              <a:t>Less severe than type A</a:t>
            </a:r>
          </a:p>
          <a:p>
            <a:r>
              <a:rPr dirty="0"/>
              <a:t>Antigenic drift requires annual vaccine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Antigenic Evolution - Annual Vaccine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98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Antigenic Drift:</a:t>
            </a:r>
          </a:p>
          <a:p>
            <a:r>
              <a:rPr dirty="0"/>
              <a:t>Point mutations in HA/NA genes</a:t>
            </a:r>
          </a:p>
          <a:p>
            <a:r>
              <a:rPr dirty="0"/>
              <a:t>Gradual immune escape from prior vaccines</a:t>
            </a:r>
          </a:p>
          <a:p>
            <a:r>
              <a:rPr dirty="0"/>
              <a:t>Predictable seasonal circulation patterns</a:t>
            </a:r>
          </a:p>
          <a:p>
            <a:r>
              <a:rPr dirty="0"/>
              <a:t>Vaccine mismatch risk (20-50% annually)</a:t>
            </a:r>
          </a:p>
          <a:p>
            <a:pPr marL="0" indent="0">
              <a:buNone/>
            </a:pPr>
            <a:r>
              <a:rPr b="1" dirty="0"/>
              <a:t>Antigenic Shift:</a:t>
            </a:r>
          </a:p>
          <a:p>
            <a:r>
              <a:rPr dirty="0"/>
              <a:t>Reassortment between human/animal viruses</a:t>
            </a:r>
          </a:p>
          <a:p>
            <a:r>
              <a:rPr dirty="0"/>
              <a:t>Sudden emergence of novel subtypes</a:t>
            </a:r>
          </a:p>
          <a:p>
            <a:r>
              <a:rPr dirty="0"/>
              <a:t>Pandemic potential (H5N1, H7N9 surveillance)</a:t>
            </a:r>
          </a:p>
          <a:p>
            <a:r>
              <a:rPr dirty="0"/>
              <a:t>Rapid vaccine development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Influenza Vaccine Types - Comparative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80802"/>
              </p:ext>
            </p:extLst>
          </p:nvPr>
        </p:nvGraphicFramePr>
        <p:xfrm>
          <a:off x="457200" y="1600200"/>
          <a:ext cx="830233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0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0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0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155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Vaccine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Age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965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LAIV (Nasal spray)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Intranasal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2-49 years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Live attenuated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50-60%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79600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IIV (Standard dose)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 injection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≥6 months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Inactivated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40-50%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933336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HD-IIV (High dose)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 injection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≥65 years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4× antigen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55-70%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298406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RIV (Recombinant)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 injection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≥18 years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Egg-free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45-55%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23904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QIV (Quadrivalent)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 injection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≥6 months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 strains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50-65%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6058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Seasonal Timing &amp; Geographical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Northern Hemisphere Timing:</a:t>
            </a:r>
          </a:p>
          <a:p>
            <a:r>
              <a:rPr dirty="0"/>
              <a:t>Primary season: December-March (peaking January-February)</a:t>
            </a:r>
          </a:p>
          <a:p>
            <a:r>
              <a:rPr dirty="0"/>
              <a:t>Vaccine optimization: September-October pre-season</a:t>
            </a:r>
          </a:p>
          <a:p>
            <a:r>
              <a:rPr dirty="0"/>
              <a:t>Community protection duration: 6-8 months</a:t>
            </a:r>
          </a:p>
          <a:p>
            <a:r>
              <a:rPr dirty="0"/>
              <a:t>Booster consideration: High-risk individuals</a:t>
            </a:r>
          </a:p>
          <a:p>
            <a:pPr marL="0" indent="0">
              <a:buNone/>
            </a:pPr>
            <a:r>
              <a:rPr b="1" dirty="0"/>
              <a:t>Southern Hemisphere Timing:</a:t>
            </a:r>
          </a:p>
          <a:p>
            <a:r>
              <a:rPr dirty="0"/>
              <a:t>Primary season: April-September (peaking June-August)</a:t>
            </a:r>
          </a:p>
          <a:p>
            <a:r>
              <a:rPr dirty="0"/>
              <a:t>Vaccine optimization: March-April preparation</a:t>
            </a:r>
          </a:p>
          <a:p>
            <a:r>
              <a:rPr dirty="0"/>
              <a:t>Strain prediction: Basis for Northern vaccine design</a:t>
            </a:r>
          </a:p>
          <a:p>
            <a:r>
              <a:rPr dirty="0"/>
              <a:t>Global influenza surveillance: Continuous year-round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Priority Groups for Seasonal Vaccination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Universal Recommendation Categories: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All persons ≥6 months</a:t>
            </a:r>
            <a:r>
              <a:rPr dirty="0"/>
              <a:t> - Community protection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Pregnant individuals</a:t>
            </a:r>
            <a:r>
              <a:rPr dirty="0"/>
              <a:t> - Maternal &amp; fetal protection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Children 6-59 months</a:t>
            </a:r>
            <a:r>
              <a:rPr dirty="0"/>
              <a:t> - Primary high-risk age group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Adults ≥65 years</a:t>
            </a:r>
            <a:r>
              <a:rPr dirty="0"/>
              <a:t> - </a:t>
            </a:r>
            <a:r>
              <a:rPr dirty="0" err="1"/>
              <a:t>Immunosenescence</a:t>
            </a:r>
            <a:r>
              <a:rPr dirty="0"/>
              <a:t> vulnerability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Chronic medical conditions</a:t>
            </a:r>
            <a:r>
              <a:rPr dirty="0"/>
              <a:t> - COPD, diabetes, heart disease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b="1" dirty="0"/>
              <a:t>Healthcare workers</a:t>
            </a:r>
            <a:r>
              <a:rPr dirty="0"/>
              <a:t> - Patient protection and occupational health</a:t>
            </a:r>
          </a:p>
          <a:p>
            <a:pPr marL="0" indent="0">
              <a:buNone/>
            </a:pPr>
            <a:r>
              <a:rPr dirty="0"/>
              <a:t>7. </a:t>
            </a:r>
            <a:r>
              <a:rPr b="1" dirty="0"/>
              <a:t>Residents of long-term care facilities</a:t>
            </a:r>
            <a:r>
              <a:rPr dirty="0"/>
              <a:t> - Outbreak prevention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Vaccine Effectiveness in Real-World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98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Seasonal Influenza Vaccine Effectiveness:</a:t>
            </a:r>
          </a:p>
          <a:p>
            <a:r>
              <a:rPr dirty="0"/>
              <a:t>Healthy adults (18-64 years): 40-60% against symptomatic illness</a:t>
            </a:r>
          </a:p>
          <a:p>
            <a:r>
              <a:rPr dirty="0"/>
              <a:t>Elderly (≥65 years): 50-70% against severe outcomes</a:t>
            </a:r>
          </a:p>
          <a:p>
            <a:r>
              <a:rPr dirty="0"/>
              <a:t>Children (2-17 years): 60-75% protection demonstrated</a:t>
            </a:r>
          </a:p>
          <a:p>
            <a:r>
              <a:rPr dirty="0"/>
              <a:t>High-dose formulation: 25% additional protection in elderly</a:t>
            </a:r>
          </a:p>
          <a:p>
            <a:pPr marL="0" indent="0">
              <a:buNone/>
            </a:pPr>
            <a:r>
              <a:rPr b="1" dirty="0"/>
              <a:t>Secondary Pneumonia Prevention:</a:t>
            </a:r>
          </a:p>
          <a:p>
            <a:r>
              <a:rPr dirty="0"/>
              <a:t>Hospitalization reduction: 30-50% in vaccinated groups</a:t>
            </a:r>
          </a:p>
          <a:p>
            <a:r>
              <a:rPr dirty="0"/>
              <a:t>ICU admission decline: 40-60% fewer severe cases</a:t>
            </a:r>
          </a:p>
          <a:p>
            <a:r>
              <a:rPr dirty="0"/>
              <a:t>Mortality benefit: 80% reduction in influenza-related deaths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Pediatric Vaccination Special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First Vaccination Ever:</a:t>
            </a:r>
          </a:p>
          <a:p>
            <a:r>
              <a:rPr dirty="0"/>
              <a:t>Two doses required: 4 weeks apart for optimal response</a:t>
            </a:r>
          </a:p>
          <a:p>
            <a:r>
              <a:rPr dirty="0"/>
              <a:t>Immune naive individuals: Primary series needed</a:t>
            </a:r>
          </a:p>
          <a:p>
            <a:r>
              <a:rPr dirty="0"/>
              <a:t>Subsequent years: Annual single dose</a:t>
            </a:r>
          </a:p>
          <a:p>
            <a:r>
              <a:rPr dirty="0"/>
              <a:t>LAIV option: Ages 2-8 years (better immunogenicity)</a:t>
            </a:r>
          </a:p>
          <a:p>
            <a:pPr marL="0" indent="0">
              <a:buNone/>
            </a:pPr>
            <a:r>
              <a:rPr b="1" dirty="0"/>
              <a:t>Catch-up Situations:</a:t>
            </a:r>
          </a:p>
          <a:p>
            <a:r>
              <a:rPr dirty="0"/>
              <a:t>6-35 months: 0.25 mL dose (standard pediatric formulation)</a:t>
            </a:r>
          </a:p>
          <a:p>
            <a:r>
              <a:rPr dirty="0"/>
              <a:t>36+ months: Adult dose (0.5 mL)</a:t>
            </a:r>
          </a:p>
          <a:p>
            <a:r>
              <a:rPr dirty="0"/>
              <a:t>Historical barriers: Needle fear, parental concerns</a:t>
            </a:r>
          </a:p>
          <a:p>
            <a:r>
              <a:rPr dirty="0"/>
              <a:t>School-based programs: High coverage achievement potential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Pregnancy &amp; Maternal Immunization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21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Universal Recommendation: All trimesters safe and effective</a:t>
            </a:r>
          </a:p>
          <a:p>
            <a:pPr marL="0" indent="0">
              <a:buNone/>
            </a:pPr>
            <a:r>
              <a:rPr b="1" dirty="0"/>
              <a:t>Maternal Benefits:</a:t>
            </a:r>
          </a:p>
          <a:p>
            <a:r>
              <a:rPr dirty="0"/>
              <a:t>Severe influenza prevention during pregnancy</a:t>
            </a:r>
          </a:p>
          <a:p>
            <a:r>
              <a:rPr dirty="0"/>
              <a:t>Reduced hospitalization and complications</a:t>
            </a:r>
          </a:p>
          <a:p>
            <a:r>
              <a:rPr dirty="0"/>
              <a:t>Postpartum immunity maintenance</a:t>
            </a:r>
          </a:p>
          <a:p>
            <a:pPr marL="0" indent="0">
              <a:buNone/>
            </a:pPr>
            <a:r>
              <a:rPr b="1" dirty="0"/>
              <a:t>Fetal/Infant Benefits:</a:t>
            </a:r>
          </a:p>
          <a:p>
            <a:r>
              <a:rPr dirty="0"/>
              <a:t>Placental antibody transfer until 6 months</a:t>
            </a:r>
          </a:p>
          <a:p>
            <a:r>
              <a:rPr dirty="0"/>
              <a:t>Neonatal protection against severe illness</a:t>
            </a:r>
          </a:p>
          <a:p>
            <a:r>
              <a:rPr dirty="0"/>
              <a:t>Reduced infant hospitalization (31-63%)</a:t>
            </a:r>
          </a:p>
          <a:p>
            <a:r>
              <a:rPr dirty="0"/>
              <a:t>Extended protection through breastfeeding</a:t>
            </a:r>
          </a:p>
          <a:p>
            <a:pPr marL="0" indent="0">
              <a:buNone/>
            </a:pPr>
            <a:r>
              <a:rPr b="1" dirty="0"/>
              <a:t>Safety Profile:</a:t>
            </a:r>
          </a:p>
          <a:p>
            <a:r>
              <a:rPr dirty="0"/>
              <a:t>Extensive safety data from millions of doses</a:t>
            </a:r>
          </a:p>
          <a:p>
            <a:r>
              <a:rPr dirty="0"/>
              <a:t>No increased adverse pregnancy outcomes</a:t>
            </a:r>
          </a:p>
          <a:p>
            <a:r>
              <a:rPr dirty="0"/>
              <a:t>Category B classification (FDA pregnancy categories)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Immunocompromised Patient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HIV-Infected Individuals:</a:t>
            </a:r>
          </a:p>
          <a:p>
            <a:r>
              <a:rPr dirty="0"/>
              <a:t>Safe regardless of CD4 count (&gt;200 recommended)</a:t>
            </a:r>
          </a:p>
          <a:p>
            <a:r>
              <a:rPr dirty="0"/>
              <a:t>Better response with CD4 &gt;500 cells/</a:t>
            </a:r>
            <a:r>
              <a:rPr dirty="0" err="1"/>
              <a:t>μL</a:t>
            </a:r>
            <a:endParaRPr dirty="0"/>
          </a:p>
          <a:p>
            <a:r>
              <a:rPr dirty="0"/>
              <a:t>Combination with pneumococcal vaccination advised</a:t>
            </a:r>
          </a:p>
          <a:p>
            <a:r>
              <a:rPr dirty="0"/>
              <a:t>Annual revaccination recommended</a:t>
            </a:r>
          </a:p>
          <a:p>
            <a:pPr marL="0" indent="0">
              <a:buNone/>
            </a:pPr>
            <a:r>
              <a:rPr b="1" dirty="0"/>
              <a:t>Cancer Patients:</a:t>
            </a:r>
          </a:p>
          <a:p>
            <a:r>
              <a:rPr dirty="0"/>
              <a:t>Timing with chemotherapy cycles crucial</a:t>
            </a:r>
          </a:p>
          <a:p>
            <a:r>
              <a:rPr dirty="0"/>
              <a:t>Safe during remission or stable disease</a:t>
            </a:r>
          </a:p>
          <a:p>
            <a:r>
              <a:rPr dirty="0"/>
              <a:t>May need higher antibody titers post-vaccination</a:t>
            </a:r>
          </a:p>
          <a:p>
            <a:r>
              <a:rPr dirty="0"/>
              <a:t>Often requires annual vaccination</a:t>
            </a:r>
          </a:p>
          <a:p>
            <a:pPr marL="0" indent="0">
              <a:buNone/>
            </a:pPr>
            <a:r>
              <a:rPr b="1" dirty="0"/>
              <a:t>Organ Transplant Recipients:</a:t>
            </a:r>
          </a:p>
          <a:p>
            <a:r>
              <a:rPr dirty="0"/>
              <a:t>Post-transplant protection (3-6 months recommended)</a:t>
            </a:r>
          </a:p>
          <a:p>
            <a:r>
              <a:rPr dirty="0"/>
              <a:t>May require higher antigen doses</a:t>
            </a:r>
          </a:p>
          <a:p>
            <a:r>
              <a:rPr dirty="0"/>
              <a:t>Reduced response in immunosuppressive states</a:t>
            </a:r>
          </a:p>
          <a:p>
            <a:r>
              <a:rPr dirty="0"/>
              <a:t>Live vaccines (LAIV) generally contraindicated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Adverse Events and Safety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b="1" dirty="0"/>
              <a:t>Common Local Reactions (10-30%):</a:t>
            </a:r>
          </a:p>
          <a:p>
            <a:r>
              <a:rPr dirty="0"/>
              <a:t>Injection site pain, redness, swelling</a:t>
            </a:r>
          </a:p>
          <a:p>
            <a:r>
              <a:rPr dirty="0"/>
              <a:t>Generally mild, resolve within 24-48 hours</a:t>
            </a:r>
          </a:p>
          <a:p>
            <a:r>
              <a:rPr dirty="0"/>
              <a:t>No specific treatment usually required</a:t>
            </a:r>
          </a:p>
          <a:p>
            <a:r>
              <a:rPr dirty="0"/>
              <a:t>Higher incidence with high-dose formulations</a:t>
            </a:r>
          </a:p>
          <a:p>
            <a:pPr marL="0" indent="0">
              <a:buNone/>
            </a:pPr>
            <a:r>
              <a:rPr b="1" dirty="0"/>
              <a:t>Systemic Reactions (5-15%):</a:t>
            </a:r>
          </a:p>
          <a:p>
            <a:r>
              <a:rPr dirty="0"/>
              <a:t>Low-grade fever, fatigue, myalgia</a:t>
            </a:r>
          </a:p>
          <a:p>
            <a:r>
              <a:rPr dirty="0"/>
              <a:t>Headache, arthralgia, chills</a:t>
            </a:r>
          </a:p>
          <a:p>
            <a:r>
              <a:rPr dirty="0"/>
              <a:t>Generally self-limiting within 3-7 days</a:t>
            </a:r>
          </a:p>
          <a:p>
            <a:r>
              <a:rPr dirty="0"/>
              <a:t>More common in younger adults than elderly</a:t>
            </a:r>
          </a:p>
          <a:p>
            <a:pPr marL="0" indent="0">
              <a:buNone/>
            </a:pPr>
            <a:r>
              <a:rPr b="1" dirty="0"/>
              <a:t>Rare Serious Events:</a:t>
            </a:r>
          </a:p>
          <a:p>
            <a:r>
              <a:rPr dirty="0"/>
              <a:t>Guillain-Barré syndrome: Not causally linked (&lt;1:1 million doses)</a:t>
            </a:r>
          </a:p>
          <a:p>
            <a:r>
              <a:rPr dirty="0"/>
              <a:t>Anaphylaxis: Extremely rare (1:1 million)</a:t>
            </a:r>
          </a:p>
          <a:p>
            <a:r>
              <a:rPr dirty="0"/>
              <a:t>New onset thrombocytopenia: Idiopathic, coincidental</a:t>
            </a:r>
          </a:p>
          <a:p>
            <a:r>
              <a:rPr dirty="0" err="1"/>
              <a:t>Oculorespiratory</a:t>
            </a:r>
            <a:r>
              <a:rPr dirty="0"/>
              <a:t> syndrome: Rare, self-limiting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LAIV (Live Attenuated) Special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Advantages over inactivated vaccines:</a:t>
            </a:r>
          </a:p>
          <a:p>
            <a:r>
              <a:rPr dirty="0"/>
              <a:t>Better mucosal immunity (intranasal administration)</a:t>
            </a:r>
          </a:p>
          <a:p>
            <a:r>
              <a:rPr dirty="0"/>
              <a:t>Longer duration of protection</a:t>
            </a:r>
          </a:p>
          <a:p>
            <a:r>
              <a:rPr dirty="0"/>
              <a:t>Cross-protection against drifted viruses</a:t>
            </a:r>
          </a:p>
          <a:p>
            <a:r>
              <a:rPr dirty="0"/>
              <a:t>Easier administration (needle-free)</a:t>
            </a:r>
          </a:p>
          <a:p>
            <a:pPr marL="0" indent="0">
              <a:buNone/>
            </a:pPr>
            <a:r>
              <a:rPr b="1" dirty="0"/>
              <a:t>Disadvantages &amp; Contraindications:</a:t>
            </a:r>
          </a:p>
          <a:p>
            <a:r>
              <a:rPr dirty="0"/>
              <a:t>Not recommended in pregnancy</a:t>
            </a:r>
          </a:p>
          <a:p>
            <a:r>
              <a:rPr dirty="0"/>
              <a:t>Contraindicated in immunocompromised</a:t>
            </a:r>
          </a:p>
          <a:p>
            <a:r>
              <a:rPr dirty="0"/>
              <a:t>Avoid in children with asthma (risk of wheezing)</a:t>
            </a:r>
          </a:p>
          <a:p>
            <a:r>
              <a:rPr dirty="0"/>
              <a:t>Garlic/onion allergy (stabilizer component)</a:t>
            </a:r>
          </a:p>
          <a:p>
            <a:r>
              <a:rPr dirty="0"/>
              <a:t>Recent influenza antiviral use (reduces efficacy)</a:t>
            </a:r>
          </a:p>
          <a:p>
            <a:pPr marL="0" indent="0">
              <a:buNone/>
            </a:pPr>
            <a:r>
              <a:rPr b="1" dirty="0"/>
              <a:t>Effectiveness Data:</a:t>
            </a:r>
          </a:p>
          <a:p>
            <a:r>
              <a:rPr dirty="0"/>
              <a:t>50-58% against antigenically matched viruses</a:t>
            </a:r>
          </a:p>
          <a:p>
            <a:r>
              <a:rPr dirty="0"/>
              <a:t>Better for children 2-17 years</a:t>
            </a:r>
          </a:p>
          <a:p>
            <a:r>
              <a:rPr dirty="0"/>
              <a:t>Lower effectiveness in adults &gt;60 years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Pandemic Preparedness - From Seasonal to Global Threat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Pandemic Influenza Characteristics:</a:t>
            </a:r>
          </a:p>
          <a:p>
            <a:r>
              <a:rPr dirty="0"/>
              <a:t>Rapid global spread (R</a:t>
            </a:r>
            <a:r>
              <a:rPr baseline="-25000" dirty="0"/>
              <a:t>0</a:t>
            </a:r>
            <a:r>
              <a:rPr dirty="0"/>
              <a:t>=2.0-3.0)</a:t>
            </a:r>
          </a:p>
          <a:p>
            <a:r>
              <a:rPr dirty="0"/>
              <a:t>Novel viral strains (limited population immunity)</a:t>
            </a:r>
          </a:p>
          <a:p>
            <a:r>
              <a:rPr dirty="0"/>
              <a:t>High healthcare system strain</a:t>
            </a:r>
          </a:p>
          <a:p>
            <a:r>
              <a:rPr dirty="0"/>
              <a:t>Economic disruption unparalleled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Pandemic Vaccine Development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037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Traditional Egg-Based Production:</a:t>
            </a:r>
          </a:p>
          <a:p>
            <a:r>
              <a:rPr dirty="0"/>
              <a:t>6-9 months development timeline</a:t>
            </a:r>
          </a:p>
          <a:p>
            <a:r>
              <a:rPr dirty="0"/>
              <a:t>Stockpiling of egg-adapted strains</a:t>
            </a:r>
          </a:p>
          <a:p>
            <a:r>
              <a:rPr dirty="0"/>
              <a:t>Global distribution challenges</a:t>
            </a:r>
          </a:p>
          <a:p>
            <a:r>
              <a:rPr dirty="0"/>
              <a:t>Limitations in low/middle-income countries</a:t>
            </a:r>
          </a:p>
          <a:p>
            <a:pPr marL="0" indent="0">
              <a:buNone/>
            </a:pPr>
            <a:r>
              <a:rPr b="1" dirty="0"/>
              <a:t>Next-Generation Platforms:</a:t>
            </a:r>
          </a:p>
          <a:p>
            <a:pPr marL="457200" indent="-457200"/>
            <a:r>
              <a:rPr b="1" dirty="0"/>
              <a:t>Cell-Based Vaccines:</a:t>
            </a:r>
          </a:p>
          <a:p>
            <a:pPr lvl="1"/>
            <a:r>
              <a:rPr dirty="0"/>
              <a:t>Faster production cycles (weeks instead of months)</a:t>
            </a:r>
          </a:p>
          <a:p>
            <a:pPr lvl="1"/>
            <a:r>
              <a:rPr dirty="0"/>
              <a:t>No egg allergies risk</a:t>
            </a:r>
          </a:p>
          <a:p>
            <a:pPr lvl="1"/>
            <a:r>
              <a:rPr dirty="0"/>
              <a:t>Higher fidelity to circulating viruses</a:t>
            </a:r>
          </a:p>
          <a:p>
            <a:pPr lvl="1"/>
            <a:r>
              <a:rPr dirty="0"/>
              <a:t>Scalable manufacturing capacity</a:t>
            </a:r>
          </a:p>
          <a:p>
            <a:r>
              <a:rPr b="1" dirty="0"/>
              <a:t>RNA/DNA Vaccines:</a:t>
            </a:r>
          </a:p>
          <a:p>
            <a:pPr lvl="1"/>
            <a:r>
              <a:rPr dirty="0"/>
              <a:t>24-48 hour development possible</a:t>
            </a:r>
          </a:p>
          <a:p>
            <a:pPr lvl="1"/>
            <a:r>
              <a:rPr dirty="0"/>
              <a:t>Highly adaptable to any genetic sequence</a:t>
            </a:r>
          </a:p>
          <a:p>
            <a:pPr lvl="1"/>
            <a:r>
              <a:rPr dirty="0"/>
              <a:t>Stored in freeze-dried form (long shelf-life)</a:t>
            </a:r>
          </a:p>
          <a:p>
            <a:pPr lvl="1"/>
            <a:r>
              <a:rPr dirty="0"/>
              <a:t>Pandemic-ready stockpiles available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Healthcare Worker Vaccination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Professional Responsibility Framework:</a:t>
            </a:r>
          </a:p>
          <a:p>
            <a:pPr marL="0" indent="0">
              <a:buNone/>
            </a:pPr>
            <a:r>
              <a:rPr b="1" dirty="0"/>
              <a:t>Patient Protection:</a:t>
            </a:r>
          </a:p>
          <a:p>
            <a:r>
              <a:rPr dirty="0"/>
              <a:t>Institutional safety through herd immunity</a:t>
            </a:r>
          </a:p>
          <a:p>
            <a:r>
              <a:rPr dirty="0"/>
              <a:t>Prevention of nosocomial transmission</a:t>
            </a:r>
          </a:p>
          <a:p>
            <a:r>
              <a:rPr dirty="0"/>
              <a:t>Workplace absenteeism reduction</a:t>
            </a:r>
          </a:p>
          <a:p>
            <a:r>
              <a:rPr dirty="0"/>
              <a:t>Quality patient care continuity</a:t>
            </a:r>
          </a:p>
          <a:p>
            <a:pPr marL="0" indent="0">
              <a:buNone/>
            </a:pPr>
            <a:r>
              <a:rPr b="1" dirty="0"/>
              <a:t>Personal Health Protection:</a:t>
            </a:r>
          </a:p>
          <a:p>
            <a:r>
              <a:rPr dirty="0"/>
              <a:t>Occupational hazard in healthcare settings</a:t>
            </a:r>
          </a:p>
          <a:p>
            <a:r>
              <a:rPr dirty="0"/>
              <a:t>2009 H1N1 pandemic lessons (high HCW mortality)</a:t>
            </a:r>
          </a:p>
          <a:p>
            <a:r>
              <a:rPr dirty="0"/>
              <a:t>Work-life balance through illness prevention</a:t>
            </a:r>
          </a:p>
          <a:p>
            <a:r>
              <a:rPr dirty="0"/>
              <a:t>Medication compliance incentives</a:t>
            </a:r>
          </a:p>
          <a:p>
            <a:pPr marL="0" indent="0">
              <a:buNone/>
            </a:pPr>
            <a:r>
              <a:rPr b="1" dirty="0"/>
              <a:t>Ethical Component:</a:t>
            </a:r>
          </a:p>
          <a:p>
            <a:r>
              <a:rPr dirty="0"/>
              <a:t>Duty of care to vulnerable patients</a:t>
            </a:r>
          </a:p>
          <a:p>
            <a:r>
              <a:rPr dirty="0"/>
              <a:t>Benedict's principle (first, do no harm)</a:t>
            </a:r>
          </a:p>
          <a:p>
            <a:r>
              <a:rPr dirty="0"/>
              <a:t>Institutional policies vs individual autonomy</a:t>
            </a:r>
          </a:p>
          <a:p>
            <a:r>
              <a:rPr dirty="0"/>
              <a:t>Mandate effectiveness in high-coverage settings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Vaccine Hesitancy in Influenza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Influenza-Specific Concerns:</a:t>
            </a:r>
          </a:p>
          <a:p>
            <a:r>
              <a:rPr dirty="0"/>
              <a:t>Response: Seasonal influenza causes 290,000-650,000 deaths annually</a:t>
            </a:r>
          </a:p>
          <a:p>
            <a:r>
              <a:rPr dirty="0"/>
              <a:t>Response: Inactivated vaccines cannot cause infection</a:t>
            </a:r>
          </a:p>
          <a:p>
            <a:r>
              <a:rPr dirty="0"/>
              <a:t>Response: 5-20% of adults get symptomatic influenza annually</a:t>
            </a:r>
          </a:p>
          <a:p>
            <a:r>
              <a:rPr dirty="0"/>
              <a:t>Response: Local reactions mild and transient (&lt;2% serious)</a:t>
            </a:r>
          </a:p>
          <a:p>
            <a:r>
              <a:rPr dirty="0"/>
              <a:t>Response: Prevents maternal-fetal complications, safe in all trimesters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6294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Direct Cost Savings:</a:t>
            </a:r>
          </a:p>
          <a:p>
            <a:r>
              <a:rPr dirty="0"/>
              <a:t>Outpatient visits reduction: 40-60% fewer consultations</a:t>
            </a:r>
          </a:p>
          <a:p>
            <a:r>
              <a:rPr dirty="0"/>
              <a:t>Hospitalization prevention: 30-50% reduction in severe cases</a:t>
            </a:r>
          </a:p>
          <a:p>
            <a:r>
              <a:rPr dirty="0"/>
              <a:t>Antibiotic prescription decline: 25-40% fewer prescriptions</a:t>
            </a:r>
          </a:p>
          <a:p>
            <a:r>
              <a:rPr dirty="0"/>
              <a:t>Work productivity gains: 15-25% absenteeism reduction</a:t>
            </a:r>
          </a:p>
          <a:p>
            <a:pPr marL="0" indent="0">
              <a:buNone/>
            </a:pPr>
            <a:r>
              <a:rPr b="1" dirty="0"/>
              <a:t>Cost per QALY:</a:t>
            </a:r>
          </a:p>
          <a:p>
            <a:r>
              <a:rPr dirty="0"/>
              <a:t>Developed countries: $10,000-30,000 per QALY gained</a:t>
            </a:r>
          </a:p>
          <a:p>
            <a:r>
              <a:rPr dirty="0"/>
              <a:t>Developing countries: Even more favorable economics</a:t>
            </a:r>
          </a:p>
          <a:p>
            <a:r>
              <a:rPr dirty="0"/>
              <a:t>Universal coverage ROI: 2-5 fold return on investment</a:t>
            </a:r>
          </a:p>
          <a:p>
            <a:r>
              <a:rPr dirty="0"/>
              <a:t>Societal perspective: 6-8 months to break even per vaccine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Global Repurposing for COVID-19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Established Surveillance Networks:</a:t>
            </a:r>
          </a:p>
          <a:p>
            <a:r>
              <a:rPr dirty="0"/>
              <a:t>WHO </a:t>
            </a:r>
            <a:r>
              <a:rPr dirty="0" err="1"/>
              <a:t>FluNet</a:t>
            </a:r>
            <a:r>
              <a:rPr dirty="0"/>
              <a:t>: Global viral surveillance system</a:t>
            </a:r>
          </a:p>
          <a:p>
            <a:r>
              <a:rPr dirty="0"/>
              <a:t>EMFLU: Emerging respiratory virus monitoring</a:t>
            </a:r>
          </a:p>
          <a:p>
            <a:r>
              <a:rPr dirty="0"/>
              <a:t>GISRs: Global Influenza Surveillance States</a:t>
            </a:r>
          </a:p>
          <a:p>
            <a:r>
              <a:rPr dirty="0"/>
              <a:t>Real-time genomic sequencing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Vaccine Manufacturing Capacity:</a:t>
            </a:r>
          </a:p>
          <a:p>
            <a:r>
              <a:rPr dirty="0"/>
              <a:t>Northern Hemisphere factories: Rapid strain switching</a:t>
            </a:r>
          </a:p>
          <a:p>
            <a:r>
              <a:rPr dirty="0"/>
              <a:t>Southern Hemisphere positioning: Year-round production</a:t>
            </a:r>
          </a:p>
          <a:p>
            <a:r>
              <a:rPr dirty="0"/>
              <a:t>Novel platform technologies: mRNA vaccine adaptability</a:t>
            </a:r>
          </a:p>
          <a:p>
            <a:r>
              <a:rPr dirty="0"/>
              <a:t>Stockpile management: Strategic reserve implementation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Future Directions - Universal Influenza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Beyond Seasonal Vaccines:</a:t>
            </a:r>
          </a:p>
          <a:p>
            <a:r>
              <a:rPr b="1" dirty="0"/>
              <a:t>Conserved Epitope Vaccines:</a:t>
            </a:r>
          </a:p>
          <a:p>
            <a:r>
              <a:rPr dirty="0"/>
              <a:t>Hemagglutinin stalk rather than head antigens</a:t>
            </a:r>
          </a:p>
          <a:p>
            <a:r>
              <a:rPr dirty="0"/>
              <a:t>Universal protection against all influenza A subtypes</a:t>
            </a:r>
          </a:p>
          <a:p>
            <a:r>
              <a:rPr dirty="0"/>
              <a:t>Potent cross-protection against drifted viruses</a:t>
            </a:r>
          </a:p>
          <a:p>
            <a:r>
              <a:rPr dirty="0"/>
              <a:t>Single-dose lifetime immunity theoretical possibility</a:t>
            </a:r>
          </a:p>
          <a:p>
            <a:r>
              <a:rPr b="1" dirty="0"/>
              <a:t>Mucosal Administration:</a:t>
            </a:r>
          </a:p>
          <a:p>
            <a:r>
              <a:rPr dirty="0"/>
              <a:t>Intranasal delivery for superior local immunity</a:t>
            </a:r>
          </a:p>
          <a:p>
            <a:r>
              <a:rPr dirty="0"/>
              <a:t>Mucosal adjuvants to enhance response</a:t>
            </a:r>
          </a:p>
          <a:p>
            <a:r>
              <a:rPr dirty="0"/>
              <a:t>Easier administration for mass campaigns</a:t>
            </a:r>
          </a:p>
          <a:p>
            <a:r>
              <a:rPr dirty="0"/>
              <a:t>No injection anxiety barriers</a:t>
            </a:r>
          </a:p>
          <a:p>
            <a:r>
              <a:rPr b="1" dirty="0"/>
              <a:t>Combination Vaccines:</a:t>
            </a:r>
          </a:p>
          <a:p>
            <a:r>
              <a:rPr dirty="0"/>
              <a:t>Single-shot protection (influenza + pneumococcal)</a:t>
            </a:r>
          </a:p>
          <a:p>
            <a:r>
              <a:rPr dirty="0"/>
              <a:t>COVID-19 integration for respiratory protection</a:t>
            </a:r>
          </a:p>
          <a:p>
            <a:r>
              <a:rPr dirty="0"/>
              <a:t>Adjuvanted formulations for older adults</a:t>
            </a:r>
          </a:p>
          <a:p>
            <a:r>
              <a:rPr dirty="0"/>
              <a:t>Personalized vaccination by genetic risk factors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CBME Key Assessment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b="1" dirty="0"/>
              <a:t>Question: Influenza vaccine effectiveness in elderly?</a:t>
            </a:r>
          </a:p>
          <a:p>
            <a:r>
              <a:rPr dirty="0"/>
              <a:t>A) 20-30%</a:t>
            </a:r>
          </a:p>
          <a:p>
            <a:r>
              <a:rPr dirty="0"/>
              <a:t>B) 50-70% against severe outcomes ⭐</a:t>
            </a:r>
          </a:p>
          <a:p>
            <a:r>
              <a:rPr dirty="0"/>
              <a:t>C) 80-90%</a:t>
            </a:r>
          </a:p>
          <a:p>
            <a:r>
              <a:rPr dirty="0"/>
              <a:t>D) 0-10%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Question: LAIV effectiveness in children vs adults?</a:t>
            </a:r>
          </a:p>
          <a:p>
            <a:r>
              <a:rPr dirty="0"/>
              <a:t>A) Better in adults</a:t>
            </a:r>
          </a:p>
          <a:p>
            <a:r>
              <a:rPr dirty="0"/>
              <a:t>B) Equal effectiveness</a:t>
            </a:r>
          </a:p>
          <a:p>
            <a:r>
              <a:rPr dirty="0"/>
              <a:t>C) Better in children (&gt;60%) ⭐</a:t>
            </a:r>
          </a:p>
          <a:p>
            <a:r>
              <a:rPr dirty="0"/>
              <a:t>D) Not effective in either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Question: Pregnancy influenza vaccination timing?</a:t>
            </a:r>
          </a:p>
          <a:p>
            <a:r>
              <a:rPr dirty="0"/>
              <a:t>A) Only first trimester</a:t>
            </a:r>
          </a:p>
          <a:p>
            <a:r>
              <a:rPr dirty="0"/>
              <a:t>B) Only second trimester</a:t>
            </a:r>
          </a:p>
          <a:p>
            <a:r>
              <a:rPr dirty="0"/>
              <a:t>C) All trimesters safe ⭐</a:t>
            </a:r>
          </a:p>
          <a:p>
            <a:r>
              <a:rPr dirty="0"/>
              <a:t>D) Only postpartum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Decision-Making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5903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Case 1: 75-year-old COPD Patient</a:t>
            </a:r>
          </a:p>
          <a:p>
            <a:r>
              <a:rPr dirty="0"/>
              <a:t>History: Frequent exacerbations, recent hospitalization</a:t>
            </a:r>
          </a:p>
          <a:p>
            <a:r>
              <a:rPr dirty="0"/>
              <a:t>Recommendation: High-dose quadrivalent influenza vaccine</a:t>
            </a:r>
          </a:p>
          <a:p>
            <a:r>
              <a:rPr dirty="0"/>
              <a:t>Rationale: Enhanced immunogenicity in elderly + COPD risk</a:t>
            </a:r>
          </a:p>
          <a:p>
            <a:r>
              <a:rPr dirty="0"/>
              <a:t>Additional: Pneumococcal vaccination for comprehensive protection</a:t>
            </a:r>
          </a:p>
          <a:p>
            <a:pPr marL="0" indent="0">
              <a:buNone/>
            </a:pPr>
            <a:r>
              <a:rPr b="1" dirty="0"/>
              <a:t>Case 2: 32-year-old Pregnant Healthcare Worker</a:t>
            </a:r>
          </a:p>
          <a:p>
            <a:r>
              <a:rPr dirty="0"/>
              <a:t>Trimester: Second trimester, multiple patient contacts</a:t>
            </a:r>
          </a:p>
          <a:p>
            <a:r>
              <a:rPr dirty="0"/>
              <a:t>Recommendation: Standard quadrivalent IIV</a:t>
            </a:r>
          </a:p>
          <a:p>
            <a:r>
              <a:rPr dirty="0"/>
              <a:t>Rationale: Fetal protection + occupational risk reduction</a:t>
            </a:r>
          </a:p>
          <a:p>
            <a:r>
              <a:rPr dirty="0"/>
              <a:t>Counseling: Safety profile, benefit-to-risk assessment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Evaluation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Learning Experience Assessment:</a:t>
            </a:r>
          </a:p>
          <a:p>
            <a:r>
              <a:rPr dirty="0"/>
              <a:t>What was most valuable today? __________</a:t>
            </a:r>
          </a:p>
          <a:p>
            <a:r>
              <a:rPr dirty="0"/>
              <a:t>What needs more emphasis? __________</a:t>
            </a:r>
          </a:p>
          <a:p>
            <a:r>
              <a:rPr dirty="0"/>
              <a:t>Additional topics you'd like covered? __________</a:t>
            </a:r>
          </a:p>
          <a:p>
            <a:pPr marL="0" indent="0">
              <a:buNone/>
            </a:pPr>
            <a:r>
              <a:rPr b="1" dirty="0"/>
              <a:t>Overall Rating:</a:t>
            </a:r>
            <a:r>
              <a:rPr dirty="0"/>
              <a:t> ⭐⭐⭐⭐⭐</a:t>
            </a:r>
          </a:p>
          <a:p>
            <a:pPr marL="0" indent="0">
              <a:buNone/>
            </a:pPr>
            <a:r>
              <a:rPr b="1" dirty="0"/>
              <a:t>Interactive Discussion Topics:</a:t>
            </a:r>
          </a:p>
          <a:p>
            <a:r>
              <a:rPr dirty="0"/>
              <a:t>Hospital policy on mandatory HCW vaccination</a:t>
            </a:r>
          </a:p>
          <a:p>
            <a:r>
              <a:rPr dirty="0"/>
              <a:t>Challenges in rural immunization delivery</a:t>
            </a:r>
          </a:p>
          <a:p>
            <a:r>
              <a:rPr dirty="0"/>
              <a:t>Integration with existing respiratory illness programs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Practical Implementation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Clinic-Level Integration:</a:t>
            </a:r>
          </a:p>
          <a:p>
            <a:r>
              <a:rPr dirty="0"/>
              <a:t>Annual campaigns: September-November focused activities</a:t>
            </a:r>
          </a:p>
          <a:p>
            <a:r>
              <a:rPr dirty="0"/>
              <a:t>Standing order protocols: Nurse-initiated vaccination</a:t>
            </a:r>
          </a:p>
          <a:p>
            <a:r>
              <a:rPr dirty="0"/>
              <a:t>Reminder systems: Automated patient messaging</a:t>
            </a:r>
          </a:p>
          <a:p>
            <a:r>
              <a:rPr dirty="0"/>
              <a:t>Documentation: Integration with medical records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Community Approaches:</a:t>
            </a:r>
          </a:p>
          <a:p>
            <a:r>
              <a:rPr dirty="0"/>
              <a:t>Pharmacy partnerships: Extended access hours</a:t>
            </a:r>
          </a:p>
          <a:p>
            <a:r>
              <a:rPr dirty="0"/>
              <a:t>Workplace vaccination: Employer-sponsored programs</a:t>
            </a:r>
          </a:p>
          <a:p>
            <a:r>
              <a:rPr dirty="0"/>
              <a:t>Senior center campaigns: Concentrated vulnerable populations</a:t>
            </a:r>
          </a:p>
          <a:p>
            <a:r>
              <a:rPr dirty="0"/>
              <a:t>Door-to-door services: Hard-to-reach geographic areas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📚 Key Guidelines (2024 Updates):</a:t>
            </a:r>
          </a:p>
          <a:p>
            <a:r>
              <a:rPr dirty="0"/>
              <a:t>1. </a:t>
            </a:r>
            <a:r>
              <a:rPr b="1" dirty="0"/>
              <a:t>ACIP Influenza Vaccination Recommendations</a:t>
            </a:r>
          </a:p>
          <a:p>
            <a:r>
              <a:rPr dirty="0"/>
              <a:t>2. </a:t>
            </a:r>
            <a:r>
              <a:rPr b="1" dirty="0"/>
              <a:t>WHO Global Influenza Strategy 2019-2030</a:t>
            </a:r>
          </a:p>
          <a:p>
            <a:r>
              <a:rPr dirty="0"/>
              <a:t>3. </a:t>
            </a:r>
            <a:r>
              <a:rPr b="1" dirty="0"/>
              <a:t>CDC Pink Book - Influenza Chapter</a:t>
            </a:r>
          </a:p>
          <a:p>
            <a:r>
              <a:rPr dirty="0"/>
              <a:t>4. </a:t>
            </a:r>
            <a:r>
              <a:rPr b="1" dirty="0"/>
              <a:t>IAP Pediatric Immunization Schedule India</a:t>
            </a:r>
          </a:p>
          <a:p>
            <a:pPr marL="0" indent="0">
              <a:buNone/>
            </a:pPr>
            <a:r>
              <a:rPr b="1" dirty="0"/>
              <a:t>🔗 Online Platforms:</a:t>
            </a:r>
          </a:p>
          <a:p>
            <a:r>
              <a:rPr dirty="0"/>
              <a:t>CDC Influenza: https://www.cdc.gov/flu</a:t>
            </a:r>
          </a:p>
          <a:p>
            <a:r>
              <a:rPr dirty="0"/>
              <a:t>WHO </a:t>
            </a:r>
            <a:r>
              <a:rPr dirty="0" err="1"/>
              <a:t>FluNet</a:t>
            </a:r>
            <a:r>
              <a:rPr dirty="0"/>
              <a:t>: https://www.who.int/tools/flunet</a:t>
            </a:r>
          </a:p>
          <a:p>
            <a:r>
              <a:rPr dirty="0"/>
              <a:t>Influenza Research Database: Comprehensive literature</a:t>
            </a:r>
          </a:p>
          <a:p>
            <a:r>
              <a:rPr dirty="0"/>
              <a:t>VIA - Vaccine Information for Adults: ACIP resource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Strategic Positioning 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372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Building on Chapter 10: Pneumococcal Focus</a:t>
            </a:r>
          </a:p>
          <a:p>
            <a:pPr marL="0" indent="0">
              <a:buNone/>
            </a:pPr>
            <a:r>
              <a:rPr b="1" dirty="0"/>
              <a:t>Previous Chapter Highlights:</a:t>
            </a:r>
          </a:p>
          <a:p>
            <a:r>
              <a:rPr dirty="0"/>
              <a:t>PCV13 science &amp; age-specific schedules</a:t>
            </a:r>
          </a:p>
          <a:p>
            <a:r>
              <a:rPr dirty="0"/>
              <a:t>T-cell dependent immunity vs polysaccharide</a:t>
            </a:r>
          </a:p>
          <a:p>
            <a:r>
              <a:rPr dirty="0"/>
              <a:t>Special populations &amp; implementation</a:t>
            </a:r>
          </a:p>
          <a:p>
            <a:r>
              <a:rPr dirty="0"/>
              <a:t>Indian context adaptations</a:t>
            </a:r>
          </a:p>
          <a:p>
            <a:pPr marL="0" indent="0">
              <a:buNone/>
            </a:pPr>
            <a:r>
              <a:rPr b="1" dirty="0"/>
              <a:t>Chapter 11 focuses on influenza - the other major pneumonia vaccine:</a:t>
            </a:r>
          </a:p>
          <a:p>
            <a:r>
              <a:rPr dirty="0"/>
              <a:t>Seasonal influenza burden and prevention</a:t>
            </a:r>
          </a:p>
          <a:p>
            <a:r>
              <a:rPr dirty="0"/>
              <a:t>Vaccine types &amp; immunogenicity</a:t>
            </a:r>
          </a:p>
          <a:p>
            <a:r>
              <a:rPr dirty="0"/>
              <a:t>Pandemic preparedness frameworks</a:t>
            </a:r>
          </a:p>
          <a:p>
            <a:r>
              <a:rPr dirty="0"/>
              <a:t>Healthcare worker vaccination ethics</a:t>
            </a:r>
          </a:p>
          <a:p>
            <a:r>
              <a:rPr dirty="0"/>
              <a:t>Public health program integration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Next Session: Program Implementation (Chapter 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Building on Influenza Foundation:</a:t>
            </a:r>
          </a:p>
          <a:p>
            <a:r>
              <a:rPr dirty="0"/>
              <a:t>Coverage monitoring systems</a:t>
            </a:r>
          </a:p>
          <a:p>
            <a:r>
              <a:rPr dirty="0"/>
              <a:t>Social mobilization strategies</a:t>
            </a:r>
          </a:p>
          <a:p>
            <a:r>
              <a:rPr dirty="0"/>
              <a:t>Cold chain logistics excellence</a:t>
            </a:r>
          </a:p>
          <a:p>
            <a:r>
              <a:rPr dirty="0"/>
              <a:t>Quality assurance frameworks</a:t>
            </a:r>
          </a:p>
          <a:p>
            <a:r>
              <a:rPr dirty="0"/>
              <a:t>Digital transformation in immunization</a:t>
            </a:r>
          </a:p>
          <a:p>
            <a:pPr marL="0" indent="0">
              <a:buNone/>
            </a:pPr>
            <a:r>
              <a:rPr b="1" dirty="0"/>
              <a:t>Key Takeaways from Today's Session:</a:t>
            </a:r>
          </a:p>
          <a:p>
            <a:r>
              <a:rPr dirty="0"/>
              <a:t>Vaccination prevents 50-80% of influenza pneumonia cases</a:t>
            </a:r>
          </a:p>
          <a:p>
            <a:r>
              <a:rPr dirty="0"/>
              <a:t>Annual updates required due to viral evolution</a:t>
            </a:r>
          </a:p>
          <a:p>
            <a:r>
              <a:rPr dirty="0"/>
              <a:t>Universal recommendation benefits all age groups</a:t>
            </a:r>
          </a:p>
          <a:p>
            <a:r>
              <a:rPr dirty="0"/>
              <a:t>Pregnancy safe and effective for mother-baby protection</a:t>
            </a:r>
          </a:p>
          <a:p>
            <a:r>
              <a:rPr dirty="0"/>
              <a:t>Healthcare workers have ethical vaccination responsibility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1994</Words>
  <Application>Microsoft Office PowerPoint</Application>
  <PresentationFormat>On-screen Show (4:3)</PresentationFormat>
  <Paragraphs>358</Paragraphs>
  <Slides>29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Influenza - the other major pneumonia vaccine</vt:lpstr>
      <vt:lpstr>Chapter Learning Objectives</vt:lpstr>
      <vt:lpstr>Viral Pneumonia's Second Major Threat</vt:lpstr>
      <vt:lpstr>Global Influenza Burden &amp; Economic Impact</vt:lpstr>
      <vt:lpstr>Influenza Virus Characteristics</vt:lpstr>
      <vt:lpstr>Antigenic Evolution - Annual Vaccine Challenge</vt:lpstr>
      <vt:lpstr>Influenza Vaccine Types - Comparative Analysis</vt:lpstr>
      <vt:lpstr>Seasonal Timing &amp; Geographical Variations</vt:lpstr>
      <vt:lpstr>Priority Groups for Seasonal Vaccination</vt:lpstr>
      <vt:lpstr>Vaccine Effectiveness in Real-World Settings</vt:lpstr>
      <vt:lpstr>Pediatric Vaccination Special Considerations</vt:lpstr>
      <vt:lpstr>Pregnancy &amp; Maternal Immunization Benefits</vt:lpstr>
      <vt:lpstr>Immunocompromised Patient Considerations</vt:lpstr>
      <vt:lpstr>Adverse Events and Safety Profile</vt:lpstr>
      <vt:lpstr>LAIV (Live Attenuated) Special Considerations</vt:lpstr>
      <vt:lpstr>Pandemic Preparedness - From Seasonal to Global Threat</vt:lpstr>
      <vt:lpstr>Pandemic Vaccine Development Strategies</vt:lpstr>
      <vt:lpstr>Healthcare Worker Vaccination Ethics</vt:lpstr>
      <vt:lpstr>Vaccine Hesitancy in Influenza Context</vt:lpstr>
      <vt:lpstr>Cost-Effectiveness Analysis</vt:lpstr>
      <vt:lpstr>Global Repurposing for COVID-19 Response</vt:lpstr>
      <vt:lpstr>Future Directions - Universal Influenza Vaccines</vt:lpstr>
      <vt:lpstr>CBME Key Assessment Questions</vt:lpstr>
      <vt:lpstr>Clinical Decision-Making Scenarios</vt:lpstr>
      <vt:lpstr>Session Evaluation &amp; Q&amp;A</vt:lpstr>
      <vt:lpstr>Practical Implementation Strategies</vt:lpstr>
      <vt:lpstr>References &amp; Resources</vt:lpstr>
      <vt:lpstr>Strategic Positioning in Module</vt:lpstr>
      <vt:lpstr>Next Session: Program Implementation (Chapter 12)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2</cp:revision>
  <dcterms:created xsi:type="dcterms:W3CDTF">2013-01-27T09:14:16Z</dcterms:created>
  <dcterms:modified xsi:type="dcterms:W3CDTF">2025-10-05T14:56:18Z</dcterms:modified>
  <cp:category/>
</cp:coreProperties>
</file>