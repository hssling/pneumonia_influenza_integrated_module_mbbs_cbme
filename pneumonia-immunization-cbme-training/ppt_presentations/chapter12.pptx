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12 in Preventive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Previous Chapters Recap:</a:t>
            </a:r>
          </a:p>
          <a:p>
            <a:pPr/>
            <a:r>
              <a:t>Pneumococcal &amp; influenza vaccine science</a:t>
            </a:r>
          </a:p>
          <a:p>
            <a:pPr/>
            <a:r>
              <a:t>Age-appropriate schedules &amp; indications</a:t>
            </a:r>
          </a:p>
          <a:p>
            <a:pPr/>
            <a:r>
              <a:t>Special populations &amp; contraindications</a:t>
            </a:r>
          </a:p>
          <a:p>
            <a:pPr/>
            <a:r>
              <a:t>HCW vaccination ethics</a:t>
            </a:r>
          </a:p>
          <a:p>
            <a:r>
              <a:rPr b="1"/>
              <a:t>Chapter 12 Focus: Program Delivery</a:t>
            </a:r>
          </a:p>
          <a:p>
            <a:pPr/>
            <a:r>
              <a:t>Cold chain management &amp; vaccine storage</a:t>
            </a:r>
          </a:p>
          <a:p>
            <a:pPr/>
            <a:r>
              <a:t>Session management &amp; AEFI monitoring</a:t>
            </a:r>
          </a:p>
          <a:p>
            <a:pPr/>
            <a:r>
              <a:t>Coverage monitoring &amp; defaulter tracing</a:t>
            </a:r>
          </a:p>
          <a:p>
            <a:pPr/>
            <a:r>
              <a:t>Quality assurance systems</a:t>
            </a:r>
          </a:p>
          <a:p>
            <a:pPr/>
            <a:r>
              <a:t>Digital health integration for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By session end, MBBS students will be able to:</a:t>
            </a:r>
          </a:p>
          <a:p>
            <a:r>
              <a:t>1. Apply cold chain principles for vaccine storage and transport</a:t>
            </a:r>
          </a:p>
          <a:p>
            <a:r>
              <a:t>2. Conduct efficient vaccination sessions with quality assurance</a:t>
            </a:r>
          </a:p>
          <a:p>
            <a:r>
              <a:t>3. Implement defaulter identification and tracing systems</a:t>
            </a:r>
          </a:p>
          <a:p>
            <a:r>
              <a:t>4. Monitor and improve vaccination coverage rates</a:t>
            </a:r>
          </a:p>
          <a:p>
            <a:r>
              <a:t>5. Design digital solutions for immunization program management</a:t>
            </a:r>
          </a:p>
          <a:p>
            <a:r>
              <a:rPr b="1"/>
              <a:t>CBME Competencies: Systems-Based Practice, Quality Improvement, Practice-Based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Storage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Temperature Requirements</a:t>
            </a:r>
          </a:p>
          <a:p>
            <a:pPr/>
            <a:r>
              <a:t>Diphtheria-tetanus-pertussis (DTP):** +2°C to +8°C</a:t>
            </a:r>
          </a:p>
          <a:p>
            <a:pPr/>
            <a:r>
              <a:t>Oral polio vaccine (OPV):** -20°C (freezer)</a:t>
            </a:r>
          </a:p>
          <a:p>
            <a:pPr/>
            <a:r>
              <a:t>Measles-mumps-rubella (MMR):** +2°C to +8°C</a:t>
            </a:r>
          </a:p>
          <a:p>
            <a:pPr/>
            <a:r>
              <a:t>Pneumococcal vaccines:** +2°C to +8°C</a:t>
            </a:r>
          </a:p>
          <a:p>
            <a:pPr/>
            <a:r>
              <a:t>Influenza vaccines:** +2°C to +8°C</a:t>
            </a:r>
          </a:p>
          <a:p>
            <a:r>
              <a:rPr b="1" sz="1800"/>
              <a:t>Equipment Types</a:t>
            </a:r>
          </a:p>
          <a:p>
            <a:pPr/>
            <a:r>
              <a:t>Walk-in cold rooms:** District level (500+ L capacity)</a:t>
            </a:r>
          </a:p>
          <a:p>
            <a:pPr/>
            <a:r>
              <a:t>Ice-lined refrigerators:** Health centers (100-300 L)</a:t>
            </a:r>
          </a:p>
          <a:p>
            <a:pPr/>
            <a:r>
              <a:t>Cold boxes:** Mobile outreach (5-20 L)</a:t>
            </a:r>
          </a:p>
          <a:p>
            <a:pPr/>
            <a:r>
              <a:t>Vaccine carriers:** Fixed site transport (1-3 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Cold Chain Monitoring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Temperature Monitoring Systems</a:t>
            </a:r>
          </a:p>
          <a:p>
            <a:r>
              <a:rPr b="1"/>
              <a:t>Electronic data loggers:</a:t>
            </a:r>
          </a:p>
          <a:p>
            <a:pPr/>
            <a:r>
              <a:t>Continuous recording:** 24/7 temperature tracking</a:t>
            </a:r>
          </a:p>
          <a:p>
            <a:pPr/>
            <a:r>
              <a:t>Alarms activation:** Immediate alerts for breaches</a:t>
            </a:r>
          </a:p>
          <a:p>
            <a:pPr/>
            <a:r>
              <a:t>Data transmission:** Remote monitoring capabilities</a:t>
            </a:r>
          </a:p>
          <a:p>
            <a:pPr/>
            <a:r>
              <a:t>Regulatory compliance:** WHO pre-qualification requirements</a:t>
            </a:r>
          </a:p>
          <a:p>
            <a:r>
              <a:rPr b="1"/>
              <a:t>Manual monitoring:</a:t>
            </a:r>
          </a:p>
          <a:p>
            <a:pPr/>
            <a:r>
              <a:t>Temperature charts:** Daily min/max recording</a:t>
            </a:r>
          </a:p>
          <a:p>
            <a:pPr/>
            <a:r>
              <a:t>Freeze indicators:** Visual confirmation of freezing</a:t>
            </a:r>
          </a:p>
          <a:p>
            <a:pPr/>
            <a:r>
              <a:t>Power backup:** Generator/uninterruptible power supply</a:t>
            </a:r>
          </a:p>
          <a:p>
            <a:pPr/>
            <a:r>
              <a:t>Calibration:** Regular thermometer validation</a:t>
            </a:r>
          </a:p>
          <a:p>
            <a:r>
              <a:rPr b="1" sz="1800"/>
              <a:t>Maintenance Protocols</a:t>
            </a:r>
          </a:p>
          <a:p>
            <a:r>
              <a:t/>
            </a:r>
            <a:r>
              <a:rPr b="1"/>
              <a:t>Daily checks:</a:t>
            </a:r>
            <a:r>
              <a:t> Visual inspection, temperature recording</a:t>
            </a:r>
          </a:p>
          <a:p>
            <a:r>
              <a:t/>
            </a:r>
            <a:r>
              <a:rPr b="1"/>
              <a:t>Weekly cleaning:</a:t>
            </a:r>
            <a:r>
              <a:t> Sterilization protocols</a:t>
            </a:r>
          </a:p>
          <a:p>
            <a:r>
              <a:t/>
            </a:r>
            <a:r>
              <a:rPr b="1"/>
              <a:t>Monthly maintenance:</a:t>
            </a:r>
            <a:r>
              <a:t> Defrosting, filter replacement</a:t>
            </a:r>
          </a:p>
          <a:p>
            <a:r>
              <a:t/>
            </a:r>
            <a:r>
              <a:rPr b="1"/>
              <a:t>Quarterly audits:</a:t>
            </a:r>
            <a:r>
              <a:t> External agency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Session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Pre-Session Preparation (30 minutes)</a:t>
            </a:r>
          </a:p>
          <a:p>
            <a:pPr/>
            <a:r>
              <a:t>Site selection:** Accessible, well-ventilated, clean</a:t>
            </a:r>
          </a:p>
          <a:p>
            <a:pPr/>
            <a:r>
              <a:t>Equipment check:** Sharps containers, emergency kits, PPE</a:t>
            </a:r>
          </a:p>
          <a:p>
            <a:pPr/>
            <a:r>
              <a:t>Vaccine verification:** VVM status, expiry dates, reconstitution</a:t>
            </a:r>
          </a:p>
          <a:p>
            <a:pPr/>
            <a:r>
              <a:t>Team roles:** Vaccinator, registrar, counselor, supervisor</a:t>
            </a:r>
          </a:p>
          <a:p>
            <a:pPr/>
            <a:r>
              <a:t>Client flow:** Registration → waiting → vaccination → observation</a:t>
            </a:r>
          </a:p>
          <a:p>
            <a:r>
              <a:rPr b="1" sz="1800"/>
              <a:t>During Session Standards</a:t>
            </a:r>
          </a:p>
          <a:p>
            <a:pPr/>
            <a:r>
              <a:t>Maximum 50 clients/hour** to ensure quality</a:t>
            </a:r>
          </a:p>
          <a:p>
            <a:pPr/>
            <a:r>
              <a:t>15-minute observation period** post-vaccination</a:t>
            </a:r>
          </a:p>
          <a:p>
            <a:pPr/>
            <a:r>
              <a:t>Proper injection technique:** Angle, site, aspiration</a:t>
            </a:r>
          </a:p>
          <a:p>
            <a:pPr/>
            <a:r>
              <a:t>AEFI immediate recognition** and response</a:t>
            </a:r>
          </a:p>
          <a:p>
            <a:pPr/>
            <a:r>
              <a:t>Proper waste disposal** in color-coded bins</a:t>
            </a:r>
          </a:p>
          <a:p>
            <a:r>
              <a:rPr b="1" sz="1800"/>
              <a:t>Post-Session Activities</a:t>
            </a:r>
          </a:p>
          <a:p>
            <a:pPr/>
            <a:r>
              <a:t>Data entry and reporting** within 24 hours</a:t>
            </a:r>
          </a:p>
          <a:p>
            <a:pPr/>
            <a:r>
              <a:t>Equipment cleaning and sterilization</a:t>
            </a:r>
          </a:p>
          <a:p>
            <a:pPr/>
            <a:r>
              <a:t>Vaccine accountability:** Balancing consumption</a:t>
            </a:r>
          </a:p>
          <a:p>
            <a:pPr/>
            <a:r>
              <a:t>Session evaluation** and improvement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Adverse Events Following Immunization (AEFI)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AEFI Classification Framework</a:t>
            </a:r>
          </a:p>
          <a:p>
            <a:r>
              <a:rPr b="1"/>
              <a:t>Vaccine product-related reactions:</a:t>
            </a:r>
          </a:p>
          <a:p>
            <a:pPr/>
            <a:r>
              <a:t>Expected injection site reactions</a:t>
            </a:r>
          </a:p>
          <a:p>
            <a:pPr/>
            <a:r>
              <a:t>Febrile responses within 48 hours</a:t>
            </a:r>
          </a:p>
          <a:p>
            <a:pPr/>
            <a:r>
              <a:t>Allergic reactions (local/systemic)</a:t>
            </a:r>
          </a:p>
          <a:p>
            <a:r>
              <a:rPr b="1"/>
              <a:t>Immunization program errors:</a:t>
            </a:r>
          </a:p>
          <a:p>
            <a:pPr/>
            <a:r>
              <a:t>Wrong vaccine/route/dose</a:t>
            </a:r>
          </a:p>
          <a:p>
            <a:pPr/>
            <a:r>
              <a:t>Contaminated syringes/expired products</a:t>
            </a:r>
          </a:p>
          <a:p>
            <a:pPr/>
            <a:r>
              <a:t>Cold chain breaches</a:t>
            </a:r>
          </a:p>
          <a:p>
            <a:r>
              <a:rPr b="1"/>
              <a:t>Immunization anxiety-related:</a:t>
            </a:r>
          </a:p>
          <a:p>
            <a:pPr/>
            <a:r>
              <a:t>Vasovagal syncope</a:t>
            </a:r>
          </a:p>
          <a:p>
            <a:pPr/>
            <a:r>
              <a:t>Hyperventilation episodes</a:t>
            </a:r>
          </a:p>
          <a:p>
            <a:r>
              <a:rPr b="1"/>
              <a:t>Coincidental events:</a:t>
            </a:r>
          </a:p>
          <a:p>
            <a:pPr/>
            <a:r>
              <a:t>Background diseases/symptoms</a:t>
            </a:r>
          </a:p>
          <a:p>
            <a:pPr/>
            <a:r>
              <a:t>Temporal associations only</a:t>
            </a:r>
          </a:p>
          <a:p>
            <a:r>
              <a:rPr b="1" sz="1800"/>
              <a:t>Immediate Response Protocols</a:t>
            </a:r>
          </a:p>
          <a:p>
            <a:r>
              <a:t/>
            </a:r>
            <a:r>
              <a:rPr b="1"/>
              <a:t>Mild reactions:</a:t>
            </a:r>
            <a:r>
              <a:t> Ice pack, oral acetaminophen, observation</a:t>
            </a:r>
          </a:p>
          <a:p>
            <a:r>
              <a:t/>
            </a:r>
            <a:r>
              <a:rPr b="1"/>
              <a:t>Moderate reactions:</a:t>
            </a:r>
            <a:r>
              <a:t> Adrenaline if anaphylaxis, oxygen if hypoxia</a:t>
            </a:r>
          </a:p>
          <a:p>
            <a:r>
              <a:t/>
            </a:r>
            <a:r>
              <a:rPr b="1"/>
              <a:t>Severe reactions:</a:t>
            </a:r>
            <a:r>
              <a:t> Immediate transport to hospital, emergency management</a:t>
            </a:r>
          </a:p>
          <a:p>
            <a:r>
              <a:t/>
            </a:r>
            <a:r>
              <a:rPr b="1"/>
              <a:t>Reporting:</a:t>
            </a:r>
            <a:r>
              <a:t> CoWIN platform entry within 24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Measurement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Administrative Coverage</a:t>
            </a:r>
          </a:p>
          <a:p>
            <a:pPr/>
            <a:r>
              <a:t>Numerator:** Doses administered to target population</a:t>
            </a:r>
          </a:p>
          <a:p>
            <a:pPr/>
            <a:r>
              <a:t>Denominator:** Eligible children/population</a:t>
            </a:r>
          </a:p>
          <a:p>
            <a:pPr/>
            <a:r>
              <a:t>Sources:** Immunization registers, tally sheets</a:t>
            </a:r>
          </a:p>
          <a:p>
            <a:pPr/>
            <a:r>
              <a:t>Frequency:** Monthly aggregation, quarterly analysis</a:t>
            </a:r>
          </a:p>
          <a:p>
            <a:r>
              <a:rPr b="1" sz="1800"/>
              <a:t>Survey-Based Coverage Assessment</a:t>
            </a:r>
          </a:p>
          <a:p>
            <a:r>
              <a:rPr b="1"/>
              <a:t>30-cluster Lot Quality Assurance Sampling (LQAS):</a:t>
            </a:r>
          </a:p>
          <a:p>
            <a:pPr/>
            <a:r>
              <a:t>Geographic coverage:** Representation of districts/states</a:t>
            </a:r>
          </a:p>
          <a:p>
            <a:pPr/>
            <a:r>
              <a:t>Sample size:** Minimum 210 children per survey</a:t>
            </a:r>
          </a:p>
          <a:p>
            <a:pPr/>
            <a:r>
              <a:t>Methodology:** House-to-house enumeration</a:t>
            </a:r>
          </a:p>
          <a:p>
            <a:pPr/>
            <a:r>
              <a:t>Valid days:** Each antigen has specific validity periods</a:t>
            </a:r>
          </a:p>
          <a:p>
            <a:r>
              <a:rPr b="1" sz="1800"/>
              <a:t>Coverage Interpretation</a:t>
            </a:r>
          </a:p>
          <a:p>
            <a:pPr/>
            <a:r>
              <a:t>Basic coverage:** Raw percentage of target population</a:t>
            </a:r>
          </a:p>
          <a:p>
            <a:pPr/>
            <a:r>
              <a:t>Valid coverage:** Adjusted for operational factors</a:t>
            </a:r>
          </a:p>
          <a:p>
            <a:pPr/>
            <a:r>
              <a:t>Timely coverage:** Vaccines given within recommended schedule</a:t>
            </a:r>
          </a:p>
          <a:p>
            <a:pPr/>
            <a:r>
              <a:t>Equity analysis:** By gender, socioeconomic status, geography</a:t>
            </a:r>
          </a:p>
          <a:p>
            <a:r>
              <a:rPr b="1" sz="1800"/>
              <a:t>Coverage Targets</a:t>
            </a:r>
          </a:p>
          <a:p>
            <a:pPr/>
            <a:r>
              <a:t>National: ≥90%** for all vaccines including pneumococcal</a:t>
            </a:r>
          </a:p>
          <a:p>
            <a:pPr/>
            <a:r>
              <a:t>State/district:** Differentiated targets based on baseline</a:t>
            </a:r>
          </a:p>
          <a:p>
            <a:pPr/>
            <a:r>
              <a:t>Zero-dose elimination:** Universal first dose coverage</a:t>
            </a:r>
          </a:p>
          <a:p>
            <a:pPr/>
            <a:r>
              <a:t>Mortality reduction:** Disease-specific coverage targets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Defaulter Identification &amp;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Defaulter Definition</a:t>
            </a:r>
          </a:p>
          <a:p>
            <a:pPr/>
            <a:r>
              <a:t>Routine:** Missed scheduled vaccination appointment</a:t>
            </a:r>
          </a:p>
          <a:p>
            <a:pPr/>
            <a:r>
              <a:t>Drop-out:** Started series but didn't complete</a:t>
            </a:r>
          </a:p>
          <a:p>
            <a:pPr/>
            <a:r>
              <a:t>Zero-dose:** Never received vaccination</a:t>
            </a:r>
          </a:p>
          <a:p>
            <a:pPr/>
            <a:r>
              <a:t>Left-out:** Not identified by system (migration, marginalization)</a:t>
            </a:r>
          </a:p>
          <a:p>
            <a:r>
              <a:rPr b="1" sz="1800"/>
              <a:t>Identification Methods</a:t>
            </a:r>
          </a:p>
          <a:p>
            <a:r>
              <a:rPr b="1"/>
              <a:t>Register-based tracking:</a:t>
            </a:r>
          </a:p>
          <a:p>
            <a:pPr/>
            <a:r>
              <a:t>Monthly defaulter lists** from immunization registers</a:t>
            </a:r>
          </a:p>
          <a:p>
            <a:pPr/>
            <a:r>
              <a:t>Village Health Nutition Day (VHND)** cross-checking</a:t>
            </a:r>
          </a:p>
          <a:p>
            <a:pPr/>
            <a:r>
              <a:t>Anganwadi worker verification** house-to-house visits</a:t>
            </a:r>
          </a:p>
          <a:p>
            <a:pPr/>
            <a:r>
              <a:t>Digital tracking** via mobile applications</a:t>
            </a:r>
          </a:p>
          <a:p>
            <a:r>
              <a:rPr b="1"/>
              <a:t>Community-based identification:</a:t>
            </a:r>
          </a:p>
          <a:p>
            <a:pPr/>
            <a:r>
              <a:t>Local leaders and influencers** reporting missed children</a:t>
            </a:r>
          </a:p>
          <a:p>
            <a:pPr/>
            <a:r>
              <a:t>Religious/social events** coverage verification</a:t>
            </a:r>
          </a:p>
          <a:p>
            <a:pPr/>
            <a:r>
              <a:t>Inter-sectoral collaboration** with education/health systems</a:t>
            </a:r>
          </a:p>
          <a:p>
            <a:r>
              <a:rPr b="1" sz="1800"/>
              <a:t>Tracing Mechanisms</a:t>
            </a:r>
          </a:p>
          <a:p>
            <a:r>
              <a:rPr b="1"/>
              <a:t>Multi-level approach:</a:t>
            </a:r>
          </a:p>
          <a:p>
            <a:pPr/>
            <a:r>
              <a:t>Health worker visits:** First-line defaulter tracing</a:t>
            </a:r>
          </a:p>
          <a:p>
            <a:pPr/>
            <a:r>
              <a:t>ASHA mobilization:** Community interface and follow-up</a:t>
            </a:r>
          </a:p>
          <a:p>
            <a:pPr/>
            <a:r>
              <a:t>Interpersonal communication:** Building trust and understanding</a:t>
            </a:r>
          </a:p>
          <a:p>
            <a:pPr/>
            <a:r>
              <a:t>Peer pressure gently:** Community norms for vaccination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Assurance &amp;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Quality Indicators</a:t>
            </a:r>
          </a:p>
          <a:p>
            <a:pPr/>
            <a:r>
              <a:t>Drop-out rate &lt;5%** between first and third dose</a:t>
            </a:r>
          </a:p>
          <a:p>
            <a:pPr/>
            <a:r>
              <a:t>Session coverage:** Achieved vs planned sessions</a:t>
            </a:r>
          </a:p>
          <a:p>
            <a:pPr/>
            <a:r>
              <a:t>Wastage rates targets:** &lt;10% for routine vaccines</a:t>
            </a:r>
          </a:p>
          <a:p>
            <a:pPr/>
            <a:r>
              <a:t>AEFI reporting:** 100% serious events reported</a:t>
            </a:r>
          </a:p>
          <a:p>
            <a:r>
              <a:rPr b="1" sz="1800"/>
              <a:t>Supervision Systems</a:t>
            </a:r>
          </a:p>
          <a:p>
            <a:r>
              <a:rPr b="1"/>
              <a:t>Cascading supervision:</a:t>
            </a:r>
          </a:p>
          <a:p>
            <a:pPr/>
            <a:r>
              <a:t>National level:** Policy and technical oversight</a:t>
            </a:r>
          </a:p>
          <a:p>
            <a:pPr/>
            <a:r>
              <a:t>State level:** Program management and monitoring</a:t>
            </a:r>
          </a:p>
          <a:p>
            <a:pPr/>
            <a:r>
              <a:t>District level:** Field supervision and capacity building</a:t>
            </a:r>
          </a:p>
          <a:p>
            <a:pPr/>
            <a:r>
              <a:t>Block level:** Health system coordination</a:t>
            </a:r>
          </a:p>
          <a:p>
            <a:pPr/>
            <a:r>
              <a:t>Facility level:** Daily supervision and mentoring</a:t>
            </a:r>
          </a:p>
          <a:p>
            <a:r>
              <a:rPr b="1" sz="1800"/>
              <a:t>Continuous Quality Improvement</a:t>
            </a:r>
          </a:p>
          <a:p>
            <a:r>
              <a:rPr b="1"/>
              <a:t>Plan-Do-Study-Act cycle:</a:t>
            </a:r>
          </a:p>
          <a:p>
            <a:r>
              <a:t>1. </a:t>
            </a:r>
            <a:r>
              <a:rPr b="1"/>
              <a:t>Analyze current performance data</a:t>
            </a:r>
            <a:r>
              <a:t/>
            </a:r>
          </a:p>
          <a:p>
            <a:r>
              <a:t>2. </a:t>
            </a:r>
            <a:r>
              <a:rPr b="1"/>
              <a:t>Identify root causes of problems</a:t>
            </a:r>
            <a:r>
              <a:t/>
            </a:r>
          </a:p>
          <a:p>
            <a:r>
              <a:t>3. </a:t>
            </a:r>
            <a:r>
              <a:rPr b="1"/>
              <a:t>Implement improvement interventions</a:t>
            </a:r>
            <a:r>
              <a:t/>
            </a:r>
          </a:p>
          <a:p>
            <a:r>
              <a:t>4. </a:t>
            </a:r>
            <a:r>
              <a:rPr b="1"/>
              <a:t>Monitor and scale successful changes</a:t>
            </a:r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Mobilization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Community Engagement Approaches</a:t>
            </a:r>
          </a:p>
          <a:p>
            <a:pPr/>
            <a:r>
              <a:t>Interpersonal communication:** House-to-house counseling</a:t>
            </a:r>
          </a:p>
          <a:p>
            <a:pPr/>
            <a:r>
              <a:t>Group meetings:** Village gatherings and religious events</a:t>
            </a:r>
          </a:p>
          <a:p>
            <a:pPr/>
            <a:r>
              <a:t>Mass media campaigns:** Television/radio health messages</a:t>
            </a:r>
          </a:p>
          <a:p>
            <a:pPr/>
            <a:r>
              <a:t>School-based education:** Health clubs and peer education</a:t>
            </a:r>
          </a:p>
          <a:p>
            <a:r>
              <a:rPr b="1" sz="1800"/>
              <a:t>Key Messages Development</a:t>
            </a:r>
          </a:p>
          <a:p>
            <a:pPr/>
            <a:r>
              <a:t>Disease prevention benefits** (personal/family protection)</a:t>
            </a:r>
          </a:p>
          <a:p>
            <a:pPr/>
            <a:r>
              <a:t>Herd immunity advantages** (community protection)</a:t>
            </a:r>
          </a:p>
          <a:p>
            <a:pPr/>
            <a:r>
              <a:t>Safety reassurances** (minimal risks, monitored vaccines)</a:t>
            </a:r>
          </a:p>
          <a:p>
            <a:pPr/>
            <a:r>
              <a:t>Equity considerations** (equal access for all children)</a:t>
            </a:r>
          </a:p>
          <a:p>
            <a:r>
              <a:rPr b="1" sz="1800"/>
              <a:t>Monitoring Social Mobilization Impact</a:t>
            </a:r>
          </a:p>
          <a:p>
            <a:pPr/>
            <a:r>
              <a:t>Coverage improvement tracking</a:t>
            </a:r>
          </a:p>
          <a:p>
            <a:pPr/>
            <a:r>
              <a:t>Community knowledge assessments</a:t>
            </a:r>
          </a:p>
          <a:p>
            <a:pPr/>
            <a:r>
              <a:t>Barriers reduction measurement</a:t>
            </a:r>
          </a:p>
          <a:p>
            <a:pPr/>
            <a:r>
              <a:t>Sustainability indicators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Health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National Immunization Information System</a:t>
            </a:r>
          </a:p>
          <a:p>
            <a:pPr/>
            <a:r>
              <a:t>Real-time data collection** from all vaccination points</a:t>
            </a:r>
          </a:p>
          <a:p>
            <a:pPr/>
            <a:r>
              <a:t>Individual vaccination records** with QR codes</a:t>
            </a:r>
          </a:p>
          <a:p>
            <a:pPr/>
            <a:r>
              <a:t>Automated coverage calculations** and trend analysis</a:t>
            </a:r>
          </a:p>
          <a:p>
            <a:pPr/>
            <a:r>
              <a:t>Geospatial mapping** of high-risk areas</a:t>
            </a:r>
          </a:p>
          <a:p>
            <a:r>
              <a:rPr b="1" sz="1800"/>
              <a:t>Mobile Applications</a:t>
            </a:r>
          </a:p>
          <a:p>
            <a:r>
              <a:rPr b="1"/>
              <a:t>Vaccination tracking apps:</a:t>
            </a:r>
          </a:p>
          <a:p>
            <a:pPr/>
            <a:r>
              <a:t>Immunization schedule reminders** for parents</a:t>
            </a:r>
          </a:p>
          <a:p>
            <a:pPr/>
            <a:r>
              <a:t>Vaccination certificate generation** with verification</a:t>
            </a:r>
          </a:p>
          <a:p>
            <a:pPr/>
            <a:r>
              <a:t>Multi-language support** for diverse populations</a:t>
            </a:r>
          </a:p>
          <a:p>
            <a:pPr/>
            <a:r>
              <a:t>Offline functionality** in low-connectivity areas</a:t>
            </a:r>
          </a:p>
          <a:p>
            <a:r>
              <a:rPr b="1" sz="1800"/>
              <a:t>SMS-Based Systems</a:t>
            </a:r>
          </a:p>
          <a:p>
            <a:pPr/>
            <a:r>
              <a:t>Appointment reminders** 48 hours before vaccination</a:t>
            </a:r>
          </a:p>
          <a:p>
            <a:pPr/>
            <a:r>
              <a:t>Dose completion congratulations** to parents</a:t>
            </a:r>
          </a:p>
          <a:p>
            <a:pPr/>
            <a:r>
              <a:t>Emergency contact information** easily accessible</a:t>
            </a:r>
          </a:p>
          <a:p>
            <a:pPr/>
            <a:r>
              <a:t>Health education messages** integrated with reminders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Management &amp;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Budget Allocation</a:t>
            </a:r>
          </a:p>
          <a:p>
            <a:pPr/>
            <a:r>
              <a:t>Central government share:** 75% of immunization costs</a:t>
            </a:r>
          </a:p>
          <a:p>
            <a:pPr/>
            <a:r>
              <a:t>State contributions:** Supplementary funding and logistics</a:t>
            </a:r>
          </a:p>
          <a:p>
            <a:pPr/>
            <a:r>
              <a:t>Private sector partnerships:** CSR funding and corporate involvement</a:t>
            </a:r>
          </a:p>
          <a:p>
            <a:pPr/>
            <a:r>
              <a:t>International donors:** GAVI, UNICEF, World Bank contributions</a:t>
            </a:r>
          </a:p>
          <a:p>
            <a:r>
              <a:rPr b="1" sz="1800"/>
              <a:t>Cost Analysis</a:t>
            </a:r>
          </a:p>
          <a:p>
            <a:pPr/>
            <a:r>
              <a:t>Service delivery costs:** Per dose administration expenses</a:t>
            </a:r>
          </a:p>
          <a:p>
            <a:pPr/>
            <a:r>
              <a:t>Cold chain maintenance:** Annual equipment replacement budgets</a:t>
            </a:r>
          </a:p>
          <a:p>
            <a:pPr/>
            <a:r>
              <a:t>Training and supervision:** Staff capacity building investments</a:t>
            </a:r>
          </a:p>
          <a:p>
            <a:pPr/>
            <a:r>
              <a:t>Monitoring and evaluation:** Program assessment expenditures</a:t>
            </a:r>
          </a:p>
          <a:p>
            <a:r>
              <a:rPr b="1" sz="1800"/>
              <a:t>Return on Investment</a:t>
            </a:r>
          </a:p>
          <a:p>
            <a:pPr/>
            <a:r>
              <a:t>Direct savings:** Hospitalization and treatment cost reductions</a:t>
            </a:r>
          </a:p>
          <a:p>
            <a:pPr/>
            <a:r>
              <a:t>Productivity gains:** Fewer sick days, continued education</a:t>
            </a:r>
          </a:p>
          <a:p>
            <a:pPr/>
            <a:r>
              <a:t>Long-term benefits:** Disease elimination, healthier workforce</a:t>
            </a:r>
          </a:p>
          <a:p>
            <a:pPr/>
            <a:r>
              <a:t>Societal impact:** Reduction in health disparities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Indian Immunization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Infrastructure Challenges</a:t>
            </a:r>
          </a:p>
          <a:p>
            <a:pPr/>
            <a:r>
              <a:t>Electrification coverage:** 98% but reliability issues</a:t>
            </a:r>
          </a:p>
          <a:p>
            <a:pPr/>
            <a:r>
              <a:t>Road connectivity:** Access to remote tribal areas</a:t>
            </a:r>
          </a:p>
          <a:p>
            <a:pPr/>
            <a:r>
              <a:t>Cold chain capacity:** Scaling up for new vaccine introductions</a:t>
            </a:r>
          </a:p>
          <a:p>
            <a:pPr/>
            <a:r>
              <a:t>Human resource shortages:** Accredited vaccinator gaps</a:t>
            </a:r>
          </a:p>
          <a:p>
            <a:r>
              <a:rPr b="1" sz="1800"/>
              <a:t>Social and Cultural Barriers</a:t>
            </a:r>
          </a:p>
          <a:p>
            <a:pPr/>
            <a:r>
              <a:t>Vaccine hesitancy:** Rising concerns in urban educated groups</a:t>
            </a:r>
          </a:p>
          <a:p>
            <a:pPr/>
            <a:r>
              <a:t>Migration and mobility:** Seasonal labor movement patterns</a:t>
            </a:r>
          </a:p>
          <a:p>
            <a:pPr/>
            <a:r>
              <a:t>Religious and caste factors:** Community-specific barriers</a:t>
            </a:r>
          </a:p>
          <a:p>
            <a:pPr/>
            <a:r>
              <a:t>Gender disparities:** Female child vaccination preferences</a:t>
            </a:r>
          </a:p>
          <a:p>
            <a:r>
              <a:rPr b="1" sz="1800"/>
              <a:t>Operational Challenges</a:t>
            </a:r>
          </a:p>
          <a:p>
            <a:pPr/>
            <a:r>
              <a:t>Defaulter tracing:** Resource-intensive in large populations</a:t>
            </a:r>
          </a:p>
          <a:p>
            <a:pPr/>
            <a:r>
              <a:t>Record keeping:** Maintaining accuracy with volume</a:t>
            </a:r>
          </a:p>
          <a:p>
            <a:pPr/>
            <a:r>
              <a:t>AEFI management:** Balancing safety with coverage goals</a:t>
            </a:r>
          </a:p>
          <a:p>
            <a:pPr/>
            <a:r>
              <a:t>Supply chain disruptions:** Logistics in crisis situations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&amp;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Technology-Driven Solutions</a:t>
            </a:r>
          </a:p>
          <a:p>
            <a:pPr/>
            <a:r>
              <a:t>GPS-enabled mobile vans:** Real-time location tracking</a:t>
            </a:r>
          </a:p>
          <a:p>
            <a:pPr/>
            <a:r>
              <a:t>Blockchain vaccination certificates:** Tamper-proof records</a:t>
            </a:r>
          </a:p>
          <a:p>
            <a:pPr/>
            <a:r>
              <a:t>AI-powered defaulter prediction:** Proactive identification</a:t>
            </a:r>
          </a:p>
          <a:p>
            <a:pPr/>
            <a:r>
              <a:t>Digital literacy programs:** Community education campaigns</a:t>
            </a:r>
          </a:p>
          <a:p>
            <a:r>
              <a:rPr b="1" sz="1800"/>
              <a:t>Community Participation Models</a:t>
            </a:r>
          </a:p>
          <a:p>
            <a:pPr/>
            <a:r>
              <a:t>Urban slum partnerships:** NGO involvement in service delivery</a:t>
            </a:r>
          </a:p>
          <a:p>
            <a:pPr/>
            <a:r>
              <a:t>Tribal area integration:** Traditional leader engagement</a:t>
            </a:r>
          </a:p>
          <a:p>
            <a:pPr/>
            <a:r>
              <a:t>Religious institution collaboration:** Faith-based messaging</a:t>
            </a:r>
          </a:p>
          <a:p>
            <a:pPr/>
            <a:r>
              <a:t>Corporate social responsibility:** Private sector involvement</a:t>
            </a:r>
          </a:p>
          <a:p>
            <a:r>
              <a:rPr b="1" sz="1800"/>
              <a:t>Monitoring &amp; Accountability</a:t>
            </a:r>
          </a:p>
          <a:p>
            <a:pPr/>
            <a:r>
              <a:t>Citizen reporting platforms:** Feedback and complaint mechanisms</a:t>
            </a:r>
          </a:p>
          <a:p>
            <a:pPr/>
            <a:r>
              <a:t>Independent verification:** Third-party coverage surveys</a:t>
            </a:r>
          </a:p>
          <a:p>
            <a:pPr/>
            <a:r>
              <a:t>Public dashboards:** Transparent performance display</a:t>
            </a:r>
          </a:p>
          <a:p>
            <a:pPr/>
            <a:r>
              <a:t>Accountability frameworks:** Incentives and penalties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 for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Emerging Technologies</a:t>
            </a:r>
          </a:p>
          <a:p>
            <a:pPr/>
            <a:r>
              <a:t>Drone vaccination delivery** for inaccessible areas</a:t>
            </a:r>
          </a:p>
          <a:p>
            <a:pPr/>
            <a:r>
              <a:t>Mobile vaccination clinics** with telemedicine integration</a:t>
            </a:r>
          </a:p>
          <a:p>
            <a:pPr/>
            <a:r>
              <a:t>Wearable temperature monitoring** for vaccine storage</a:t>
            </a:r>
          </a:p>
          <a:p>
            <a:pPr/>
            <a:r>
              <a:t>AI chatbots** for vaccination counseling and scheduling</a:t>
            </a:r>
          </a:p>
          <a:p>
            <a:r>
              <a:rPr b="1" sz="1800"/>
              <a:t>Program Expansion Opportunities</a:t>
            </a:r>
          </a:p>
          <a:p>
            <a:pPr/>
            <a:r>
              <a:t>Adult vaccination campaigns** scaling up from pilot projects</a:t>
            </a:r>
          </a:p>
          <a:p>
            <a:pPr/>
            <a:r>
              <a:t>Seasonal influenza drills** preparing for pandemic responses</a:t>
            </a:r>
          </a:p>
          <a:p>
            <a:pPr/>
            <a:r>
              <a:t>Combined vaccine formulations** simplifying schedules</a:t>
            </a:r>
          </a:p>
          <a:p>
            <a:pPr/>
            <a:r>
              <a:t>Community health worker expansion** using digital training</a:t>
            </a:r>
          </a:p>
          <a:p>
            <a:r>
              <a:rPr b="1" sz="1800"/>
              <a:t>Sustainability Vision</a:t>
            </a:r>
          </a:p>
          <a:p>
            <a:pPr/>
            <a:r>
              <a:t>Domestic manufacturing scaling** reducing import dependency</a:t>
            </a:r>
          </a:p>
          <a:p>
            <a:pPr/>
            <a:r>
              <a:t>Public-private partnerships** leveraging pharmaceutical expertise</a:t>
            </a:r>
          </a:p>
          <a:p>
            <a:pPr/>
            <a:r>
              <a:t>Social franchising models** improving accessibility</a:t>
            </a:r>
          </a:p>
          <a:p>
            <a:pPr/>
            <a:r>
              <a:t>Mainstreaming immunization** into universal health coverage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Studies: Successful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Gujarat Immunization Program Excellence:</a:t>
            </a:r>
          </a:p>
          <a:p>
            <a:pPr/>
            <a:r>
              <a:t>94% full vaccination coverage** (highest in India)</a:t>
            </a:r>
          </a:p>
          <a:p>
            <a:pPr/>
            <a:r>
              <a:t>Defaulter rate &lt;2%** through intensive tracking</a:t>
            </a:r>
          </a:p>
          <a:p>
            <a:pPr/>
            <a:r>
              <a:t>Digital innovations:** Real-time dashboards, mobile apps</a:t>
            </a:r>
          </a:p>
          <a:p>
            <a:pPr/>
            <a:r>
              <a:t>Community participation:** High involvement of local leaders</a:t>
            </a:r>
          </a:p>
          <a:p>
            <a:r>
              <a:rPr b="1"/>
              <a:t>Kerala 100% OPV Coverage Achievement:</a:t>
            </a:r>
          </a:p>
          <a:p>
            <a:pPr/>
            <a:r>
              <a:t>School-based verification** ensuring no missed doses</a:t>
            </a:r>
          </a:p>
          <a:p>
            <a:pPr/>
            <a:r>
              <a:t>Health worker accountability** with performance incentives</a:t>
            </a:r>
          </a:p>
          <a:p>
            <a:pPr/>
            <a:r>
              <a:t>Public awareness campaigns** using local media</a:t>
            </a:r>
          </a:p>
          <a:p>
            <a:pPr/>
            <a:r>
              <a:t>Sustained through political commitment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Measuring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sz="1800"/>
              <a:t>Coverage &amp; Utilization</a:t>
            </a:r>
          </a:p>
          <a:p>
            <a:pPr/>
            <a:r>
              <a:t>Fully vaccinated children:** % completing all antigens</a:t>
            </a:r>
          </a:p>
          <a:p>
            <a:pPr/>
            <a:r>
              <a:t>Timely vaccinations:** Within recommended age windows</a:t>
            </a:r>
          </a:p>
          <a:p>
            <a:pPr/>
            <a:r>
              <a:t>Equity metrics:** Coverage by socioeconomic indicators</a:t>
            </a:r>
          </a:p>
          <a:p>
            <a:pPr/>
            <a:r>
              <a:t>Program reach:** Population coverage in hard-to-reach areas</a:t>
            </a:r>
          </a:p>
          <a:p>
            <a:r>
              <a:rPr b="1" sz="1800"/>
              <a:t>Quality &amp; Safety</a:t>
            </a:r>
          </a:p>
          <a:p>
            <a:pPr/>
            <a:r>
              <a:t>AEFI reporting rate:** Serious events per 100,000 doses</a:t>
            </a:r>
          </a:p>
          <a:p>
            <a:pPr/>
            <a:r>
              <a:t>Cold chain adherence:** % sessions with proper temperature</a:t>
            </a:r>
          </a:p>
          <a:p>
            <a:pPr/>
            <a:r>
              <a:t>Session quality:** Checklist compliance scores</a:t>
            </a:r>
          </a:p>
          <a:p>
            <a:pPr/>
            <a:r>
              <a:t>Staff competency:** Training completion and assessment</a:t>
            </a:r>
          </a:p>
          <a:p>
            <a:r>
              <a:rPr b="1" sz="1800"/>
              <a:t>Financial Efficiency</a:t>
            </a:r>
          </a:p>
          <a:p>
            <a:pPr/>
            <a:r>
              <a:t>Cost per vaccinated child:** Program delivery expenses</a:t>
            </a:r>
          </a:p>
          <a:p>
            <a:pPr/>
            <a:r>
              <a:t>Vaccine wastage rates:** % unused after expiry</a:t>
            </a:r>
          </a:p>
          <a:p>
            <a:pPr/>
            <a:r>
              <a:t>Operational efficiency:** Staff productivity metrics</a:t>
            </a:r>
          </a:p>
          <a:p>
            <a:pPr/>
            <a:r>
              <a:t>Resource utilization:** Budget vs actual expenditure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Exercises in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Group Activity 1: Cold Chain Assessment</a:t>
            </a:r>
          </a:p>
          <a:p>
            <a:pPr/>
            <a:r>
              <a:t>Evaluate a mock vaccination site setup</a:t>
            </a:r>
          </a:p>
          <a:p>
            <a:pPr/>
            <a:r>
              <a:t>Identify cold chain breaches and solutions</a:t>
            </a:r>
          </a:p>
          <a:p>
            <a:pPr/>
            <a:r>
              <a:t>Report findings to class discussion</a:t>
            </a:r>
          </a:p>
          <a:p>
            <a:r>
              <a:rPr b="1"/>
              <a:t>Group Activity 2: Defaulter Tracing Simulation</a:t>
            </a:r>
          </a:p>
          <a:p>
            <a:pPr/>
            <a:r>
              <a:t>Students act as:</a:t>
            </a:r>
          </a:p>
          <a:p>
            <a:pPr/>
            <a:r>
              <a:t>Health workers (tracing defaulters)</a:t>
            </a:r>
          </a:p>
          <a:p>
            <a:pPr/>
            <a:r>
              <a:t>Parents (hesitant about vaccination)</a:t>
            </a:r>
          </a:p>
          <a:p>
            <a:pPr/>
            <a:r>
              <a:t>Community leaders (facilitating access)</a:t>
            </a:r>
          </a:p>
          <a:p>
            <a:pPr/>
            <a:r>
              <a:t>Develop communication and persuasion strategies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CBME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Question: Essential cold chain component?</a:t>
            </a:r>
          </a:p>
          <a:p>
            <a:pPr/>
            <a:r>
              <a:t>A) Freezer (-70°C)</a:t>
            </a:r>
          </a:p>
          <a:p>
            <a:pPr/>
            <a:r>
              <a:t>B) </a:t>
            </a:r>
            <a:r>
              <a:rPr b="1"/>
              <a:t>Refrigerator (2-8°C)</a:t>
            </a:r>
            <a:r>
              <a:t> ⭐</a:t>
            </a:r>
          </a:p>
          <a:p>
            <a:pPr/>
            <a:r>
              <a:t>C) Water bath (37°C)</a:t>
            </a:r>
          </a:p>
          <a:p>
            <a:pPr/>
            <a:r>
              <a:t>D) Incubator (35°C)</a:t>
            </a:r>
          </a:p>
          <a:p>
            <a:r>
              <a:rPr b="1"/>
              <a:t>Question: Acceptable vaccine wastage rate?</a:t>
            </a:r>
          </a:p>
          <a:p>
            <a:pPr/>
            <a:r>
              <a:t>A) 50% (poor program)</a:t>
            </a:r>
          </a:p>
          <a:p>
            <a:pPr/>
            <a:r>
              <a:t>B) </a:t>
            </a:r>
            <a:r>
              <a:rPr b="1"/>
              <a:t>10% (good program)</a:t>
            </a:r>
            <a:r>
              <a:t> ⭐</a:t>
            </a:r>
          </a:p>
          <a:p>
            <a:pPr/>
            <a:r>
              <a:t>C) 100% (no leftovers)</a:t>
            </a:r>
          </a:p>
          <a:p>
            <a:pPr/>
            <a:r>
              <a:t>D) 1% (impossible target)</a:t>
            </a:r>
          </a:p>
          <a:p>
            <a:r>
              <a:rPr b="1"/>
              <a:t>Question: Indian national vaccination coverage target?</a:t>
            </a:r>
          </a:p>
          <a:p>
            <a:pPr/>
            <a:r>
              <a:t>A) 50% basic coverage</a:t>
            </a:r>
          </a:p>
          <a:p>
            <a:pPr/>
            <a:r>
              <a:t>B) </a:t>
            </a:r>
            <a:r>
              <a:rPr b="1"/>
              <a:t>90% full coverage</a:t>
            </a:r>
            <a:r>
              <a:t> ⭐</a:t>
            </a:r>
          </a:p>
          <a:p>
            <a:pPr/>
            <a:r>
              <a:t>C) 99% elimination target</a:t>
            </a:r>
          </a:p>
          <a:p>
            <a:pPr/>
            <a:r>
              <a:t>D) 75% minimum level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Decision-Making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Scenario: District Medical Officer Problem</a:t>
            </a:r>
          </a:p>
          <a:p>
            <a:r>
              <a:rPr b="1"/>
              <a:t>Student Analysis Required:</a:t>
            </a:r>
          </a:p>
          <a:p>
            <a:r>
              <a:t>1. </a:t>
            </a:r>
            <a:r>
              <a:rPr b="1"/>
              <a:t>Identify root causes</a:t>
            </a:r>
            <a:r>
              <a:t> of low coverage</a:t>
            </a:r>
          </a:p>
          <a:p>
            <a:r>
              <a:t>2. </a:t>
            </a:r>
            <a:r>
              <a:rPr b="1"/>
              <a:t>Design intervention strategies</a:t>
            </a:r>
            <a:r>
              <a:t> (short-term and long-term)</a:t>
            </a:r>
          </a:p>
          <a:p>
            <a:r>
              <a:t>3. </a:t>
            </a:r>
            <a:r>
              <a:rPr b="1"/>
              <a:t>Select appropriate monitoring methods</a:t>
            </a:r>
            <a:r>
              <a:t> for improvement tracking</a:t>
            </a:r>
          </a:p>
          <a:p>
            <a:r>
              <a:t>4. </a:t>
            </a:r>
            <a:r>
              <a:rPr b="1"/>
              <a:t>Calculate resource requirements</a:t>
            </a:r>
            <a:r>
              <a:t> for implementation</a:t>
            </a:r>
          </a:p>
          <a:p>
            <a:r>
              <a:rPr b="1"/>
              <a:t>Decision Points:</a:t>
            </a:r>
          </a:p>
          <a:p>
            <a:pPr/>
            <a:r>
              <a:t>Immediate catch-up campaigns vs social mobilization</a:t>
            </a:r>
          </a:p>
          <a:p>
            <a:pPr/>
            <a:r>
              <a:t>Digital vs manual monitoring systems</a:t>
            </a:r>
          </a:p>
          <a:p>
            <a:pPr/>
            <a:r>
              <a:t>Staff training vs equipment investment priorities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📋 Critical Concepts for Future Physicians:</a:t>
            </a:r>
          </a:p>
          <a:p>
            <a:r>
              <a:t>1. </a:t>
            </a:r>
            <a:r>
              <a:rPr b="1"/>
              <a:t>Cold chain integrity</a:t>
            </a:r>
            <a:r>
              <a:t> determines vaccine-potency maintenance</a:t>
            </a:r>
          </a:p>
          <a:p>
            <a:r>
              <a:t>2. </a:t>
            </a:r>
            <a:r>
              <a:rPr b="1"/>
              <a:t>Session management</a:t>
            </a:r>
            <a:r>
              <a:t> ensures safe and efficient vaccination delivery</a:t>
            </a:r>
          </a:p>
          <a:p>
            <a:r>
              <a:t>3. </a:t>
            </a:r>
            <a:r>
              <a:rPr b="1"/>
              <a:t>Coverage monitoring</a:t>
            </a:r>
            <a:r>
              <a:t> identifies program strengths and gaps</a:t>
            </a:r>
          </a:p>
          <a:p>
            <a:r>
              <a:t>4. </a:t>
            </a:r>
            <a:r>
              <a:rPr b="1"/>
              <a:t>Defaulter tracing</a:t>
            </a:r>
            <a:r>
              <a:t> prevents children from falling through cracks</a:t>
            </a:r>
          </a:p>
          <a:p>
            <a:r>
              <a:t>5. </a:t>
            </a:r>
            <a:r>
              <a:rPr b="1"/>
              <a:t>Quality assurance</a:t>
            </a:r>
            <a:r>
              <a:t> maintains trust in immunization programs</a:t>
            </a:r>
          </a:p>
          <a:p>
            <a:r>
              <a:t>6. </a:t>
            </a:r>
            <a:r>
              <a:rPr b="1"/>
              <a:t>Digital innovation</a:t>
            </a:r>
            <a:r>
              <a:t> enhances implementation efficiency</a:t>
            </a:r>
          </a:p>
          <a:p>
            <a:r>
              <a:t>7. </a:t>
            </a:r>
            <a:r>
              <a:rPr b="1"/>
              <a:t>Community engagement</a:t>
            </a:r>
            <a:r>
              <a:t> addresses demand-side barriers</a:t>
            </a:r>
          </a:p>
          <a:p>
            <a:r>
              <a:t>8. </a:t>
            </a:r>
            <a:r>
              <a:rPr b="1"/>
              <a:t>Continuous improvement</a:t>
            </a:r>
            <a:r>
              <a:t> ensures sustainable high coverage</a:t>
            </a:r>
          </a:p>
          <a:p>
            <a:r>
              <a:rPr b="1"/>
              <a:t>Practical Skills Mastered:</a:t>
            </a:r>
          </a:p>
          <a:p>
            <a:pPr/>
            <a:r>
              <a:t>Vaccination site setup and management</a:t>
            </a:r>
          </a:p>
          <a:p>
            <a:pPr/>
            <a:r>
              <a:t>Cold chain temperature monitoring techniques</a:t>
            </a:r>
          </a:p>
          <a:p>
            <a:pPr/>
            <a:r>
              <a:t>Coverage calculation and interpretation</a:t>
            </a:r>
          </a:p>
          <a:p>
            <a:pPr/>
            <a:r>
              <a:t>Defaulter identification and mobilization strategies</a:t>
            </a:r>
          </a:p>
          <a:p>
            <a:pPr/>
            <a:r>
              <a:t>AEFI recognition and initial response protocols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Round Table Discussion Topics:</a:t>
            </a:r>
          </a:p>
          <a:p>
            <a:r>
              <a:t>1. </a:t>
            </a:r>
            <a:r>
              <a:rPr b="1"/>
              <a:t>Universal Health Coverage Integration:</a:t>
            </a:r>
            <a:r>
              <a:t/>
            </a:r>
          </a:p>
          <a:p>
            <a:pPr/>
            <a:r>
              <a:t>How can immunization programs support broader health system goals?</a:t>
            </a:r>
          </a:p>
          <a:p>
            <a:r>
              <a:t>2. </a:t>
            </a:r>
            <a:r>
              <a:rPr b="1"/>
              <a:t>Post-COVID-19 Implications:</a:t>
            </a:r>
            <a:r>
              <a:t/>
            </a:r>
          </a:p>
          <a:p>
            <a:pPr/>
            <a:r>
              <a:t>Lessons for pandemic vaccine implementation from COVID-19 experience</a:t>
            </a:r>
          </a:p>
          <a:p>
            <a:r>
              <a:t>3. </a:t>
            </a:r>
            <a:r>
              <a:rPr b="1"/>
              <a:t>Climate Change Adaptation:</a:t>
            </a:r>
            <a:r>
              <a:t/>
            </a:r>
          </a:p>
          <a:p>
            <a:pPr/>
            <a:r>
              <a:t>How do immunization programs adapt to extreme weather events?</a:t>
            </a:r>
          </a:p>
          <a:p>
            <a:r>
              <a:t>4. </a:t>
            </a:r>
            <a:r>
              <a:rPr b="1"/>
              <a:t>Resource Constraints:</a:t>
            </a:r>
            <a:r>
              <a:t/>
            </a:r>
          </a:p>
          <a:p>
            <a:pPr/>
            <a:r>
              <a:t>Balancing program expansion with finite healthcare budgets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Chapter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Chapter 13: Coverage Monitoring &amp; Surveillance</a:t>
            </a:r>
          </a:p>
          <a:p>
            <a:r>
              <a:rPr b="1"/>
              <a:t>Advanced Implementation Topics:</a:t>
            </a:r>
          </a:p>
          <a:p>
            <a:pPr/>
            <a:r>
              <a:t>Disease surveillance integration with immunization</a:t>
            </a:r>
          </a:p>
          <a:p>
            <a:pPr/>
            <a:r>
              <a:t>Outbreak detection and response strategies</a:t>
            </a:r>
          </a:p>
          <a:p>
            <a:pPr/>
            <a:r>
              <a:t>Data analytics for predictive immunization planning</a:t>
            </a:r>
          </a:p>
          <a:p>
            <a:pPr/>
            <a:r>
              <a:t>Integration with IDSP and HMIS systems</a:t>
            </a:r>
          </a:p>
          <a:p>
            <a:r>
              <a:t/>
            </a:r>
            <a:r>
              <a:rPr b="1"/>
              <a:t>Next Session:</a:t>
            </a:r>
            <a:r>
              <a:t> Building evidence-based programs</a:t>
            </a:r>
          </a:p>
          <a:p>
            <a:r>
              <a:t/>
            </a:r>
            <a:r>
              <a:rPr b="1"/>
              <a:t>Date:** [TBA] | **Venue:</a:t>
            </a:r>
            <a:r>
              <a:t> Integration Class Hall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/>
              <a:t>📚 Implementation Guidelines:</a:t>
            </a:r>
          </a:p>
          <a:p>
            <a:r>
              <a:t>1. </a:t>
            </a:r>
            <a:r>
              <a:rPr b="1"/>
              <a:t>WHO Immunization Program Implementation (2023)</a:t>
            </a:r>
            <a:r>
              <a:t/>
            </a:r>
          </a:p>
          <a:p>
            <a:r>
              <a:t>2. </a:t>
            </a:r>
            <a:r>
              <a:rPr b="1"/>
              <a:t>Govt of India UIP Operational Guidelines (2024)</a:t>
            </a:r>
            <a:r>
              <a:t/>
            </a:r>
          </a:p>
          <a:p>
            <a:r>
              <a:t>3. </a:t>
            </a:r>
            <a:r>
              <a:rPr b="1"/>
              <a:t>CDC Pink Book: Vaccine-Preventable Diseases</a:t>
            </a:r>
            <a:r>
              <a:t/>
            </a:r>
          </a:p>
          <a:p>
            <a:r>
              <a:t>4. </a:t>
            </a:r>
            <a:r>
              <a:rPr b="1"/>
              <a:t>Jain M: Implementation Science in Immunization (2023)</a:t>
            </a:r>
            <a:r>
              <a:t/>
            </a:r>
          </a:p>
          <a:p>
            <a:r>
              <a:rPr b="1"/>
              <a:t>🔗 Digital Resources:</a:t>
            </a:r>
          </a:p>
          <a:p>
            <a:pPr/>
            <a:r>
              <a:t>Shakti: India's Digital Immunization Registry</a:t>
            </a:r>
          </a:p>
          <a:p>
            <a:pPr/>
            <a:r>
              <a:t>CoWIN Platform Tutorials: MoHFW India</a:t>
            </a:r>
          </a:p>
          <a:p>
            <a:pPr/>
            <a:r>
              <a:t>E-Vin Software Training Modules</a:t>
            </a:r>
          </a:p>
          <a:p>
            <a:pPr/>
            <a:r>
              <a:t>PMSSD: Pneumonia Surveillance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